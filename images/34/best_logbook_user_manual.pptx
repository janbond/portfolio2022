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6"/>
  </p:notesMasterIdLst>
  <p:sldIdLst>
    <p:sldId id="280" r:id="rId2"/>
    <p:sldId id="283" r:id="rId3"/>
    <p:sldId id="284" r:id="rId4"/>
    <p:sldId id="262" r:id="rId5"/>
    <p:sldId id="263" r:id="rId6"/>
    <p:sldId id="264" r:id="rId7"/>
    <p:sldId id="266" r:id="rId8"/>
    <p:sldId id="265" r:id="rId9"/>
    <p:sldId id="268" r:id="rId10"/>
    <p:sldId id="269" r:id="rId11"/>
    <p:sldId id="285" r:id="rId12"/>
    <p:sldId id="270" r:id="rId13"/>
    <p:sldId id="271" r:id="rId14"/>
    <p:sldId id="286" r:id="rId15"/>
    <p:sldId id="287" r:id="rId16"/>
    <p:sldId id="288" r:id="rId17"/>
    <p:sldId id="289" r:id="rId18"/>
    <p:sldId id="290" r:id="rId19"/>
    <p:sldId id="275" r:id="rId20"/>
    <p:sldId id="276" r:id="rId21"/>
    <p:sldId id="278" r:id="rId22"/>
    <p:sldId id="277" r:id="rId23"/>
    <p:sldId id="293" r:id="rId24"/>
    <p:sldId id="292" r:id="rId2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4C"/>
    <a:srgbClr val="FFFFFF"/>
    <a:srgbClr val="FAFAFA"/>
    <a:srgbClr val="F7F9FF"/>
    <a:srgbClr val="E7F2FF"/>
    <a:srgbClr val="239B41"/>
    <a:srgbClr val="259D41"/>
    <a:srgbClr val="13824E"/>
    <a:srgbClr val="4E6071"/>
    <a:srgbClr val="003D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69" autoAdjust="0"/>
  </p:normalViewPr>
  <p:slideViewPr>
    <p:cSldViewPr snapToGrid="0">
      <p:cViewPr varScale="1">
        <p:scale>
          <a:sx n="73" d="100"/>
          <a:sy n="73" d="100"/>
        </p:scale>
        <p:origin x="322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24" tIns="45712" rIns="91424" bIns="45712" rtlCol="0"/>
          <a:lstStyle>
            <a:lvl1pPr algn="l">
              <a:defRPr sz="1200"/>
            </a:lvl1pPr>
          </a:lstStyle>
          <a:p>
            <a:endParaRPr lang="zh-TW" altLang="en-US"/>
          </a:p>
        </p:txBody>
      </p:sp>
      <p:sp>
        <p:nvSpPr>
          <p:cNvPr id="3" name="日期版面配置區 2"/>
          <p:cNvSpPr>
            <a:spLocks noGrp="1"/>
          </p:cNvSpPr>
          <p:nvPr>
            <p:ph type="dt" idx="1"/>
          </p:nvPr>
        </p:nvSpPr>
        <p:spPr>
          <a:xfrm>
            <a:off x="3884614" y="0"/>
            <a:ext cx="2971800" cy="458788"/>
          </a:xfrm>
          <a:prstGeom prst="rect">
            <a:avLst/>
          </a:prstGeom>
        </p:spPr>
        <p:txBody>
          <a:bodyPr vert="horz" lIns="91424" tIns="45712" rIns="91424" bIns="45712" rtlCol="0"/>
          <a:lstStyle>
            <a:lvl1pPr algn="r">
              <a:defRPr sz="1200"/>
            </a:lvl1pPr>
          </a:lstStyle>
          <a:p>
            <a:fld id="{617F9560-3A23-473C-A3E7-74FF8C867FBA}" type="datetimeFigureOut">
              <a:rPr lang="zh-TW" altLang="en-US" smtClean="0"/>
              <a:t>2026/1/13</a:t>
            </a:fld>
            <a:endParaRPr lang="zh-TW" altLang="en-US"/>
          </a:p>
        </p:txBody>
      </p:sp>
      <p:sp>
        <p:nvSpPr>
          <p:cNvPr id="4" name="投影片影像版面配置區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24" tIns="45712" rIns="91424" bIns="45712" rtlCol="0" anchor="ctr"/>
          <a:lstStyle/>
          <a:p>
            <a:endParaRPr lang="zh-TW" altLang="en-US"/>
          </a:p>
        </p:txBody>
      </p:sp>
      <p:sp>
        <p:nvSpPr>
          <p:cNvPr id="5" name="備忘稿版面配置區 4"/>
          <p:cNvSpPr>
            <a:spLocks noGrp="1"/>
          </p:cNvSpPr>
          <p:nvPr>
            <p:ph type="body" sz="quarter" idx="3"/>
          </p:nvPr>
        </p:nvSpPr>
        <p:spPr>
          <a:xfrm>
            <a:off x="685800" y="4400551"/>
            <a:ext cx="5486400" cy="3600450"/>
          </a:xfrm>
          <a:prstGeom prst="rect">
            <a:avLst/>
          </a:prstGeom>
        </p:spPr>
        <p:txBody>
          <a:bodyPr vert="horz" lIns="91424" tIns="45712" rIns="91424" bIns="45712"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4"/>
            <a:ext cx="2971800" cy="458787"/>
          </a:xfrm>
          <a:prstGeom prst="rect">
            <a:avLst/>
          </a:prstGeom>
        </p:spPr>
        <p:txBody>
          <a:bodyPr vert="horz" lIns="91424" tIns="45712" rIns="91424" bIns="45712"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4" y="8685214"/>
            <a:ext cx="2971800" cy="458787"/>
          </a:xfrm>
          <a:prstGeom prst="rect">
            <a:avLst/>
          </a:prstGeom>
        </p:spPr>
        <p:txBody>
          <a:bodyPr vert="horz" lIns="91424" tIns="45712" rIns="91424" bIns="45712" rtlCol="0" anchor="b"/>
          <a:lstStyle>
            <a:lvl1pPr algn="r">
              <a:defRPr sz="1200"/>
            </a:lvl1pPr>
          </a:lstStyle>
          <a:p>
            <a:fld id="{3D4E540E-C3DD-4E3A-9C37-C2D75ECC6819}" type="slidenum">
              <a:rPr lang="zh-TW" altLang="en-US" smtClean="0"/>
              <a:t>‹#›</a:t>
            </a:fld>
            <a:endParaRPr lang="zh-TW" altLang="en-US"/>
          </a:p>
        </p:txBody>
      </p:sp>
    </p:spTree>
    <p:extLst>
      <p:ext uri="{BB962C8B-B14F-4D97-AF65-F5344CB8AC3E}">
        <p14:creationId xmlns:p14="http://schemas.microsoft.com/office/powerpoint/2010/main" val="3590981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投影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9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版本">
    <p:bg>
      <p:bgPr>
        <a:solidFill>
          <a:srgbClr val="F7F9FF"/>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E12F917F-9F17-41D6-BA50-0C8969DE72EB}"/>
              </a:ext>
            </a:extLst>
          </p:cNvPr>
          <p:cNvSpPr/>
          <p:nvPr userDrawn="1"/>
        </p:nvSpPr>
        <p:spPr>
          <a:xfrm>
            <a:off x="0" y="0"/>
            <a:ext cx="6858000" cy="507938"/>
          </a:xfrm>
          <a:prstGeom prst="rect">
            <a:avLst/>
          </a:prstGeom>
          <a:solidFill>
            <a:srgbClr val="F7F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9FDCDCB8-7F26-4702-9DE6-7E6FB38EC3E6}"/>
              </a:ext>
            </a:extLst>
          </p:cNvPr>
          <p:cNvSpPr txBox="1"/>
          <p:nvPr userDrawn="1"/>
        </p:nvSpPr>
        <p:spPr>
          <a:xfrm>
            <a:off x="1457499" y="90234"/>
            <a:ext cx="1005403" cy="338554"/>
          </a:xfrm>
          <a:prstGeom prst="rect">
            <a:avLst/>
          </a:prstGeom>
          <a:noFill/>
        </p:spPr>
        <p:txBody>
          <a:bodyPr wrap="none" rtlCol="0">
            <a:spAutoFit/>
          </a:bodyPr>
          <a:lstStyle/>
          <a:p>
            <a:pPr algn="l"/>
            <a:r>
              <a:rPr lang="zh-TW" altLang="en-US" sz="1600" b="1" dirty="0">
                <a:solidFill>
                  <a:srgbClr val="615F5F"/>
                </a:solidFill>
                <a:latin typeface="微軟正黑體" panose="020B0604030504040204" pitchFamily="34" charset="-120"/>
                <a:ea typeface="微軟正黑體" panose="020B0604030504040204" pitchFamily="34" charset="-120"/>
              </a:rPr>
              <a:t>建築履歷</a:t>
            </a:r>
          </a:p>
        </p:txBody>
      </p:sp>
      <p:grpSp>
        <p:nvGrpSpPr>
          <p:cNvPr id="11" name="群組 10">
            <a:extLst>
              <a:ext uri="{FF2B5EF4-FFF2-40B4-BE49-F238E27FC236}">
                <a16:creationId xmlns:a16="http://schemas.microsoft.com/office/drawing/2014/main" id="{06CEDAA4-65FF-4396-9DDD-C3B2B7DFD123}"/>
              </a:ext>
            </a:extLst>
          </p:cNvPr>
          <p:cNvGrpSpPr/>
          <p:nvPr userDrawn="1"/>
        </p:nvGrpSpPr>
        <p:grpSpPr>
          <a:xfrm>
            <a:off x="205143" y="100304"/>
            <a:ext cx="1252356" cy="307330"/>
            <a:chOff x="194057" y="254370"/>
            <a:chExt cx="1534973" cy="376684"/>
          </a:xfrm>
        </p:grpSpPr>
        <p:pic>
          <p:nvPicPr>
            <p:cNvPr id="9" name="圖形 8">
              <a:extLst>
                <a:ext uri="{FF2B5EF4-FFF2-40B4-BE49-F238E27FC236}">
                  <a16:creationId xmlns:a16="http://schemas.microsoft.com/office/drawing/2014/main" id="{643EAF81-BF5B-4278-B320-0388E29B8E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6128" y="330462"/>
              <a:ext cx="982902" cy="227296"/>
            </a:xfrm>
            <a:prstGeom prst="rect">
              <a:avLst/>
            </a:prstGeom>
          </p:spPr>
        </p:pic>
        <p:pic>
          <p:nvPicPr>
            <p:cNvPr id="10" name="圖片 9">
              <a:extLst>
                <a:ext uri="{FF2B5EF4-FFF2-40B4-BE49-F238E27FC236}">
                  <a16:creationId xmlns:a16="http://schemas.microsoft.com/office/drawing/2014/main" id="{E4884AA8-51D7-445F-B6F3-340BEF786358}"/>
                </a:ext>
              </a:extLst>
            </p:cNvPr>
            <p:cNvPicPr>
              <a:picLocks noChangeAspect="1"/>
            </p:cNvPicPr>
            <p:nvPr userDrawn="1"/>
          </p:nvPicPr>
          <p:blipFill>
            <a:blip r:embed="rId4"/>
            <a:stretch>
              <a:fillRect/>
            </a:stretch>
          </p:blipFill>
          <p:spPr>
            <a:xfrm>
              <a:off x="194057" y="254370"/>
              <a:ext cx="463136" cy="376684"/>
            </a:xfrm>
            <a:prstGeom prst="rect">
              <a:avLst/>
            </a:prstGeom>
          </p:spPr>
        </p:pic>
      </p:grpSp>
      <p:sp>
        <p:nvSpPr>
          <p:cNvPr id="16" name="文字版面配置區 15">
            <a:extLst>
              <a:ext uri="{FF2B5EF4-FFF2-40B4-BE49-F238E27FC236}">
                <a16:creationId xmlns:a16="http://schemas.microsoft.com/office/drawing/2014/main" id="{6B9F1628-C939-4B20-877D-15B81B494779}"/>
              </a:ext>
            </a:extLst>
          </p:cNvPr>
          <p:cNvSpPr>
            <a:spLocks noGrp="1"/>
          </p:cNvSpPr>
          <p:nvPr>
            <p:ph type="body" sz="quarter" idx="13"/>
          </p:nvPr>
        </p:nvSpPr>
        <p:spPr>
          <a:xfrm>
            <a:off x="4826716" y="124658"/>
            <a:ext cx="1826141" cy="313932"/>
          </a:xfrm>
          <a:prstGeom prst="rect">
            <a:avLst/>
          </a:prstGeom>
        </p:spPr>
        <p:txBody>
          <a:bodyPr wrap="none" anchor="ctr">
            <a:spAutoFit/>
          </a:bodyPr>
          <a:lstStyle>
            <a:lvl1pPr marL="0" indent="0" algn="r">
              <a:buNone/>
              <a:defRPr sz="1600" b="1">
                <a:solidFill>
                  <a:srgbClr val="006495"/>
                </a:solidFill>
                <a:latin typeface="微軟正黑體" panose="020B0604030504040204" pitchFamily="34" charset="-120"/>
                <a:ea typeface="微軟正黑體" panose="020B0604030504040204" pitchFamily="34" charset="-120"/>
              </a:defRPr>
            </a:lvl1pPr>
          </a:lstStyle>
          <a:p>
            <a:pPr lvl="0"/>
            <a:r>
              <a:rPr lang="zh-TW" altLang="en-US" dirty="0"/>
              <a:t>編輯母片文字樣式</a:t>
            </a:r>
          </a:p>
        </p:txBody>
      </p:sp>
    </p:spTree>
    <p:extLst>
      <p:ext uri="{BB962C8B-B14F-4D97-AF65-F5344CB8AC3E}">
        <p14:creationId xmlns:p14="http://schemas.microsoft.com/office/powerpoint/2010/main" val="33205495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錄">
    <p:bg>
      <p:bgPr>
        <a:gradFill>
          <a:gsLst>
            <a:gs pos="0">
              <a:srgbClr val="007F4C"/>
            </a:gs>
            <a:gs pos="100000">
              <a:srgbClr val="007F4C"/>
            </a:gs>
          </a:gsLst>
          <a:lin ang="5400000" scaled="1"/>
        </a:gradFill>
        <a:effectLst/>
      </p:bgPr>
    </p:bg>
    <p:spTree>
      <p:nvGrpSpPr>
        <p:cNvPr id="1" name=""/>
        <p:cNvGrpSpPr/>
        <p:nvPr/>
      </p:nvGrpSpPr>
      <p:grpSpPr>
        <a:xfrm>
          <a:off x="0" y="0"/>
          <a:ext cx="0" cy="0"/>
          <a:chOff x="0" y="0"/>
          <a:chExt cx="0" cy="0"/>
        </a:xfrm>
      </p:grpSpPr>
      <p:sp>
        <p:nvSpPr>
          <p:cNvPr id="17" name="矩形: 圓角 16">
            <a:extLst>
              <a:ext uri="{FF2B5EF4-FFF2-40B4-BE49-F238E27FC236}">
                <a16:creationId xmlns:a16="http://schemas.microsoft.com/office/drawing/2014/main" id="{FB897DA2-7073-45D4-9EC2-0D6BB68BE66D}"/>
              </a:ext>
            </a:extLst>
          </p:cNvPr>
          <p:cNvSpPr/>
          <p:nvPr userDrawn="1"/>
        </p:nvSpPr>
        <p:spPr>
          <a:xfrm>
            <a:off x="115711" y="608240"/>
            <a:ext cx="6626578" cy="9135373"/>
          </a:xfrm>
          <a:prstGeom prst="roundRect">
            <a:avLst>
              <a:gd name="adj" fmla="val 186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文字版面配置區 37">
            <a:extLst>
              <a:ext uri="{FF2B5EF4-FFF2-40B4-BE49-F238E27FC236}">
                <a16:creationId xmlns:a16="http://schemas.microsoft.com/office/drawing/2014/main" id="{C8E46109-ED8C-41D9-B3B9-391707D9123E}"/>
              </a:ext>
            </a:extLst>
          </p:cNvPr>
          <p:cNvSpPr>
            <a:spLocks noGrp="1"/>
          </p:cNvSpPr>
          <p:nvPr>
            <p:ph type="body" sz="quarter" idx="18"/>
          </p:nvPr>
        </p:nvSpPr>
        <p:spPr>
          <a:xfrm>
            <a:off x="271169" y="1079222"/>
            <a:ext cx="6315657" cy="375872"/>
          </a:xfrm>
          <a:prstGeom prst="rect">
            <a:avLst/>
          </a:prstGeom>
        </p:spPr>
        <p:txBody>
          <a:bodyPr wrap="square">
            <a:spAutoFit/>
          </a:bodyPr>
          <a:lstStyle>
            <a:lvl1pPr marL="0" indent="0" algn="l">
              <a:lnSpc>
                <a:spcPct val="150000"/>
              </a:lnSpc>
              <a:buNone/>
              <a:defRPr sz="1400" b="0">
                <a:solidFill>
                  <a:srgbClr val="006495"/>
                </a:solidFill>
                <a:latin typeface="微軟正黑體" panose="020B0604030504040204" pitchFamily="34" charset="-120"/>
                <a:ea typeface="微軟正黑體" panose="020B0604030504040204" pitchFamily="34" charset="-120"/>
              </a:defRPr>
            </a:lvl1pPr>
            <a:lvl2pPr>
              <a:defRPr sz="1600" b="1">
                <a:solidFill>
                  <a:srgbClr val="008ED2"/>
                </a:solidFill>
              </a:defRPr>
            </a:lvl2pPr>
            <a:lvl3pPr>
              <a:defRPr sz="1600" b="1">
                <a:solidFill>
                  <a:srgbClr val="008ED2"/>
                </a:solidFill>
              </a:defRPr>
            </a:lvl3pPr>
            <a:lvl4pPr>
              <a:defRPr sz="1600" b="1">
                <a:solidFill>
                  <a:srgbClr val="008ED2"/>
                </a:solidFill>
              </a:defRPr>
            </a:lvl4pPr>
            <a:lvl5pPr>
              <a:defRPr sz="1600" b="1">
                <a:solidFill>
                  <a:srgbClr val="008ED2"/>
                </a:solidFill>
              </a:defRPr>
            </a:lvl5pPr>
          </a:lstStyle>
          <a:p>
            <a:pPr lvl="0"/>
            <a:endParaRPr lang="en-US" altLang="zh-TW" dirty="0"/>
          </a:p>
        </p:txBody>
      </p:sp>
      <p:sp>
        <p:nvSpPr>
          <p:cNvPr id="12" name="矩形 11">
            <a:extLst>
              <a:ext uri="{FF2B5EF4-FFF2-40B4-BE49-F238E27FC236}">
                <a16:creationId xmlns:a16="http://schemas.microsoft.com/office/drawing/2014/main" id="{E12F917F-9F17-41D6-BA50-0C8969DE72EB}"/>
              </a:ext>
            </a:extLst>
          </p:cNvPr>
          <p:cNvSpPr/>
          <p:nvPr userDrawn="1"/>
        </p:nvSpPr>
        <p:spPr>
          <a:xfrm>
            <a:off x="0" y="0"/>
            <a:ext cx="6858000" cy="507938"/>
          </a:xfrm>
          <a:prstGeom prst="rect">
            <a:avLst/>
          </a:prstGeom>
          <a:solidFill>
            <a:srgbClr val="F7F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9FDCDCB8-7F26-4702-9DE6-7E6FB38EC3E6}"/>
              </a:ext>
            </a:extLst>
          </p:cNvPr>
          <p:cNvSpPr txBox="1"/>
          <p:nvPr userDrawn="1"/>
        </p:nvSpPr>
        <p:spPr>
          <a:xfrm>
            <a:off x="1457499" y="90234"/>
            <a:ext cx="1005403" cy="338554"/>
          </a:xfrm>
          <a:prstGeom prst="rect">
            <a:avLst/>
          </a:prstGeom>
          <a:noFill/>
        </p:spPr>
        <p:txBody>
          <a:bodyPr wrap="none" rtlCol="0">
            <a:spAutoFit/>
          </a:bodyPr>
          <a:lstStyle/>
          <a:p>
            <a:pPr algn="l"/>
            <a:r>
              <a:rPr lang="zh-TW" altLang="en-US" sz="1600" b="1" dirty="0">
                <a:solidFill>
                  <a:srgbClr val="615F5F"/>
                </a:solidFill>
                <a:latin typeface="微軟正黑體" panose="020B0604030504040204" pitchFamily="34" charset="-120"/>
                <a:ea typeface="微軟正黑體" panose="020B0604030504040204" pitchFamily="34" charset="-120"/>
              </a:rPr>
              <a:t>建築履歷</a:t>
            </a:r>
          </a:p>
        </p:txBody>
      </p:sp>
      <p:grpSp>
        <p:nvGrpSpPr>
          <p:cNvPr id="11" name="群組 10">
            <a:extLst>
              <a:ext uri="{FF2B5EF4-FFF2-40B4-BE49-F238E27FC236}">
                <a16:creationId xmlns:a16="http://schemas.microsoft.com/office/drawing/2014/main" id="{06CEDAA4-65FF-4396-9DDD-C3B2B7DFD123}"/>
              </a:ext>
            </a:extLst>
          </p:cNvPr>
          <p:cNvGrpSpPr/>
          <p:nvPr userDrawn="1"/>
        </p:nvGrpSpPr>
        <p:grpSpPr>
          <a:xfrm>
            <a:off x="205143" y="100304"/>
            <a:ext cx="1252356" cy="307330"/>
            <a:chOff x="194057" y="254370"/>
            <a:chExt cx="1534973" cy="376684"/>
          </a:xfrm>
        </p:grpSpPr>
        <p:pic>
          <p:nvPicPr>
            <p:cNvPr id="9" name="圖形 8">
              <a:extLst>
                <a:ext uri="{FF2B5EF4-FFF2-40B4-BE49-F238E27FC236}">
                  <a16:creationId xmlns:a16="http://schemas.microsoft.com/office/drawing/2014/main" id="{643EAF81-BF5B-4278-B320-0388E29B8E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6128" y="330462"/>
              <a:ext cx="982902" cy="227296"/>
            </a:xfrm>
            <a:prstGeom prst="rect">
              <a:avLst/>
            </a:prstGeom>
          </p:spPr>
        </p:pic>
        <p:pic>
          <p:nvPicPr>
            <p:cNvPr id="10" name="圖片 9">
              <a:extLst>
                <a:ext uri="{FF2B5EF4-FFF2-40B4-BE49-F238E27FC236}">
                  <a16:creationId xmlns:a16="http://schemas.microsoft.com/office/drawing/2014/main" id="{E4884AA8-51D7-445F-B6F3-340BEF786358}"/>
                </a:ext>
              </a:extLst>
            </p:cNvPr>
            <p:cNvPicPr>
              <a:picLocks noChangeAspect="1"/>
            </p:cNvPicPr>
            <p:nvPr userDrawn="1"/>
          </p:nvPicPr>
          <p:blipFill>
            <a:blip r:embed="rId4"/>
            <a:stretch>
              <a:fillRect/>
            </a:stretch>
          </p:blipFill>
          <p:spPr>
            <a:xfrm>
              <a:off x="194057" y="254370"/>
              <a:ext cx="463136" cy="376684"/>
            </a:xfrm>
            <a:prstGeom prst="rect">
              <a:avLst/>
            </a:prstGeom>
          </p:spPr>
        </p:pic>
      </p:grpSp>
      <p:sp>
        <p:nvSpPr>
          <p:cNvPr id="16" name="文字版面配置區 15">
            <a:extLst>
              <a:ext uri="{FF2B5EF4-FFF2-40B4-BE49-F238E27FC236}">
                <a16:creationId xmlns:a16="http://schemas.microsoft.com/office/drawing/2014/main" id="{6B9F1628-C939-4B20-877D-15B81B494779}"/>
              </a:ext>
            </a:extLst>
          </p:cNvPr>
          <p:cNvSpPr>
            <a:spLocks noGrp="1"/>
          </p:cNvSpPr>
          <p:nvPr>
            <p:ph type="body" sz="quarter" idx="13"/>
          </p:nvPr>
        </p:nvSpPr>
        <p:spPr>
          <a:xfrm>
            <a:off x="4826716" y="124658"/>
            <a:ext cx="1826141" cy="313932"/>
          </a:xfrm>
          <a:prstGeom prst="rect">
            <a:avLst/>
          </a:prstGeom>
        </p:spPr>
        <p:txBody>
          <a:bodyPr wrap="none" anchor="ctr">
            <a:spAutoFit/>
          </a:bodyPr>
          <a:lstStyle>
            <a:lvl1pPr marL="0" indent="0" algn="r">
              <a:buNone/>
              <a:defRPr sz="1600" b="1">
                <a:solidFill>
                  <a:srgbClr val="006495"/>
                </a:solidFill>
                <a:latin typeface="微軟正黑體" panose="020B0604030504040204" pitchFamily="34" charset="-120"/>
                <a:ea typeface="微軟正黑體" panose="020B0604030504040204" pitchFamily="34" charset="-120"/>
              </a:defRPr>
            </a:lvl1pPr>
          </a:lstStyle>
          <a:p>
            <a:pPr lvl="0"/>
            <a:r>
              <a:rPr lang="zh-TW" altLang="en-US" dirty="0"/>
              <a:t>編輯母片文字樣式</a:t>
            </a:r>
          </a:p>
        </p:txBody>
      </p:sp>
      <p:sp>
        <p:nvSpPr>
          <p:cNvPr id="20" name="文字版面配置區 37">
            <a:extLst>
              <a:ext uri="{FF2B5EF4-FFF2-40B4-BE49-F238E27FC236}">
                <a16:creationId xmlns:a16="http://schemas.microsoft.com/office/drawing/2014/main" id="{08637720-16F5-4B19-94A1-B1488EAFD35B}"/>
              </a:ext>
            </a:extLst>
          </p:cNvPr>
          <p:cNvSpPr>
            <a:spLocks noGrp="1"/>
          </p:cNvSpPr>
          <p:nvPr>
            <p:ph type="body" sz="quarter" idx="15"/>
          </p:nvPr>
        </p:nvSpPr>
        <p:spPr>
          <a:xfrm>
            <a:off x="271409" y="767355"/>
            <a:ext cx="6315657" cy="313932"/>
          </a:xfrm>
          <a:prstGeom prst="rect">
            <a:avLst/>
          </a:prstGeom>
        </p:spPr>
        <p:txBody>
          <a:bodyPr wrap="square">
            <a:spAutoFit/>
          </a:bodyPr>
          <a:lstStyle>
            <a:lvl1pPr marL="0" indent="0" algn="l">
              <a:buNone/>
              <a:defRPr sz="1600" b="1">
                <a:solidFill>
                  <a:srgbClr val="006495"/>
                </a:solidFill>
                <a:latin typeface="微軟正黑體" panose="020B0604030504040204" pitchFamily="34" charset="-120"/>
                <a:ea typeface="微軟正黑體" panose="020B0604030504040204" pitchFamily="34" charset="-120"/>
              </a:defRPr>
            </a:lvl1pPr>
            <a:lvl2pPr>
              <a:defRPr sz="1600" b="1">
                <a:solidFill>
                  <a:srgbClr val="008ED2"/>
                </a:solidFill>
              </a:defRPr>
            </a:lvl2pPr>
            <a:lvl3pPr>
              <a:defRPr sz="1600" b="1">
                <a:solidFill>
                  <a:srgbClr val="008ED2"/>
                </a:solidFill>
              </a:defRPr>
            </a:lvl3pPr>
            <a:lvl4pPr>
              <a:defRPr sz="1600" b="1">
                <a:solidFill>
                  <a:srgbClr val="008ED2"/>
                </a:solidFill>
              </a:defRPr>
            </a:lvl4pPr>
            <a:lvl5pPr>
              <a:defRPr sz="1600" b="1">
                <a:solidFill>
                  <a:srgbClr val="008ED2"/>
                </a:solidFill>
              </a:defRPr>
            </a:lvl5pPr>
          </a:lstStyle>
          <a:p>
            <a:pPr lvl="0"/>
            <a:endParaRPr lang="zh-TW" altLang="en-US" dirty="0"/>
          </a:p>
        </p:txBody>
      </p:sp>
    </p:spTree>
    <p:extLst>
      <p:ext uri="{BB962C8B-B14F-4D97-AF65-F5344CB8AC3E}">
        <p14:creationId xmlns:p14="http://schemas.microsoft.com/office/powerpoint/2010/main" val="424476283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新章節">
    <p:bg>
      <p:bgPr>
        <a:gradFill>
          <a:gsLst>
            <a:gs pos="0">
              <a:srgbClr val="007F4C"/>
            </a:gs>
            <a:gs pos="100000">
              <a:srgbClr val="007F4C"/>
            </a:gs>
          </a:gsLst>
          <a:lin ang="5400000" scaled="1"/>
        </a:gra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E12F917F-9F17-41D6-BA50-0C8969DE72EB}"/>
              </a:ext>
            </a:extLst>
          </p:cNvPr>
          <p:cNvSpPr/>
          <p:nvPr userDrawn="1"/>
        </p:nvSpPr>
        <p:spPr>
          <a:xfrm>
            <a:off x="0" y="0"/>
            <a:ext cx="6858000" cy="507938"/>
          </a:xfrm>
          <a:prstGeom prst="rect">
            <a:avLst/>
          </a:prstGeom>
          <a:solidFill>
            <a:srgbClr val="F7F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9FDCDCB8-7F26-4702-9DE6-7E6FB38EC3E6}"/>
              </a:ext>
            </a:extLst>
          </p:cNvPr>
          <p:cNvSpPr txBox="1"/>
          <p:nvPr userDrawn="1"/>
        </p:nvSpPr>
        <p:spPr>
          <a:xfrm>
            <a:off x="1457499" y="90234"/>
            <a:ext cx="1005403" cy="338554"/>
          </a:xfrm>
          <a:prstGeom prst="rect">
            <a:avLst/>
          </a:prstGeom>
          <a:noFill/>
        </p:spPr>
        <p:txBody>
          <a:bodyPr wrap="none" rtlCol="0">
            <a:spAutoFit/>
          </a:bodyPr>
          <a:lstStyle/>
          <a:p>
            <a:pPr algn="l"/>
            <a:r>
              <a:rPr lang="zh-TW" altLang="en-US" sz="1600" b="1" dirty="0">
                <a:solidFill>
                  <a:srgbClr val="615F5F"/>
                </a:solidFill>
                <a:latin typeface="微軟正黑體" panose="020B0604030504040204" pitchFamily="34" charset="-120"/>
                <a:ea typeface="微軟正黑體" panose="020B0604030504040204" pitchFamily="34" charset="-120"/>
              </a:rPr>
              <a:t>建築履歷</a:t>
            </a:r>
          </a:p>
        </p:txBody>
      </p:sp>
      <p:grpSp>
        <p:nvGrpSpPr>
          <p:cNvPr id="11" name="群組 10">
            <a:extLst>
              <a:ext uri="{FF2B5EF4-FFF2-40B4-BE49-F238E27FC236}">
                <a16:creationId xmlns:a16="http://schemas.microsoft.com/office/drawing/2014/main" id="{06CEDAA4-65FF-4396-9DDD-C3B2B7DFD123}"/>
              </a:ext>
            </a:extLst>
          </p:cNvPr>
          <p:cNvGrpSpPr/>
          <p:nvPr userDrawn="1"/>
        </p:nvGrpSpPr>
        <p:grpSpPr>
          <a:xfrm>
            <a:off x="205143" y="100304"/>
            <a:ext cx="1252356" cy="307330"/>
            <a:chOff x="194057" y="254370"/>
            <a:chExt cx="1534973" cy="376684"/>
          </a:xfrm>
        </p:grpSpPr>
        <p:pic>
          <p:nvPicPr>
            <p:cNvPr id="9" name="圖形 8">
              <a:extLst>
                <a:ext uri="{FF2B5EF4-FFF2-40B4-BE49-F238E27FC236}">
                  <a16:creationId xmlns:a16="http://schemas.microsoft.com/office/drawing/2014/main" id="{643EAF81-BF5B-4278-B320-0388E29B8E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6128" y="330462"/>
              <a:ext cx="982902" cy="227296"/>
            </a:xfrm>
            <a:prstGeom prst="rect">
              <a:avLst/>
            </a:prstGeom>
          </p:spPr>
        </p:pic>
        <p:pic>
          <p:nvPicPr>
            <p:cNvPr id="10" name="圖片 9">
              <a:extLst>
                <a:ext uri="{FF2B5EF4-FFF2-40B4-BE49-F238E27FC236}">
                  <a16:creationId xmlns:a16="http://schemas.microsoft.com/office/drawing/2014/main" id="{E4884AA8-51D7-445F-B6F3-340BEF786358}"/>
                </a:ext>
              </a:extLst>
            </p:cNvPr>
            <p:cNvPicPr>
              <a:picLocks noChangeAspect="1"/>
            </p:cNvPicPr>
            <p:nvPr userDrawn="1"/>
          </p:nvPicPr>
          <p:blipFill>
            <a:blip r:embed="rId4"/>
            <a:stretch>
              <a:fillRect/>
            </a:stretch>
          </p:blipFill>
          <p:spPr>
            <a:xfrm>
              <a:off x="194057" y="254370"/>
              <a:ext cx="463136" cy="376684"/>
            </a:xfrm>
            <a:prstGeom prst="rect">
              <a:avLst/>
            </a:prstGeom>
          </p:spPr>
        </p:pic>
      </p:grpSp>
      <p:sp>
        <p:nvSpPr>
          <p:cNvPr id="16" name="文字版面配置區 15">
            <a:extLst>
              <a:ext uri="{FF2B5EF4-FFF2-40B4-BE49-F238E27FC236}">
                <a16:creationId xmlns:a16="http://schemas.microsoft.com/office/drawing/2014/main" id="{6B9F1628-C939-4B20-877D-15B81B494779}"/>
              </a:ext>
            </a:extLst>
          </p:cNvPr>
          <p:cNvSpPr>
            <a:spLocks noGrp="1"/>
          </p:cNvSpPr>
          <p:nvPr>
            <p:ph type="body" sz="quarter" idx="13"/>
          </p:nvPr>
        </p:nvSpPr>
        <p:spPr>
          <a:xfrm>
            <a:off x="4826716" y="124658"/>
            <a:ext cx="1826141" cy="313932"/>
          </a:xfrm>
          <a:prstGeom prst="rect">
            <a:avLst/>
          </a:prstGeom>
        </p:spPr>
        <p:txBody>
          <a:bodyPr wrap="none" anchor="ctr">
            <a:spAutoFit/>
          </a:bodyPr>
          <a:lstStyle>
            <a:lvl1pPr marL="0" indent="0" algn="r">
              <a:buNone/>
              <a:defRPr sz="1600" b="1">
                <a:solidFill>
                  <a:srgbClr val="006495"/>
                </a:solidFill>
                <a:latin typeface="微軟正黑體" panose="020B0604030504040204" pitchFamily="34" charset="-120"/>
                <a:ea typeface="微軟正黑體" panose="020B0604030504040204" pitchFamily="34" charset="-120"/>
              </a:defRPr>
            </a:lvl1pPr>
          </a:lstStyle>
          <a:p>
            <a:pPr lvl="0"/>
            <a:r>
              <a:rPr lang="zh-TW" altLang="en-US" dirty="0"/>
              <a:t>編輯母片文字樣式</a:t>
            </a:r>
          </a:p>
        </p:txBody>
      </p:sp>
      <p:sp>
        <p:nvSpPr>
          <p:cNvPr id="17" name="矩形: 圓角 16">
            <a:extLst>
              <a:ext uri="{FF2B5EF4-FFF2-40B4-BE49-F238E27FC236}">
                <a16:creationId xmlns:a16="http://schemas.microsoft.com/office/drawing/2014/main" id="{FB897DA2-7073-45D4-9EC2-0D6BB68BE66D}"/>
              </a:ext>
            </a:extLst>
          </p:cNvPr>
          <p:cNvSpPr/>
          <p:nvPr userDrawn="1"/>
        </p:nvSpPr>
        <p:spPr>
          <a:xfrm>
            <a:off x="115711" y="608241"/>
            <a:ext cx="6626578" cy="8787812"/>
          </a:xfrm>
          <a:prstGeom prst="roundRect">
            <a:avLst>
              <a:gd name="adj" fmla="val 186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Slide Number Placeholder 5"/>
          <p:cNvSpPr>
            <a:spLocks noGrp="1"/>
          </p:cNvSpPr>
          <p:nvPr>
            <p:ph type="sldNum" sz="quarter" idx="12"/>
          </p:nvPr>
        </p:nvSpPr>
        <p:spPr>
          <a:xfrm>
            <a:off x="6184368" y="9496357"/>
            <a:ext cx="468489" cy="307777"/>
          </a:xfrm>
          <a:prstGeom prst="rect">
            <a:avLst/>
          </a:prstGeom>
        </p:spPr>
        <p:txBody>
          <a:bodyPr anchor="ctr"/>
          <a:lstStyle>
            <a:lvl1pPr algn="ctr">
              <a:defRPr sz="1200" b="1">
                <a:solidFill>
                  <a:schemeClr val="bg1"/>
                </a:solidFill>
                <a:latin typeface="微軟正黑體" panose="020B0604030504040204" pitchFamily="34" charset="-120"/>
                <a:ea typeface="微軟正黑體" panose="020B0604030504040204" pitchFamily="34" charset="-120"/>
                <a:cs typeface="Arial" panose="020B0604020202020204" pitchFamily="34" charset="0"/>
              </a:defRPr>
            </a:lvl1pPr>
          </a:lstStyle>
          <a:p>
            <a:fld id="{87F2EC76-4ACB-421A-B9EA-F72429D0FACA}" type="slidenum">
              <a:rPr lang="zh-TW" altLang="en-US" smtClean="0"/>
              <a:pPr/>
              <a:t>‹#›</a:t>
            </a:fld>
            <a:endParaRPr lang="zh-TW" altLang="en-US" dirty="0"/>
          </a:p>
        </p:txBody>
      </p:sp>
      <p:sp>
        <p:nvSpPr>
          <p:cNvPr id="18" name="文字方塊 17">
            <a:extLst>
              <a:ext uri="{FF2B5EF4-FFF2-40B4-BE49-F238E27FC236}">
                <a16:creationId xmlns:a16="http://schemas.microsoft.com/office/drawing/2014/main" id="{DB575D17-5F7A-4DF1-BF45-0160819972DE}"/>
              </a:ext>
            </a:extLst>
          </p:cNvPr>
          <p:cNvSpPr txBox="1"/>
          <p:nvPr userDrawn="1"/>
        </p:nvSpPr>
        <p:spPr>
          <a:xfrm>
            <a:off x="5642745" y="9511746"/>
            <a:ext cx="541623" cy="276999"/>
          </a:xfrm>
          <a:prstGeom prst="rect">
            <a:avLst/>
          </a:prstGeom>
          <a:noFill/>
        </p:spPr>
        <p:txBody>
          <a:bodyPr wrap="none" rtlCol="0">
            <a:spAutoFit/>
          </a:bodyPr>
          <a:lstStyle/>
          <a:p>
            <a:pPr algn="r"/>
            <a:r>
              <a:rPr lang="en-US" altLang="zh-TW" sz="1200" dirty="0">
                <a:solidFill>
                  <a:schemeClr val="bg1"/>
                </a:solidFill>
                <a:latin typeface="微軟正黑體" panose="020B0604030504040204" pitchFamily="34" charset="-120"/>
                <a:ea typeface="微軟正黑體" panose="020B0604030504040204" pitchFamily="34" charset="-120"/>
              </a:rPr>
              <a:t>Page</a:t>
            </a:r>
            <a:endParaRPr lang="zh-TW" altLang="en-US" sz="1200" dirty="0">
              <a:solidFill>
                <a:schemeClr val="bg1"/>
              </a:solidFill>
              <a:latin typeface="微軟正黑體" panose="020B0604030504040204" pitchFamily="34" charset="-120"/>
              <a:ea typeface="微軟正黑體" panose="020B0604030504040204" pitchFamily="34" charset="-120"/>
            </a:endParaRPr>
          </a:p>
        </p:txBody>
      </p:sp>
      <p:sp>
        <p:nvSpPr>
          <p:cNvPr id="19" name="矩形: 圓角 18">
            <a:extLst>
              <a:ext uri="{FF2B5EF4-FFF2-40B4-BE49-F238E27FC236}">
                <a16:creationId xmlns:a16="http://schemas.microsoft.com/office/drawing/2014/main" id="{45948422-C9D4-4EEE-8E7A-EC3C339A781F}"/>
              </a:ext>
            </a:extLst>
          </p:cNvPr>
          <p:cNvSpPr/>
          <p:nvPr userDrawn="1"/>
        </p:nvSpPr>
        <p:spPr>
          <a:xfrm>
            <a:off x="6184368" y="9496357"/>
            <a:ext cx="468489" cy="307777"/>
          </a:xfrm>
          <a:prstGeom prst="roundRect">
            <a:avLst/>
          </a:prstGeom>
          <a:noFill/>
          <a:ln w="12700">
            <a:solidFill>
              <a:schemeClr val="bg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文字版面配置區 37">
            <a:extLst>
              <a:ext uri="{FF2B5EF4-FFF2-40B4-BE49-F238E27FC236}">
                <a16:creationId xmlns:a16="http://schemas.microsoft.com/office/drawing/2014/main" id="{08637720-16F5-4B19-94A1-B1488EAFD35B}"/>
              </a:ext>
            </a:extLst>
          </p:cNvPr>
          <p:cNvSpPr>
            <a:spLocks noGrp="1"/>
          </p:cNvSpPr>
          <p:nvPr>
            <p:ph type="body" sz="quarter" idx="15"/>
          </p:nvPr>
        </p:nvSpPr>
        <p:spPr>
          <a:xfrm>
            <a:off x="271409" y="767355"/>
            <a:ext cx="6315657" cy="313932"/>
          </a:xfrm>
          <a:prstGeom prst="rect">
            <a:avLst/>
          </a:prstGeom>
        </p:spPr>
        <p:txBody>
          <a:bodyPr wrap="square">
            <a:spAutoFit/>
          </a:bodyPr>
          <a:lstStyle>
            <a:lvl1pPr marL="0" indent="0" algn="l">
              <a:buNone/>
              <a:defRPr sz="1600" b="1">
                <a:solidFill>
                  <a:srgbClr val="006495"/>
                </a:solidFill>
                <a:latin typeface="微軟正黑體" panose="020B0604030504040204" pitchFamily="34" charset="-120"/>
                <a:ea typeface="微軟正黑體" panose="020B0604030504040204" pitchFamily="34" charset="-120"/>
              </a:defRPr>
            </a:lvl1pPr>
            <a:lvl2pPr>
              <a:defRPr sz="1600" b="1">
                <a:solidFill>
                  <a:srgbClr val="008ED2"/>
                </a:solidFill>
              </a:defRPr>
            </a:lvl2pPr>
            <a:lvl3pPr>
              <a:defRPr sz="1600" b="1">
                <a:solidFill>
                  <a:srgbClr val="008ED2"/>
                </a:solidFill>
              </a:defRPr>
            </a:lvl3pPr>
            <a:lvl4pPr>
              <a:defRPr sz="1600" b="1">
                <a:solidFill>
                  <a:srgbClr val="008ED2"/>
                </a:solidFill>
              </a:defRPr>
            </a:lvl4pPr>
            <a:lvl5pPr>
              <a:defRPr sz="1600" b="1">
                <a:solidFill>
                  <a:srgbClr val="008ED2"/>
                </a:solidFill>
              </a:defRPr>
            </a:lvl5pPr>
          </a:lstStyle>
          <a:p>
            <a:pPr lvl="0"/>
            <a:endParaRPr lang="zh-TW" altLang="en-US" dirty="0"/>
          </a:p>
        </p:txBody>
      </p:sp>
      <p:sp>
        <p:nvSpPr>
          <p:cNvPr id="21" name="文字版面配置區 37">
            <a:extLst>
              <a:ext uri="{FF2B5EF4-FFF2-40B4-BE49-F238E27FC236}">
                <a16:creationId xmlns:a16="http://schemas.microsoft.com/office/drawing/2014/main" id="{93B9511B-5E0B-4063-A129-8C5316BE82C1}"/>
              </a:ext>
            </a:extLst>
          </p:cNvPr>
          <p:cNvSpPr>
            <a:spLocks noGrp="1"/>
          </p:cNvSpPr>
          <p:nvPr>
            <p:ph type="body" sz="quarter" idx="16"/>
          </p:nvPr>
        </p:nvSpPr>
        <p:spPr>
          <a:xfrm>
            <a:off x="271169" y="2255300"/>
            <a:ext cx="6315657" cy="286232"/>
          </a:xfrm>
          <a:prstGeom prst="rect">
            <a:avLst/>
          </a:prstGeom>
        </p:spPr>
        <p:txBody>
          <a:bodyPr wrap="square">
            <a:spAutoFit/>
          </a:bodyPr>
          <a:lstStyle>
            <a:lvl1pPr marL="0" indent="0" algn="l">
              <a:buNone/>
              <a:defRPr sz="1400" b="1">
                <a:solidFill>
                  <a:srgbClr val="4E6071"/>
                </a:solidFill>
                <a:latin typeface="微軟正黑體" panose="020B0604030504040204" pitchFamily="34" charset="-120"/>
                <a:ea typeface="微軟正黑體" panose="020B0604030504040204" pitchFamily="34" charset="-120"/>
              </a:defRPr>
            </a:lvl1pPr>
            <a:lvl2pPr>
              <a:defRPr sz="1600" b="1">
                <a:solidFill>
                  <a:srgbClr val="008ED2"/>
                </a:solidFill>
              </a:defRPr>
            </a:lvl2pPr>
            <a:lvl3pPr>
              <a:defRPr sz="1600" b="1">
                <a:solidFill>
                  <a:srgbClr val="008ED2"/>
                </a:solidFill>
              </a:defRPr>
            </a:lvl3pPr>
            <a:lvl4pPr>
              <a:defRPr sz="1600" b="1">
                <a:solidFill>
                  <a:srgbClr val="008ED2"/>
                </a:solidFill>
              </a:defRPr>
            </a:lvl4pPr>
            <a:lvl5pPr>
              <a:defRPr sz="1600" b="1">
                <a:solidFill>
                  <a:srgbClr val="008ED2"/>
                </a:solidFill>
              </a:defRPr>
            </a:lvl5pPr>
          </a:lstStyle>
          <a:p>
            <a:pPr lvl="0"/>
            <a:endParaRPr lang="zh-TW" altLang="en-US" dirty="0"/>
          </a:p>
        </p:txBody>
      </p:sp>
      <p:sp>
        <p:nvSpPr>
          <p:cNvPr id="22" name="文字版面配置區 37">
            <a:extLst>
              <a:ext uri="{FF2B5EF4-FFF2-40B4-BE49-F238E27FC236}">
                <a16:creationId xmlns:a16="http://schemas.microsoft.com/office/drawing/2014/main" id="{BB21891C-44E8-4331-8F77-2B81F195A54B}"/>
              </a:ext>
            </a:extLst>
          </p:cNvPr>
          <p:cNvSpPr>
            <a:spLocks noGrp="1"/>
          </p:cNvSpPr>
          <p:nvPr>
            <p:ph type="body" sz="quarter" idx="17"/>
          </p:nvPr>
        </p:nvSpPr>
        <p:spPr>
          <a:xfrm>
            <a:off x="271170" y="2547768"/>
            <a:ext cx="6315657" cy="375872"/>
          </a:xfrm>
          <a:prstGeom prst="rect">
            <a:avLst/>
          </a:prstGeom>
        </p:spPr>
        <p:txBody>
          <a:bodyPr wrap="square">
            <a:spAutoFit/>
          </a:bodyPr>
          <a:lstStyle>
            <a:lvl1pPr marL="0" indent="0">
              <a:lnSpc>
                <a:spcPct val="150000"/>
              </a:lnSpc>
              <a:buNone/>
              <a:defRPr sz="1400" b="0" i="0">
                <a:solidFill>
                  <a:srgbClr val="4E6071"/>
                </a:solidFill>
                <a:latin typeface="微軟正黑體" panose="020B0604030504040204" pitchFamily="34" charset="-120"/>
                <a:ea typeface="微軟正黑體" panose="020B0604030504040204" pitchFamily="34" charset="-120"/>
              </a:defRPr>
            </a:lvl1pPr>
            <a:lvl2pPr>
              <a:defRPr sz="1600" b="1">
                <a:solidFill>
                  <a:srgbClr val="008ED2"/>
                </a:solidFill>
              </a:defRPr>
            </a:lvl2pPr>
            <a:lvl3pPr>
              <a:defRPr sz="1600" b="1">
                <a:solidFill>
                  <a:srgbClr val="008ED2"/>
                </a:solidFill>
              </a:defRPr>
            </a:lvl3pPr>
            <a:lvl4pPr>
              <a:defRPr sz="1600" b="1">
                <a:solidFill>
                  <a:srgbClr val="008ED2"/>
                </a:solidFill>
              </a:defRPr>
            </a:lvl4pPr>
            <a:lvl5pPr>
              <a:defRPr sz="1600" b="1">
                <a:solidFill>
                  <a:srgbClr val="008ED2"/>
                </a:solidFill>
              </a:defRPr>
            </a:lvl5pPr>
          </a:lstStyle>
          <a:p>
            <a:endParaRPr lang="zh-TW" altLang="en-US" dirty="0"/>
          </a:p>
        </p:txBody>
      </p:sp>
      <p:cxnSp>
        <p:nvCxnSpPr>
          <p:cNvPr id="15" name="直線接點 14">
            <a:extLst>
              <a:ext uri="{FF2B5EF4-FFF2-40B4-BE49-F238E27FC236}">
                <a16:creationId xmlns:a16="http://schemas.microsoft.com/office/drawing/2014/main" id="{3C712AC3-240F-4116-8578-CF0E60F7FCC1}"/>
              </a:ext>
            </a:extLst>
          </p:cNvPr>
          <p:cNvCxnSpPr>
            <a:cxnSpLocks/>
          </p:cNvCxnSpPr>
          <p:nvPr userDrawn="1"/>
        </p:nvCxnSpPr>
        <p:spPr>
          <a:xfrm flipV="1">
            <a:off x="271170" y="1081289"/>
            <a:ext cx="6315657" cy="1"/>
          </a:xfrm>
          <a:prstGeom prst="line">
            <a:avLst/>
          </a:prstGeom>
          <a:ln w="12700">
            <a:solidFill>
              <a:srgbClr val="006495"/>
            </a:solidFill>
          </a:ln>
        </p:spPr>
        <p:style>
          <a:lnRef idx="1">
            <a:schemeClr val="accent1"/>
          </a:lnRef>
          <a:fillRef idx="0">
            <a:schemeClr val="accent1"/>
          </a:fillRef>
          <a:effectRef idx="0">
            <a:schemeClr val="accent1"/>
          </a:effectRef>
          <a:fontRef idx="minor">
            <a:schemeClr val="tx1"/>
          </a:fontRef>
        </p:style>
      </p:cxnSp>
      <p:sp>
        <p:nvSpPr>
          <p:cNvPr id="23" name="文字版面配置區 37">
            <a:extLst>
              <a:ext uri="{FF2B5EF4-FFF2-40B4-BE49-F238E27FC236}">
                <a16:creationId xmlns:a16="http://schemas.microsoft.com/office/drawing/2014/main" id="{C8E46109-ED8C-41D9-B3B9-391707D9123E}"/>
              </a:ext>
            </a:extLst>
          </p:cNvPr>
          <p:cNvSpPr>
            <a:spLocks noGrp="1"/>
          </p:cNvSpPr>
          <p:nvPr>
            <p:ph type="body" sz="quarter" idx="18"/>
          </p:nvPr>
        </p:nvSpPr>
        <p:spPr>
          <a:xfrm>
            <a:off x="271169" y="1079222"/>
            <a:ext cx="6315657" cy="375872"/>
          </a:xfrm>
          <a:prstGeom prst="rect">
            <a:avLst/>
          </a:prstGeom>
        </p:spPr>
        <p:txBody>
          <a:bodyPr wrap="square">
            <a:spAutoFit/>
          </a:bodyPr>
          <a:lstStyle>
            <a:lvl1pPr marL="0" indent="0" algn="l">
              <a:lnSpc>
                <a:spcPct val="150000"/>
              </a:lnSpc>
              <a:buNone/>
              <a:defRPr sz="1400" b="0">
                <a:solidFill>
                  <a:srgbClr val="006495"/>
                </a:solidFill>
                <a:latin typeface="微軟正黑體" panose="020B0604030504040204" pitchFamily="34" charset="-120"/>
                <a:ea typeface="微軟正黑體" panose="020B0604030504040204" pitchFamily="34" charset="-120"/>
              </a:defRPr>
            </a:lvl1pPr>
            <a:lvl2pPr>
              <a:defRPr sz="1600" b="1">
                <a:solidFill>
                  <a:srgbClr val="008ED2"/>
                </a:solidFill>
              </a:defRPr>
            </a:lvl2pPr>
            <a:lvl3pPr>
              <a:defRPr sz="1600" b="1">
                <a:solidFill>
                  <a:srgbClr val="008ED2"/>
                </a:solidFill>
              </a:defRPr>
            </a:lvl3pPr>
            <a:lvl4pPr>
              <a:defRPr sz="1600" b="1">
                <a:solidFill>
                  <a:srgbClr val="008ED2"/>
                </a:solidFill>
              </a:defRPr>
            </a:lvl4pPr>
            <a:lvl5pPr>
              <a:defRPr sz="1600" b="1">
                <a:solidFill>
                  <a:srgbClr val="008ED2"/>
                </a:solidFill>
              </a:defRPr>
            </a:lvl5pPr>
          </a:lstStyle>
          <a:p>
            <a:pPr lvl="0"/>
            <a:endParaRPr lang="en-US" altLang="zh-TW" dirty="0"/>
          </a:p>
        </p:txBody>
      </p:sp>
    </p:spTree>
    <p:extLst>
      <p:ext uri="{BB962C8B-B14F-4D97-AF65-F5344CB8AC3E}">
        <p14:creationId xmlns:p14="http://schemas.microsoft.com/office/powerpoint/2010/main" val="196133392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節延伸">
    <p:bg>
      <p:bgPr>
        <a:gradFill>
          <a:gsLst>
            <a:gs pos="0">
              <a:srgbClr val="007F4C"/>
            </a:gs>
            <a:gs pos="100000">
              <a:srgbClr val="007F4C"/>
            </a:gs>
          </a:gsLst>
          <a:lin ang="5400000" scaled="1"/>
        </a:gradFill>
        <a:effectLst/>
      </p:bgPr>
    </p:bg>
    <p:spTree>
      <p:nvGrpSpPr>
        <p:cNvPr id="1" name=""/>
        <p:cNvGrpSpPr/>
        <p:nvPr/>
      </p:nvGrpSpPr>
      <p:grpSpPr>
        <a:xfrm>
          <a:off x="0" y="0"/>
          <a:ext cx="0" cy="0"/>
          <a:chOff x="0" y="0"/>
          <a:chExt cx="0" cy="0"/>
        </a:xfrm>
      </p:grpSpPr>
      <p:sp>
        <p:nvSpPr>
          <p:cNvPr id="17" name="矩形: 圓角 16">
            <a:extLst>
              <a:ext uri="{FF2B5EF4-FFF2-40B4-BE49-F238E27FC236}">
                <a16:creationId xmlns:a16="http://schemas.microsoft.com/office/drawing/2014/main" id="{FB897DA2-7073-45D4-9EC2-0D6BB68BE66D}"/>
              </a:ext>
            </a:extLst>
          </p:cNvPr>
          <p:cNvSpPr/>
          <p:nvPr userDrawn="1"/>
        </p:nvSpPr>
        <p:spPr>
          <a:xfrm>
            <a:off x="115711" y="608241"/>
            <a:ext cx="6626578" cy="8787812"/>
          </a:xfrm>
          <a:prstGeom prst="roundRect">
            <a:avLst>
              <a:gd name="adj" fmla="val 186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文字版面配置區 37">
            <a:extLst>
              <a:ext uri="{FF2B5EF4-FFF2-40B4-BE49-F238E27FC236}">
                <a16:creationId xmlns:a16="http://schemas.microsoft.com/office/drawing/2014/main" id="{93B9511B-5E0B-4063-A129-8C5316BE82C1}"/>
              </a:ext>
            </a:extLst>
          </p:cNvPr>
          <p:cNvSpPr>
            <a:spLocks noGrp="1"/>
          </p:cNvSpPr>
          <p:nvPr>
            <p:ph type="body" sz="quarter" idx="16"/>
          </p:nvPr>
        </p:nvSpPr>
        <p:spPr>
          <a:xfrm>
            <a:off x="205143" y="766455"/>
            <a:ext cx="6315657" cy="286232"/>
          </a:xfrm>
          <a:prstGeom prst="rect">
            <a:avLst/>
          </a:prstGeom>
        </p:spPr>
        <p:txBody>
          <a:bodyPr wrap="square">
            <a:spAutoFit/>
          </a:bodyPr>
          <a:lstStyle>
            <a:lvl1pPr marL="0" indent="0" algn="l">
              <a:buNone/>
              <a:defRPr sz="1400" b="1">
                <a:solidFill>
                  <a:srgbClr val="4E6071"/>
                </a:solidFill>
                <a:latin typeface="微軟正黑體" panose="020B0604030504040204" pitchFamily="34" charset="-120"/>
                <a:ea typeface="微軟正黑體" panose="020B0604030504040204" pitchFamily="34" charset="-120"/>
              </a:defRPr>
            </a:lvl1pPr>
            <a:lvl2pPr>
              <a:defRPr sz="1600" b="1">
                <a:solidFill>
                  <a:srgbClr val="008ED2"/>
                </a:solidFill>
              </a:defRPr>
            </a:lvl2pPr>
            <a:lvl3pPr>
              <a:defRPr sz="1600" b="1">
                <a:solidFill>
                  <a:srgbClr val="008ED2"/>
                </a:solidFill>
              </a:defRPr>
            </a:lvl3pPr>
            <a:lvl4pPr>
              <a:defRPr sz="1600" b="1">
                <a:solidFill>
                  <a:srgbClr val="008ED2"/>
                </a:solidFill>
              </a:defRPr>
            </a:lvl4pPr>
            <a:lvl5pPr>
              <a:defRPr sz="1600" b="1">
                <a:solidFill>
                  <a:srgbClr val="008ED2"/>
                </a:solidFill>
              </a:defRPr>
            </a:lvl5pPr>
          </a:lstStyle>
          <a:p>
            <a:pPr lvl="0"/>
            <a:endParaRPr lang="zh-TW" altLang="en-US" dirty="0"/>
          </a:p>
        </p:txBody>
      </p:sp>
      <p:sp>
        <p:nvSpPr>
          <p:cNvPr id="22" name="文字版面配置區 37">
            <a:extLst>
              <a:ext uri="{FF2B5EF4-FFF2-40B4-BE49-F238E27FC236}">
                <a16:creationId xmlns:a16="http://schemas.microsoft.com/office/drawing/2014/main" id="{BB21891C-44E8-4331-8F77-2B81F195A54B}"/>
              </a:ext>
            </a:extLst>
          </p:cNvPr>
          <p:cNvSpPr>
            <a:spLocks noGrp="1"/>
          </p:cNvSpPr>
          <p:nvPr>
            <p:ph type="body" sz="quarter" idx="17"/>
          </p:nvPr>
        </p:nvSpPr>
        <p:spPr>
          <a:xfrm>
            <a:off x="205144" y="1058923"/>
            <a:ext cx="6315657" cy="375872"/>
          </a:xfrm>
          <a:prstGeom prst="rect">
            <a:avLst/>
          </a:prstGeom>
        </p:spPr>
        <p:txBody>
          <a:bodyPr wrap="square">
            <a:spAutoFit/>
          </a:bodyPr>
          <a:lstStyle>
            <a:lvl1pPr marL="0" indent="0">
              <a:lnSpc>
                <a:spcPct val="150000"/>
              </a:lnSpc>
              <a:buNone/>
              <a:defRPr sz="1400" b="0" i="0">
                <a:solidFill>
                  <a:srgbClr val="4E6071"/>
                </a:solidFill>
                <a:latin typeface="微軟正黑體" panose="020B0604030504040204" pitchFamily="34" charset="-120"/>
                <a:ea typeface="微軟正黑體" panose="020B0604030504040204" pitchFamily="34" charset="-120"/>
              </a:defRPr>
            </a:lvl1pPr>
            <a:lvl2pPr>
              <a:defRPr sz="1600" b="1">
                <a:solidFill>
                  <a:srgbClr val="008ED2"/>
                </a:solidFill>
              </a:defRPr>
            </a:lvl2pPr>
            <a:lvl3pPr>
              <a:defRPr sz="1600" b="1">
                <a:solidFill>
                  <a:srgbClr val="008ED2"/>
                </a:solidFill>
              </a:defRPr>
            </a:lvl3pPr>
            <a:lvl4pPr>
              <a:defRPr sz="1600" b="1">
                <a:solidFill>
                  <a:srgbClr val="008ED2"/>
                </a:solidFill>
              </a:defRPr>
            </a:lvl4pPr>
            <a:lvl5pPr>
              <a:defRPr sz="1600" b="1">
                <a:solidFill>
                  <a:srgbClr val="008ED2"/>
                </a:solidFill>
              </a:defRPr>
            </a:lvl5pPr>
          </a:lstStyle>
          <a:p>
            <a:endParaRPr lang="zh-TW" altLang="en-US" dirty="0"/>
          </a:p>
        </p:txBody>
      </p:sp>
      <p:sp>
        <p:nvSpPr>
          <p:cNvPr id="12" name="矩形 11">
            <a:extLst>
              <a:ext uri="{FF2B5EF4-FFF2-40B4-BE49-F238E27FC236}">
                <a16:creationId xmlns:a16="http://schemas.microsoft.com/office/drawing/2014/main" id="{E12F917F-9F17-41D6-BA50-0C8969DE72EB}"/>
              </a:ext>
            </a:extLst>
          </p:cNvPr>
          <p:cNvSpPr/>
          <p:nvPr userDrawn="1"/>
        </p:nvSpPr>
        <p:spPr>
          <a:xfrm>
            <a:off x="0" y="0"/>
            <a:ext cx="6858000" cy="507938"/>
          </a:xfrm>
          <a:prstGeom prst="rect">
            <a:avLst/>
          </a:prstGeom>
          <a:solidFill>
            <a:srgbClr val="F7F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9FDCDCB8-7F26-4702-9DE6-7E6FB38EC3E6}"/>
              </a:ext>
            </a:extLst>
          </p:cNvPr>
          <p:cNvSpPr txBox="1"/>
          <p:nvPr userDrawn="1"/>
        </p:nvSpPr>
        <p:spPr>
          <a:xfrm>
            <a:off x="1457499" y="90234"/>
            <a:ext cx="1005403" cy="338554"/>
          </a:xfrm>
          <a:prstGeom prst="rect">
            <a:avLst/>
          </a:prstGeom>
          <a:noFill/>
        </p:spPr>
        <p:txBody>
          <a:bodyPr wrap="none" rtlCol="0">
            <a:spAutoFit/>
          </a:bodyPr>
          <a:lstStyle/>
          <a:p>
            <a:pPr algn="l"/>
            <a:r>
              <a:rPr lang="zh-TW" altLang="en-US" sz="1600" b="1" dirty="0">
                <a:solidFill>
                  <a:srgbClr val="615F5F"/>
                </a:solidFill>
                <a:latin typeface="微軟正黑體" panose="020B0604030504040204" pitchFamily="34" charset="-120"/>
                <a:ea typeface="微軟正黑體" panose="020B0604030504040204" pitchFamily="34" charset="-120"/>
              </a:rPr>
              <a:t>建築履歷</a:t>
            </a:r>
          </a:p>
        </p:txBody>
      </p:sp>
      <p:grpSp>
        <p:nvGrpSpPr>
          <p:cNvPr id="11" name="群組 10">
            <a:extLst>
              <a:ext uri="{FF2B5EF4-FFF2-40B4-BE49-F238E27FC236}">
                <a16:creationId xmlns:a16="http://schemas.microsoft.com/office/drawing/2014/main" id="{06CEDAA4-65FF-4396-9DDD-C3B2B7DFD123}"/>
              </a:ext>
            </a:extLst>
          </p:cNvPr>
          <p:cNvGrpSpPr/>
          <p:nvPr userDrawn="1"/>
        </p:nvGrpSpPr>
        <p:grpSpPr>
          <a:xfrm>
            <a:off x="205143" y="100304"/>
            <a:ext cx="1252356" cy="307330"/>
            <a:chOff x="194057" y="254370"/>
            <a:chExt cx="1534973" cy="376684"/>
          </a:xfrm>
        </p:grpSpPr>
        <p:pic>
          <p:nvPicPr>
            <p:cNvPr id="9" name="圖形 8">
              <a:extLst>
                <a:ext uri="{FF2B5EF4-FFF2-40B4-BE49-F238E27FC236}">
                  <a16:creationId xmlns:a16="http://schemas.microsoft.com/office/drawing/2014/main" id="{643EAF81-BF5B-4278-B320-0388E29B8E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6128" y="330462"/>
              <a:ext cx="982902" cy="227296"/>
            </a:xfrm>
            <a:prstGeom prst="rect">
              <a:avLst/>
            </a:prstGeom>
          </p:spPr>
        </p:pic>
        <p:pic>
          <p:nvPicPr>
            <p:cNvPr id="10" name="圖片 9">
              <a:extLst>
                <a:ext uri="{FF2B5EF4-FFF2-40B4-BE49-F238E27FC236}">
                  <a16:creationId xmlns:a16="http://schemas.microsoft.com/office/drawing/2014/main" id="{E4884AA8-51D7-445F-B6F3-340BEF786358}"/>
                </a:ext>
              </a:extLst>
            </p:cNvPr>
            <p:cNvPicPr>
              <a:picLocks noChangeAspect="1"/>
            </p:cNvPicPr>
            <p:nvPr userDrawn="1"/>
          </p:nvPicPr>
          <p:blipFill>
            <a:blip r:embed="rId4"/>
            <a:stretch>
              <a:fillRect/>
            </a:stretch>
          </p:blipFill>
          <p:spPr>
            <a:xfrm>
              <a:off x="194057" y="254370"/>
              <a:ext cx="463136" cy="376684"/>
            </a:xfrm>
            <a:prstGeom prst="rect">
              <a:avLst/>
            </a:prstGeom>
          </p:spPr>
        </p:pic>
      </p:grpSp>
      <p:sp>
        <p:nvSpPr>
          <p:cNvPr id="16" name="文字版面配置區 15">
            <a:extLst>
              <a:ext uri="{FF2B5EF4-FFF2-40B4-BE49-F238E27FC236}">
                <a16:creationId xmlns:a16="http://schemas.microsoft.com/office/drawing/2014/main" id="{6B9F1628-C939-4B20-877D-15B81B494779}"/>
              </a:ext>
            </a:extLst>
          </p:cNvPr>
          <p:cNvSpPr>
            <a:spLocks noGrp="1"/>
          </p:cNvSpPr>
          <p:nvPr>
            <p:ph type="body" sz="quarter" idx="13"/>
          </p:nvPr>
        </p:nvSpPr>
        <p:spPr>
          <a:xfrm>
            <a:off x="4826716" y="124658"/>
            <a:ext cx="1826141" cy="313932"/>
          </a:xfrm>
          <a:prstGeom prst="rect">
            <a:avLst/>
          </a:prstGeom>
        </p:spPr>
        <p:txBody>
          <a:bodyPr wrap="none" anchor="ctr">
            <a:spAutoFit/>
          </a:bodyPr>
          <a:lstStyle>
            <a:lvl1pPr marL="0" indent="0" algn="r">
              <a:buNone/>
              <a:defRPr sz="1600" b="1">
                <a:solidFill>
                  <a:srgbClr val="006495"/>
                </a:solidFill>
                <a:latin typeface="微軟正黑體" panose="020B0604030504040204" pitchFamily="34" charset="-120"/>
                <a:ea typeface="微軟正黑體" panose="020B0604030504040204" pitchFamily="34" charset="-120"/>
              </a:defRPr>
            </a:lvl1pPr>
          </a:lstStyle>
          <a:p>
            <a:pPr lvl="0"/>
            <a:r>
              <a:rPr lang="zh-TW" altLang="en-US" dirty="0"/>
              <a:t>編輯母片文字樣式</a:t>
            </a:r>
          </a:p>
        </p:txBody>
      </p:sp>
      <p:sp>
        <p:nvSpPr>
          <p:cNvPr id="6" name="Slide Number Placeholder 5"/>
          <p:cNvSpPr>
            <a:spLocks noGrp="1"/>
          </p:cNvSpPr>
          <p:nvPr>
            <p:ph type="sldNum" sz="quarter" idx="12"/>
          </p:nvPr>
        </p:nvSpPr>
        <p:spPr>
          <a:xfrm>
            <a:off x="6184368" y="9496357"/>
            <a:ext cx="468489" cy="307777"/>
          </a:xfrm>
          <a:prstGeom prst="rect">
            <a:avLst/>
          </a:prstGeom>
        </p:spPr>
        <p:txBody>
          <a:bodyPr anchor="ctr"/>
          <a:lstStyle>
            <a:lvl1pPr algn="ctr">
              <a:defRPr sz="1200" b="1">
                <a:solidFill>
                  <a:schemeClr val="bg1"/>
                </a:solidFill>
                <a:latin typeface="微軟正黑體" panose="020B0604030504040204" pitchFamily="34" charset="-120"/>
                <a:ea typeface="微軟正黑體" panose="020B0604030504040204" pitchFamily="34" charset="-120"/>
                <a:cs typeface="Arial" panose="020B0604020202020204" pitchFamily="34" charset="0"/>
              </a:defRPr>
            </a:lvl1pPr>
          </a:lstStyle>
          <a:p>
            <a:fld id="{87F2EC76-4ACB-421A-B9EA-F72429D0FACA}" type="slidenum">
              <a:rPr lang="zh-TW" altLang="en-US" smtClean="0"/>
              <a:pPr/>
              <a:t>‹#›</a:t>
            </a:fld>
            <a:endParaRPr lang="zh-TW" altLang="en-US" dirty="0"/>
          </a:p>
        </p:txBody>
      </p:sp>
      <p:sp>
        <p:nvSpPr>
          <p:cNvPr id="18" name="文字方塊 17">
            <a:extLst>
              <a:ext uri="{FF2B5EF4-FFF2-40B4-BE49-F238E27FC236}">
                <a16:creationId xmlns:a16="http://schemas.microsoft.com/office/drawing/2014/main" id="{DB575D17-5F7A-4DF1-BF45-0160819972DE}"/>
              </a:ext>
            </a:extLst>
          </p:cNvPr>
          <p:cNvSpPr txBox="1"/>
          <p:nvPr userDrawn="1"/>
        </p:nvSpPr>
        <p:spPr>
          <a:xfrm>
            <a:off x="5642745" y="9511746"/>
            <a:ext cx="541623" cy="276999"/>
          </a:xfrm>
          <a:prstGeom prst="rect">
            <a:avLst/>
          </a:prstGeom>
          <a:noFill/>
        </p:spPr>
        <p:txBody>
          <a:bodyPr wrap="none" rtlCol="0">
            <a:spAutoFit/>
          </a:bodyPr>
          <a:lstStyle/>
          <a:p>
            <a:pPr algn="r"/>
            <a:r>
              <a:rPr lang="en-US" altLang="zh-TW" sz="1200" dirty="0">
                <a:solidFill>
                  <a:schemeClr val="bg1"/>
                </a:solidFill>
                <a:latin typeface="微軟正黑體" panose="020B0604030504040204" pitchFamily="34" charset="-120"/>
                <a:ea typeface="微軟正黑體" panose="020B0604030504040204" pitchFamily="34" charset="-120"/>
              </a:rPr>
              <a:t>Page</a:t>
            </a:r>
            <a:endParaRPr lang="zh-TW" altLang="en-US" sz="1200" dirty="0">
              <a:solidFill>
                <a:schemeClr val="bg1"/>
              </a:solidFill>
              <a:latin typeface="微軟正黑體" panose="020B0604030504040204" pitchFamily="34" charset="-120"/>
              <a:ea typeface="微軟正黑體" panose="020B0604030504040204" pitchFamily="34" charset="-120"/>
            </a:endParaRPr>
          </a:p>
        </p:txBody>
      </p:sp>
      <p:sp>
        <p:nvSpPr>
          <p:cNvPr id="19" name="矩形: 圓角 18">
            <a:extLst>
              <a:ext uri="{FF2B5EF4-FFF2-40B4-BE49-F238E27FC236}">
                <a16:creationId xmlns:a16="http://schemas.microsoft.com/office/drawing/2014/main" id="{45948422-C9D4-4EEE-8E7A-EC3C339A781F}"/>
              </a:ext>
            </a:extLst>
          </p:cNvPr>
          <p:cNvSpPr/>
          <p:nvPr userDrawn="1"/>
        </p:nvSpPr>
        <p:spPr>
          <a:xfrm>
            <a:off x="6184368" y="9496357"/>
            <a:ext cx="468489" cy="307777"/>
          </a:xfrm>
          <a:prstGeom prst="roundRect">
            <a:avLst/>
          </a:prstGeom>
          <a:noFill/>
          <a:ln w="12700">
            <a:solidFill>
              <a:schemeClr val="bg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20740167"/>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487557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75" r:id="rId4"/>
    <p:sldLayoutId id="214748367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RpjE1IYCnmMKd9GHuejO-dpYs4NEC5zx/view" TargetMode="External"/><Relationship Id="rId2" Type="http://schemas.openxmlformats.org/officeDocument/2006/relationships/hyperlink" Target="https://bes-frontend.jp.ngrok.io/login?platform=logbook" TargetMode="Externa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hyperlink" Target="https://bes-frontend.jp.ngrok.io/login?platform=fnp"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Layout" Target="../slideLayouts/slideLayout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圖片 21">
            <a:extLst>
              <a:ext uri="{FF2B5EF4-FFF2-40B4-BE49-F238E27FC236}">
                <a16:creationId xmlns:a16="http://schemas.microsoft.com/office/drawing/2014/main" id="{976DEEF7-5FC8-4517-B98D-6FF7A296E3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7003102" cy="9906000"/>
          </a:xfrm>
          <a:prstGeom prst="rect">
            <a:avLst/>
          </a:prstGeom>
        </p:spPr>
      </p:pic>
      <p:pic>
        <p:nvPicPr>
          <p:cNvPr id="24" name="圖片 23">
            <a:extLst>
              <a:ext uri="{FF2B5EF4-FFF2-40B4-BE49-F238E27FC236}">
                <a16:creationId xmlns:a16="http://schemas.microsoft.com/office/drawing/2014/main" id="{BBBD0B1E-BD49-4E1D-986A-55E97B0CFE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698" y="253126"/>
            <a:ext cx="2367344" cy="404587"/>
          </a:xfrm>
          <a:prstGeom prst="rect">
            <a:avLst/>
          </a:prstGeom>
        </p:spPr>
      </p:pic>
      <p:grpSp>
        <p:nvGrpSpPr>
          <p:cNvPr id="8" name="群組 7">
            <a:extLst>
              <a:ext uri="{FF2B5EF4-FFF2-40B4-BE49-F238E27FC236}">
                <a16:creationId xmlns:a16="http://schemas.microsoft.com/office/drawing/2014/main" id="{07878210-FF55-47CA-A061-DF534DF04DEE}"/>
              </a:ext>
            </a:extLst>
          </p:cNvPr>
          <p:cNvGrpSpPr/>
          <p:nvPr/>
        </p:nvGrpSpPr>
        <p:grpSpPr>
          <a:xfrm>
            <a:off x="372570" y="8364980"/>
            <a:ext cx="2352150" cy="1325050"/>
            <a:chOff x="793678" y="8179911"/>
            <a:chExt cx="2352150" cy="1325050"/>
          </a:xfrm>
        </p:grpSpPr>
        <p:sp>
          <p:nvSpPr>
            <p:cNvPr id="9" name="Google Shape;32;p1">
              <a:extLst>
                <a:ext uri="{FF2B5EF4-FFF2-40B4-BE49-F238E27FC236}">
                  <a16:creationId xmlns:a16="http://schemas.microsoft.com/office/drawing/2014/main" id="{D4E8FF29-0FFB-4D96-B2AA-B1BC3F6258FF}"/>
                </a:ext>
              </a:extLst>
            </p:cNvPr>
            <p:cNvSpPr txBox="1"/>
            <p:nvPr/>
          </p:nvSpPr>
          <p:spPr>
            <a:xfrm>
              <a:off x="793678" y="8179911"/>
              <a:ext cx="1915879" cy="276959"/>
            </a:xfrm>
            <a:prstGeom prst="rect">
              <a:avLst/>
            </a:prstGeom>
            <a:noFill/>
            <a:ln>
              <a:noFill/>
            </a:ln>
            <a:effectLst/>
          </p:spPr>
          <p:txBody>
            <a:bodyPr spcFirstLastPara="1" wrap="none" lIns="91425" tIns="45700" rIns="91425" bIns="45700" anchor="t" anchorCtr="0">
              <a:spAutoFit/>
            </a:bodyPr>
            <a:lstStyle/>
            <a:p>
              <a:pPr marL="0" marR="0" lvl="0" indent="0" algn="l" rtl="0">
                <a:spcBef>
                  <a:spcPts val="0"/>
                </a:spcBef>
                <a:spcAft>
                  <a:spcPts val="0"/>
                </a:spcAft>
                <a:buNone/>
              </a:pPr>
              <a:r>
                <a:rPr lang="zh-TW" altLang="en-US" sz="1200" dirty="0">
                  <a:solidFill>
                    <a:schemeClr val="bg1"/>
                  </a:solidFill>
                  <a:latin typeface="微軟正黑體" panose="020B0604030504040204" pitchFamily="34" charset="-120"/>
                  <a:ea typeface="微軟正黑體" panose="020B0604030504040204" pitchFamily="34" charset="-120"/>
                </a:rPr>
                <a:t>策略發展辦公室 專案經理</a:t>
              </a:r>
              <a:endParaRPr sz="1200" dirty="0">
                <a:solidFill>
                  <a:schemeClr val="bg1"/>
                </a:solidFill>
                <a:latin typeface="微軟正黑體" panose="020B0604030504040204" pitchFamily="34" charset="-120"/>
                <a:ea typeface="微軟正黑體" panose="020B0604030504040204" pitchFamily="34" charset="-120"/>
              </a:endParaRPr>
            </a:p>
          </p:txBody>
        </p:sp>
        <p:sp>
          <p:nvSpPr>
            <p:cNvPr id="10" name="Google Shape;32;p1">
              <a:extLst>
                <a:ext uri="{FF2B5EF4-FFF2-40B4-BE49-F238E27FC236}">
                  <a16:creationId xmlns:a16="http://schemas.microsoft.com/office/drawing/2014/main" id="{E3CCDD62-8C14-4EF6-BA44-45460D3F752C}"/>
                </a:ext>
              </a:extLst>
            </p:cNvPr>
            <p:cNvSpPr txBox="1"/>
            <p:nvPr/>
          </p:nvSpPr>
          <p:spPr>
            <a:xfrm>
              <a:off x="793678" y="8382076"/>
              <a:ext cx="1467038" cy="400069"/>
            </a:xfrm>
            <a:prstGeom prst="rect">
              <a:avLst/>
            </a:prstGeom>
            <a:noFill/>
            <a:ln>
              <a:noFill/>
            </a:ln>
            <a:effectLst/>
          </p:spPr>
          <p:txBody>
            <a:bodyPr spcFirstLastPara="1" wrap="none" lIns="91425" tIns="45700" rIns="91425" bIns="45700" anchor="t" anchorCtr="0">
              <a:spAutoFit/>
            </a:bodyPr>
            <a:lstStyle/>
            <a:p>
              <a:pPr lvl="0"/>
              <a:r>
                <a:rPr lang="zh-TW" altLang="en-US" sz="2000" b="1" dirty="0">
                  <a:solidFill>
                    <a:schemeClr val="bg1"/>
                  </a:solidFill>
                  <a:latin typeface="微軟正黑體" panose="020B0604030504040204" pitchFamily="34" charset="-120"/>
                  <a:ea typeface="微軟正黑體" panose="020B0604030504040204" pitchFamily="34" charset="-120"/>
                </a:rPr>
                <a:t>陳    宏    仁</a:t>
              </a:r>
              <a:endParaRPr sz="2000" b="1" dirty="0">
                <a:solidFill>
                  <a:schemeClr val="bg1"/>
                </a:solidFill>
                <a:latin typeface="微軟正黑體" panose="020B0604030504040204" pitchFamily="34" charset="-120"/>
                <a:ea typeface="微軟正黑體" panose="020B0604030504040204" pitchFamily="34" charset="-120"/>
              </a:endParaRPr>
            </a:p>
          </p:txBody>
        </p:sp>
        <p:cxnSp>
          <p:nvCxnSpPr>
            <p:cNvPr id="11" name="直線接點 10">
              <a:extLst>
                <a:ext uri="{FF2B5EF4-FFF2-40B4-BE49-F238E27FC236}">
                  <a16:creationId xmlns:a16="http://schemas.microsoft.com/office/drawing/2014/main" id="{0D305F7F-18D7-4938-80B3-3A86481D6340}"/>
                </a:ext>
              </a:extLst>
            </p:cNvPr>
            <p:cNvCxnSpPr>
              <a:cxnSpLocks/>
            </p:cNvCxnSpPr>
            <p:nvPr/>
          </p:nvCxnSpPr>
          <p:spPr>
            <a:xfrm flipV="1">
              <a:off x="899583" y="8782145"/>
              <a:ext cx="2154811" cy="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Google Shape;32;p1">
              <a:extLst>
                <a:ext uri="{FF2B5EF4-FFF2-40B4-BE49-F238E27FC236}">
                  <a16:creationId xmlns:a16="http://schemas.microsoft.com/office/drawing/2014/main" id="{8419CB88-D24A-4284-A77C-FC9C81056D52}"/>
                </a:ext>
              </a:extLst>
            </p:cNvPr>
            <p:cNvSpPr txBox="1"/>
            <p:nvPr/>
          </p:nvSpPr>
          <p:spPr>
            <a:xfrm>
              <a:off x="809962" y="8785206"/>
              <a:ext cx="1606500" cy="246181"/>
            </a:xfrm>
            <a:prstGeom prst="rect">
              <a:avLst/>
            </a:prstGeom>
            <a:noFill/>
            <a:ln>
              <a:noFill/>
            </a:ln>
            <a:effectLst/>
          </p:spPr>
          <p:txBody>
            <a:bodyPr spcFirstLastPara="1" wrap="none" lIns="91425" tIns="45700" rIns="91425" bIns="45700" anchor="t" anchorCtr="0">
              <a:spAutoFit/>
            </a:bodyPr>
            <a:lstStyle/>
            <a:p>
              <a:pPr marL="0" marR="0" lvl="0" indent="0" algn="l" rtl="0">
                <a:spcBef>
                  <a:spcPts val="0"/>
                </a:spcBef>
                <a:spcAft>
                  <a:spcPts val="0"/>
                </a:spcAft>
                <a:buNone/>
              </a:pPr>
              <a:r>
                <a:rPr lang="zh-TW" altLang="en-US" sz="1000" dirty="0">
                  <a:solidFill>
                    <a:schemeClr val="bg1"/>
                  </a:solidFill>
                  <a:latin typeface="微軟正黑體" panose="020B0604030504040204" pitchFamily="34" charset="-120"/>
                  <a:ea typeface="微軟正黑體" panose="020B0604030504040204" pitchFamily="34" charset="-120"/>
                </a:rPr>
                <a:t>電    話：</a:t>
              </a:r>
              <a:r>
                <a:rPr lang="en-US" altLang="zh-TW" sz="1000" dirty="0">
                  <a:solidFill>
                    <a:schemeClr val="bg1"/>
                  </a:solidFill>
                  <a:latin typeface="微軟正黑體" panose="020B0604030504040204" pitchFamily="34" charset="-120"/>
                  <a:ea typeface="微軟正黑體" panose="020B0604030504040204" pitchFamily="34" charset="-120"/>
                </a:rPr>
                <a:t>(02</a:t>
              </a:r>
              <a:r>
                <a:rPr lang="en-US" altLang="zh-TW" sz="1000" dirty="0">
                  <a:solidFill>
                    <a:schemeClr val="bg1"/>
                  </a:solidFill>
                  <a:latin typeface="微軟正黑體" panose="020B0604030504040204" pitchFamily="34" charset="-120"/>
                  <a:ea typeface="微軟正黑體" panose="020B0604030504040204" pitchFamily="34" charset="-120"/>
                  <a:sym typeface="Wingdings" panose="05000000000000000000" pitchFamily="2" charset="2"/>
                </a:rPr>
                <a:t>) 8787-6015</a:t>
              </a:r>
              <a:endParaRPr sz="1000" dirty="0">
                <a:solidFill>
                  <a:schemeClr val="bg1"/>
                </a:solidFill>
                <a:latin typeface="微軟正黑體" panose="020B0604030504040204" pitchFamily="34" charset="-120"/>
                <a:ea typeface="微軟正黑體" panose="020B0604030504040204" pitchFamily="34" charset="-120"/>
              </a:endParaRPr>
            </a:p>
          </p:txBody>
        </p:sp>
        <p:sp>
          <p:nvSpPr>
            <p:cNvPr id="13" name="Google Shape;32;p1">
              <a:extLst>
                <a:ext uri="{FF2B5EF4-FFF2-40B4-BE49-F238E27FC236}">
                  <a16:creationId xmlns:a16="http://schemas.microsoft.com/office/drawing/2014/main" id="{BA238201-B3FD-48D9-BC61-EBE8BCEB9CD2}"/>
                </a:ext>
              </a:extLst>
            </p:cNvPr>
            <p:cNvSpPr txBox="1"/>
            <p:nvPr/>
          </p:nvSpPr>
          <p:spPr>
            <a:xfrm>
              <a:off x="809962" y="8951004"/>
              <a:ext cx="2335866" cy="553957"/>
            </a:xfrm>
            <a:prstGeom prst="rect">
              <a:avLst/>
            </a:prstGeom>
            <a:noFill/>
            <a:ln>
              <a:noFill/>
            </a:ln>
            <a:effectLst/>
          </p:spPr>
          <p:txBody>
            <a:bodyPr spcFirstLastPara="1" wrap="none" lIns="91425" tIns="45700" rIns="91425" bIns="45700" anchor="t" anchorCtr="0">
              <a:spAutoFit/>
            </a:bodyPr>
            <a:lstStyle/>
            <a:p>
              <a:pPr marL="0" marR="0" lvl="0" indent="0" algn="l" rtl="0">
                <a:lnSpc>
                  <a:spcPct val="150000"/>
                </a:lnSpc>
                <a:spcBef>
                  <a:spcPts val="0"/>
                </a:spcBef>
                <a:spcAft>
                  <a:spcPts val="0"/>
                </a:spcAft>
                <a:buNone/>
              </a:pPr>
              <a:r>
                <a:rPr lang="en-US" altLang="zh-TW" sz="1000" dirty="0">
                  <a:solidFill>
                    <a:schemeClr val="bg1"/>
                  </a:solidFill>
                  <a:latin typeface="微軟正黑體" panose="020B0604030504040204" pitchFamily="34" charset="-120"/>
                  <a:ea typeface="微軟正黑體" panose="020B0604030504040204" pitchFamily="34" charset="-120"/>
                </a:rPr>
                <a:t>E-Mail</a:t>
              </a:r>
              <a:r>
                <a:rPr lang="zh-TW" altLang="en-US" sz="1000" dirty="0">
                  <a:solidFill>
                    <a:schemeClr val="bg1"/>
                  </a:solidFill>
                  <a:latin typeface="微軟正黑體" panose="020B0604030504040204" pitchFamily="34" charset="-120"/>
                  <a:ea typeface="微軟正黑體" panose="020B0604030504040204" pitchFamily="34" charset="-120"/>
                </a:rPr>
                <a:t>：</a:t>
              </a:r>
              <a:r>
                <a:rPr lang="en-US" altLang="zh-TW" sz="1000" dirty="0">
                  <a:solidFill>
                    <a:schemeClr val="bg1"/>
                  </a:solidFill>
                  <a:latin typeface="微軟正黑體" panose="020B0604030504040204" pitchFamily="34" charset="-120"/>
                  <a:ea typeface="微軟正黑體" panose="020B0604030504040204" pitchFamily="34" charset="-120"/>
                </a:rPr>
                <a:t>hungjen.chen@bes.com.tw</a:t>
              </a:r>
            </a:p>
            <a:p>
              <a:pPr marL="0" marR="0" lvl="0" indent="0" algn="l" rtl="0">
                <a:lnSpc>
                  <a:spcPct val="150000"/>
                </a:lnSpc>
                <a:spcBef>
                  <a:spcPts val="0"/>
                </a:spcBef>
                <a:spcAft>
                  <a:spcPts val="0"/>
                </a:spcAft>
                <a:buNone/>
              </a:pPr>
              <a:r>
                <a:rPr lang="en-US" altLang="zh-TW" sz="1000" dirty="0">
                  <a:solidFill>
                    <a:schemeClr val="bg1"/>
                  </a:solidFill>
                  <a:latin typeface="微軟正黑體" panose="020B0604030504040204" pitchFamily="34" charset="-120"/>
                  <a:ea typeface="微軟正黑體" panose="020B0604030504040204" pitchFamily="34" charset="-120"/>
                </a:rPr>
                <a:t>                226195@bes.com.tw</a:t>
              </a:r>
              <a:endParaRPr sz="1000" dirty="0">
                <a:solidFill>
                  <a:schemeClr val="bg1"/>
                </a:solidFill>
                <a:latin typeface="微軟正黑體" panose="020B0604030504040204" pitchFamily="34" charset="-120"/>
                <a:ea typeface="微軟正黑體" panose="020B0604030504040204" pitchFamily="34" charset="-120"/>
              </a:endParaRPr>
            </a:p>
          </p:txBody>
        </p:sp>
      </p:grpSp>
      <p:sp>
        <p:nvSpPr>
          <p:cNvPr id="14" name="Google Shape;29;p1">
            <a:extLst>
              <a:ext uri="{FF2B5EF4-FFF2-40B4-BE49-F238E27FC236}">
                <a16:creationId xmlns:a16="http://schemas.microsoft.com/office/drawing/2014/main" id="{DFA097E4-50F7-4AE9-8149-9F52BC451227}"/>
              </a:ext>
            </a:extLst>
          </p:cNvPr>
          <p:cNvSpPr txBox="1"/>
          <p:nvPr/>
        </p:nvSpPr>
        <p:spPr>
          <a:xfrm>
            <a:off x="805983" y="872081"/>
            <a:ext cx="2307012" cy="923289"/>
          </a:xfrm>
          <a:prstGeom prst="rect">
            <a:avLst/>
          </a:prstGeom>
          <a:noFill/>
          <a:ln>
            <a:noFill/>
          </a:ln>
          <a:effectLst/>
        </p:spPr>
        <p:txBody>
          <a:bodyPr spcFirstLastPara="1" wrap="none" lIns="91425" tIns="45700" rIns="91425" bIns="45700" anchor="t" anchorCtr="0">
            <a:spAutoFit/>
          </a:bodyPr>
          <a:lstStyle/>
          <a:p>
            <a:pPr marL="0" marR="0" lvl="0" indent="0" algn="l" rtl="0">
              <a:spcBef>
                <a:spcPts val="0"/>
              </a:spcBef>
              <a:spcAft>
                <a:spcPts val="0"/>
              </a:spcAft>
              <a:buNone/>
            </a:pPr>
            <a:r>
              <a:rPr lang="zh-TW" sz="5400" b="1" i="0" u="none" strike="noStrike" cap="none" dirty="0">
                <a:solidFill>
                  <a:schemeClr val="bg1"/>
                </a:solidFill>
                <a:latin typeface="Arial"/>
                <a:ea typeface="Arial"/>
                <a:cs typeface="Arial"/>
                <a:sym typeface="Arial"/>
              </a:rPr>
              <a:t>BES</a:t>
            </a:r>
            <a:r>
              <a:rPr lang="en-US" altLang="zh-TW" sz="2400" b="1" i="0" u="none" strike="noStrike" cap="none" dirty="0">
                <a:solidFill>
                  <a:schemeClr val="bg1"/>
                </a:solidFill>
                <a:latin typeface="Arial"/>
                <a:ea typeface="Arial"/>
                <a:cs typeface="Arial"/>
                <a:sym typeface="Arial"/>
              </a:rPr>
              <a:t> </a:t>
            </a:r>
            <a:r>
              <a:rPr lang="en-US" altLang="zh-TW" sz="4400" b="1" i="0" u="none" strike="noStrike" cap="none" dirty="0">
                <a:solidFill>
                  <a:schemeClr val="bg1"/>
                </a:solidFill>
                <a:latin typeface="Arial"/>
                <a:ea typeface="Arial"/>
                <a:cs typeface="Arial"/>
                <a:sym typeface="Arial"/>
              </a:rPr>
              <a:t>@</a:t>
            </a:r>
            <a:endParaRPr sz="5400" b="1" dirty="0">
              <a:solidFill>
                <a:schemeClr val="bg1"/>
              </a:solidFill>
              <a:latin typeface="Arial"/>
              <a:ea typeface="Arial"/>
              <a:cs typeface="Arial"/>
              <a:sym typeface="Arial"/>
            </a:endParaRPr>
          </a:p>
        </p:txBody>
      </p:sp>
      <p:sp>
        <p:nvSpPr>
          <p:cNvPr id="17" name="Google Shape;29;p1">
            <a:extLst>
              <a:ext uri="{FF2B5EF4-FFF2-40B4-BE49-F238E27FC236}">
                <a16:creationId xmlns:a16="http://schemas.microsoft.com/office/drawing/2014/main" id="{5DB64268-7B30-4D98-B8D3-BB3EA372494B}"/>
              </a:ext>
            </a:extLst>
          </p:cNvPr>
          <p:cNvSpPr txBox="1"/>
          <p:nvPr/>
        </p:nvSpPr>
        <p:spPr>
          <a:xfrm>
            <a:off x="3025942" y="949026"/>
            <a:ext cx="3570178" cy="769401"/>
          </a:xfrm>
          <a:prstGeom prst="rect">
            <a:avLst/>
          </a:prstGeom>
          <a:noFill/>
          <a:ln>
            <a:noFill/>
          </a:ln>
          <a:effectLst>
            <a:outerShdw blurRad="101600" dist="50800" dir="8100000" algn="tr" rotWithShape="0">
              <a:prstClr val="black">
                <a:alpha val="40000"/>
              </a:prstClr>
            </a:outerShdw>
          </a:effectLst>
        </p:spPr>
        <p:txBody>
          <a:bodyPr spcFirstLastPara="1" wrap="none" lIns="91425" tIns="45700" rIns="91425" bIns="45700" anchor="t" anchorCtr="0">
            <a:spAutoFit/>
          </a:bodyPr>
          <a:lstStyle>
            <a:defPPr>
              <a:defRPr lang="en-US"/>
            </a:defPPr>
            <a:lvl1pPr lvl="0">
              <a:defRPr sz="3600" b="1">
                <a:solidFill>
                  <a:schemeClr val="bg1"/>
                </a:solidFill>
                <a:latin typeface="+mj-lt"/>
                <a:ea typeface="微軟正黑體" panose="020B0604030504040204" pitchFamily="34" charset="-120"/>
              </a:defRPr>
            </a:lvl1pPr>
          </a:lstStyle>
          <a:p>
            <a:r>
              <a:rPr lang="zh-TW" altLang="en-US" sz="4400" dirty="0">
                <a:sym typeface="Arial"/>
              </a:rPr>
              <a:t>建築履歷系統</a:t>
            </a:r>
            <a:endParaRPr sz="4400" dirty="0">
              <a:sym typeface="Arial"/>
            </a:endParaRPr>
          </a:p>
        </p:txBody>
      </p:sp>
      <p:sp>
        <p:nvSpPr>
          <p:cNvPr id="18" name="Google Shape;32;p1">
            <a:extLst>
              <a:ext uri="{FF2B5EF4-FFF2-40B4-BE49-F238E27FC236}">
                <a16:creationId xmlns:a16="http://schemas.microsoft.com/office/drawing/2014/main" id="{5EC8BE44-62DF-4BEC-9A56-FC7D51015A42}"/>
              </a:ext>
            </a:extLst>
          </p:cNvPr>
          <p:cNvSpPr txBox="1"/>
          <p:nvPr/>
        </p:nvSpPr>
        <p:spPr>
          <a:xfrm>
            <a:off x="4616121" y="1718427"/>
            <a:ext cx="1979999" cy="523180"/>
          </a:xfrm>
          <a:prstGeom prst="rect">
            <a:avLst/>
          </a:prstGeom>
          <a:noFill/>
          <a:ln>
            <a:noFill/>
          </a:ln>
          <a:effectLst>
            <a:outerShdw blurRad="101600" dist="50800" dir="8100000" algn="tr" rotWithShape="0">
              <a:prstClr val="black">
                <a:alpha val="40000"/>
              </a:prstClr>
            </a:outerShdw>
          </a:effectLst>
        </p:spPr>
        <p:txBody>
          <a:bodyPr spcFirstLastPara="1" wrap="none" lIns="91425" tIns="45700" rIns="91425" bIns="45700" anchor="t" anchorCtr="0">
            <a:spAutoFit/>
          </a:bodyPr>
          <a:lstStyle/>
          <a:p>
            <a:pPr lvl="0"/>
            <a:r>
              <a:rPr lang="zh-TW" altLang="en-US" sz="2800" b="1" dirty="0">
                <a:solidFill>
                  <a:schemeClr val="bg1"/>
                </a:solidFill>
                <a:latin typeface="+mj-lt"/>
                <a:ea typeface="微軟正黑體" panose="020B0604030504040204" pitchFamily="34" charset="-120"/>
              </a:rPr>
              <a:t>使用者手冊</a:t>
            </a:r>
            <a:endParaRPr sz="2800" b="1" dirty="0">
              <a:solidFill>
                <a:schemeClr val="bg1"/>
              </a:solidFill>
              <a:latin typeface="+mj-lt"/>
              <a:ea typeface="微軟正黑體" panose="020B0604030504040204" pitchFamily="34" charset="-120"/>
            </a:endParaRPr>
          </a:p>
        </p:txBody>
      </p:sp>
      <p:sp>
        <p:nvSpPr>
          <p:cNvPr id="27" name="文字方塊 26">
            <a:extLst>
              <a:ext uri="{FF2B5EF4-FFF2-40B4-BE49-F238E27FC236}">
                <a16:creationId xmlns:a16="http://schemas.microsoft.com/office/drawing/2014/main" id="{443D73AD-057E-408F-BE53-0E461CBEE382}"/>
              </a:ext>
            </a:extLst>
          </p:cNvPr>
          <p:cNvSpPr txBox="1"/>
          <p:nvPr/>
        </p:nvSpPr>
        <p:spPr>
          <a:xfrm>
            <a:off x="5256279" y="9587699"/>
            <a:ext cx="1601721" cy="246221"/>
          </a:xfrm>
          <a:prstGeom prst="rect">
            <a:avLst/>
          </a:prstGeom>
          <a:noFill/>
        </p:spPr>
        <p:txBody>
          <a:bodyPr wrap="none" rtlCol="0">
            <a:spAutoFit/>
          </a:bodyPr>
          <a:lstStyle/>
          <a:p>
            <a:pPr algn="r"/>
            <a:r>
              <a:rPr lang="en-US" altLang="zh-TW" sz="1000" dirty="0">
                <a:solidFill>
                  <a:schemeClr val="bg1">
                    <a:lumMod val="95000"/>
                  </a:schemeClr>
                </a:solidFill>
              </a:rPr>
              <a:t>Version: 1.00 (2026/01/07)</a:t>
            </a:r>
            <a:endParaRPr lang="zh-TW" altLang="en-US" sz="1000" dirty="0">
              <a:solidFill>
                <a:schemeClr val="bg1">
                  <a:lumMod val="95000"/>
                </a:schemeClr>
              </a:solidFill>
            </a:endParaRPr>
          </a:p>
        </p:txBody>
      </p:sp>
    </p:spTree>
    <p:extLst>
      <p:ext uri="{BB962C8B-B14F-4D97-AF65-F5344CB8AC3E}">
        <p14:creationId xmlns:p14="http://schemas.microsoft.com/office/powerpoint/2010/main" val="3359523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26727D71-6768-4D9F-AD05-3070542AA72E}"/>
              </a:ext>
            </a:extLst>
          </p:cNvPr>
          <p:cNvSpPr>
            <a:spLocks noGrp="1"/>
          </p:cNvSpPr>
          <p:nvPr>
            <p:ph type="body" sz="quarter" idx="13"/>
          </p:nvPr>
        </p:nvSpPr>
        <p:spPr/>
        <p:txBody>
          <a:bodyPr/>
          <a:lstStyle/>
          <a:p>
            <a:r>
              <a:rPr lang="en-US" altLang="zh-TW"/>
              <a:t>- </a:t>
            </a:r>
            <a:r>
              <a:rPr lang="zh-TW" altLang="en-US"/>
              <a:t>版本記錄 </a:t>
            </a:r>
            <a:r>
              <a:rPr lang="en-US" altLang="zh-TW"/>
              <a:t>-</a:t>
            </a:r>
            <a:endParaRPr lang="zh-TW" altLang="en-US" dirty="0"/>
          </a:p>
        </p:txBody>
      </p:sp>
      <p:graphicFrame>
        <p:nvGraphicFramePr>
          <p:cNvPr id="3" name="表格 2">
            <a:extLst>
              <a:ext uri="{FF2B5EF4-FFF2-40B4-BE49-F238E27FC236}">
                <a16:creationId xmlns:a16="http://schemas.microsoft.com/office/drawing/2014/main" id="{819481DD-F4AC-4DE9-BAB7-63BF99BB9B78}"/>
              </a:ext>
            </a:extLst>
          </p:cNvPr>
          <p:cNvGraphicFramePr>
            <a:graphicFrameLocks noGrp="1"/>
          </p:cNvGraphicFramePr>
          <p:nvPr>
            <p:extLst>
              <p:ext uri="{D42A27DB-BD31-4B8C-83A1-F6EECF244321}">
                <p14:modId xmlns:p14="http://schemas.microsoft.com/office/powerpoint/2010/main" val="1089587185"/>
              </p:ext>
            </p:extLst>
          </p:nvPr>
        </p:nvGraphicFramePr>
        <p:xfrm>
          <a:off x="765292" y="794084"/>
          <a:ext cx="5327412" cy="741680"/>
        </p:xfrm>
        <a:graphic>
          <a:graphicData uri="http://schemas.openxmlformats.org/drawingml/2006/table">
            <a:tbl>
              <a:tblPr firstRow="1" bandRow="1">
                <a:tableStyleId>{5C22544A-7EE6-4342-B048-85BDC9FD1C3A}</a:tableStyleId>
              </a:tblPr>
              <a:tblGrid>
                <a:gridCol w="455913">
                  <a:extLst>
                    <a:ext uri="{9D8B030D-6E8A-4147-A177-3AD203B41FA5}">
                      <a16:colId xmlns:a16="http://schemas.microsoft.com/office/drawing/2014/main" val="517984229"/>
                    </a:ext>
                  </a:extLst>
                </a:gridCol>
                <a:gridCol w="830179">
                  <a:extLst>
                    <a:ext uri="{9D8B030D-6E8A-4147-A177-3AD203B41FA5}">
                      <a16:colId xmlns:a16="http://schemas.microsoft.com/office/drawing/2014/main" val="186897653"/>
                    </a:ext>
                  </a:extLst>
                </a:gridCol>
                <a:gridCol w="2695074">
                  <a:extLst>
                    <a:ext uri="{9D8B030D-6E8A-4147-A177-3AD203B41FA5}">
                      <a16:colId xmlns:a16="http://schemas.microsoft.com/office/drawing/2014/main" val="2377896988"/>
                    </a:ext>
                  </a:extLst>
                </a:gridCol>
                <a:gridCol w="1346246">
                  <a:extLst>
                    <a:ext uri="{9D8B030D-6E8A-4147-A177-3AD203B41FA5}">
                      <a16:colId xmlns:a16="http://schemas.microsoft.com/office/drawing/2014/main" val="1223177407"/>
                    </a:ext>
                  </a:extLst>
                </a:gridCol>
              </a:tblGrid>
              <a:tr h="370840">
                <a:tc>
                  <a:txBody>
                    <a:bodyPr/>
                    <a:lstStyle/>
                    <a:p>
                      <a:pPr marL="0" algn="l" defTabSz="914400" rtl="0" eaLnBrk="1" latinLnBrk="0" hangingPunct="1"/>
                      <a:r>
                        <a:rPr lang="en-US" altLang="zh-TW" sz="1200" kern="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NO.</a:t>
                      </a:r>
                      <a:endParaRPr lang="zh-TW" altLang="en-US" sz="1200" kern="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a:txBody>
                  <a:tcPr anchor="ctr">
                    <a:lnL w="6350" cap="flat" cmpd="sng" algn="ctr">
                      <a:solidFill>
                        <a:srgbClr val="003D5C"/>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006495"/>
                    </a:solidFill>
                  </a:tcPr>
                </a:tc>
                <a:tc>
                  <a:txBody>
                    <a:bodyPr/>
                    <a:lstStyle/>
                    <a:p>
                      <a:pPr marL="0" algn="l" defTabSz="914400" rtl="0" eaLnBrk="1" latinLnBrk="0" hangingPunct="1"/>
                      <a:r>
                        <a:rPr lang="en-US" altLang="zh-TW" sz="1200" kern="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Version</a:t>
                      </a:r>
                      <a:endParaRPr lang="zh-TW" altLang="en-US" sz="1200" kern="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006495"/>
                    </a:solidFill>
                  </a:tcPr>
                </a:tc>
                <a:tc>
                  <a:txBody>
                    <a:bodyPr/>
                    <a:lstStyle/>
                    <a:p>
                      <a:pPr marL="0" algn="l" defTabSz="914400" rtl="0" eaLnBrk="1" latinLnBrk="0" hangingPunct="1"/>
                      <a:r>
                        <a:rPr lang="zh-TW" altLang="en-US" sz="1200" kern="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修訂內容</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006495"/>
                    </a:solidFill>
                  </a:tcPr>
                </a:tc>
                <a:tc>
                  <a:txBody>
                    <a:bodyPr/>
                    <a:lstStyle/>
                    <a:p>
                      <a:pPr marL="0" algn="l" defTabSz="914400" rtl="0" eaLnBrk="1" latinLnBrk="0" hangingPunct="1"/>
                      <a:r>
                        <a:rPr lang="zh-TW" altLang="en-US" sz="1200" kern="1200" dirty="0">
                          <a:solidFill>
                            <a:schemeClr val="bg1"/>
                          </a:solidFill>
                          <a:latin typeface="微軟正黑體" panose="020B0604030504040204" pitchFamily="34" charset="-120"/>
                          <a:ea typeface="微軟正黑體" panose="020B0604030504040204" pitchFamily="34" charset="-120"/>
                          <a:cs typeface="Arial" panose="020B0604020202020204" pitchFamily="34" charset="0"/>
                        </a:rPr>
                        <a:t>日期</a:t>
                      </a:r>
                    </a:p>
                  </a:txBody>
                  <a:tcPr anchor="ctr">
                    <a:lnL w="6350" cap="flat" cmpd="sng" algn="ctr">
                      <a:solidFill>
                        <a:schemeClr val="bg1"/>
                      </a:solidFill>
                      <a:prstDash val="solid"/>
                      <a:round/>
                      <a:headEnd type="none" w="med" len="med"/>
                      <a:tailEnd type="none" w="med" len="med"/>
                    </a:lnL>
                    <a:lnR w="6350" cap="flat" cmpd="sng" algn="ctr">
                      <a:solidFill>
                        <a:srgbClr val="003D5C"/>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006495"/>
                    </a:solidFill>
                  </a:tcPr>
                </a:tc>
                <a:extLst>
                  <a:ext uri="{0D108BD9-81ED-4DB2-BD59-A6C34878D82A}">
                    <a16:rowId xmlns:a16="http://schemas.microsoft.com/office/drawing/2014/main" val="3605701036"/>
                  </a:ext>
                </a:extLst>
              </a:tr>
              <a:tr h="370840">
                <a:tc>
                  <a:txBody>
                    <a:bodyPr/>
                    <a:lstStyle/>
                    <a:p>
                      <a:pPr algn="ctr"/>
                      <a:r>
                        <a:rPr lang="en-US" altLang="zh-TW" sz="1200" dirty="0">
                          <a:solidFill>
                            <a:srgbClr val="4E6071"/>
                          </a:solidFill>
                          <a:latin typeface="微軟正黑體" panose="020B0604030504040204" pitchFamily="34" charset="-120"/>
                          <a:ea typeface="微軟正黑體" panose="020B0604030504040204" pitchFamily="34" charset="-120"/>
                        </a:rPr>
                        <a:t>1</a:t>
                      </a:r>
                      <a:endParaRPr lang="zh-TW" altLang="en-US" sz="1200" dirty="0">
                        <a:solidFill>
                          <a:srgbClr val="4E6071"/>
                        </a:solidFill>
                        <a:latin typeface="微軟正黑體" panose="020B0604030504040204" pitchFamily="34" charset="-120"/>
                        <a:ea typeface="微軟正黑體" panose="020B0604030504040204" pitchFamily="34" charset="-120"/>
                      </a:endParaRPr>
                    </a:p>
                  </a:txBody>
                  <a:tcPr anchor="ctr">
                    <a:lnL w="6350" cap="flat" cmpd="sng" algn="ctr">
                      <a:solidFill>
                        <a:srgbClr val="003D5C"/>
                      </a:solidFill>
                      <a:prstDash val="solid"/>
                      <a:round/>
                      <a:headEnd type="none" w="med" len="med"/>
                      <a:tailEnd type="none" w="med" len="med"/>
                    </a:lnL>
                    <a:lnR w="12700" cmpd="sng">
                      <a:noFill/>
                    </a:lnR>
                    <a:lnT w="38100" cmpd="sng">
                      <a:noFill/>
                    </a:lnT>
                    <a:lnB w="6350" cap="flat" cmpd="sng" algn="ctr">
                      <a:solidFill>
                        <a:srgbClr val="D2E5F8"/>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E5EBFF">
                            <a:alpha val="50000"/>
                          </a:srgbClr>
                        </a:gs>
                        <a:gs pos="100000">
                          <a:srgbClr val="FFFFFF"/>
                        </a:gs>
                      </a:gsLst>
                      <a:lin ang="16200000" scaled="1"/>
                      <a:tileRect/>
                    </a:gradFill>
                  </a:tcPr>
                </a:tc>
                <a:tc>
                  <a:txBody>
                    <a:bodyPr/>
                    <a:lstStyle/>
                    <a:p>
                      <a:r>
                        <a:rPr lang="en-US" altLang="zh-TW" sz="1200" dirty="0">
                          <a:solidFill>
                            <a:srgbClr val="4E6071"/>
                          </a:solidFill>
                          <a:latin typeface="微軟正黑體" panose="020B0604030504040204" pitchFamily="34" charset="-120"/>
                          <a:ea typeface="微軟正黑體" panose="020B0604030504040204" pitchFamily="34" charset="-120"/>
                        </a:rPr>
                        <a:t>V1.00</a:t>
                      </a:r>
                      <a:endParaRPr lang="zh-TW" altLang="en-US" sz="1200" dirty="0">
                        <a:solidFill>
                          <a:srgbClr val="4E6071"/>
                        </a:solidFill>
                        <a:latin typeface="微軟正黑體" panose="020B0604030504040204" pitchFamily="34" charset="-120"/>
                        <a:ea typeface="微軟正黑體" panose="020B0604030504040204" pitchFamily="34" charset="-120"/>
                      </a:endParaRPr>
                    </a:p>
                  </a:txBody>
                  <a:tcPr anchor="ctr">
                    <a:lnL w="12700" cmpd="sng">
                      <a:noFill/>
                    </a:lnL>
                    <a:lnR w="12700" cmpd="sng">
                      <a:noFill/>
                    </a:lnR>
                    <a:lnT w="38100" cmpd="sng">
                      <a:noFill/>
                    </a:lnT>
                    <a:lnB w="6350" cap="flat" cmpd="sng" algn="ctr">
                      <a:solidFill>
                        <a:srgbClr val="D2E5F8"/>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E5EBFF">
                            <a:alpha val="50000"/>
                          </a:srgbClr>
                        </a:gs>
                        <a:gs pos="100000">
                          <a:srgbClr val="FFFFFF"/>
                        </a:gs>
                      </a:gsLst>
                      <a:lin ang="16200000" scaled="1"/>
                      <a:tileRect/>
                    </a:gradFill>
                  </a:tcPr>
                </a:tc>
                <a:tc>
                  <a:txBody>
                    <a:bodyPr/>
                    <a:lstStyle/>
                    <a:p>
                      <a:r>
                        <a:rPr lang="zh-TW" altLang="en-US" sz="1200" dirty="0">
                          <a:solidFill>
                            <a:srgbClr val="4E6071"/>
                          </a:solidFill>
                          <a:latin typeface="微軟正黑體" panose="020B0604030504040204" pitchFamily="34" charset="-120"/>
                          <a:ea typeface="微軟正黑體" panose="020B0604030504040204" pitchFamily="34" charset="-120"/>
                        </a:rPr>
                        <a:t>初稿創建</a:t>
                      </a:r>
                    </a:p>
                  </a:txBody>
                  <a:tcPr anchor="ctr">
                    <a:lnL w="12700" cmpd="sng">
                      <a:noFill/>
                    </a:lnL>
                    <a:lnR w="12700" cmpd="sng">
                      <a:noFill/>
                    </a:lnR>
                    <a:lnT w="38100" cmpd="sng">
                      <a:noFill/>
                    </a:lnT>
                    <a:lnB w="6350" cap="flat" cmpd="sng" algn="ctr">
                      <a:solidFill>
                        <a:srgbClr val="D2E5F8"/>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E5EBFF">
                            <a:alpha val="50000"/>
                          </a:srgbClr>
                        </a:gs>
                        <a:gs pos="100000">
                          <a:srgbClr val="FFFFFF"/>
                        </a:gs>
                      </a:gsLst>
                      <a:lin ang="16200000" scaled="1"/>
                      <a:tileRect/>
                    </a:gradFill>
                  </a:tcPr>
                </a:tc>
                <a:tc>
                  <a:txBody>
                    <a:bodyPr/>
                    <a:lstStyle/>
                    <a:p>
                      <a:r>
                        <a:rPr lang="en-US" altLang="zh-TW" sz="1200" dirty="0">
                          <a:solidFill>
                            <a:srgbClr val="4E6071"/>
                          </a:solidFill>
                          <a:latin typeface="微軟正黑體" panose="020B0604030504040204" pitchFamily="34" charset="-120"/>
                          <a:ea typeface="微軟正黑體" panose="020B0604030504040204" pitchFamily="34" charset="-120"/>
                        </a:rPr>
                        <a:t>2026/01/07</a:t>
                      </a:r>
                      <a:endParaRPr lang="zh-TW" altLang="en-US" sz="1200" dirty="0">
                        <a:solidFill>
                          <a:srgbClr val="4E6071"/>
                        </a:solidFill>
                        <a:latin typeface="微軟正黑體" panose="020B0604030504040204" pitchFamily="34" charset="-120"/>
                        <a:ea typeface="微軟正黑體" panose="020B0604030504040204" pitchFamily="34" charset="-120"/>
                      </a:endParaRPr>
                    </a:p>
                  </a:txBody>
                  <a:tcPr anchor="ctr">
                    <a:lnL w="12700" cmpd="sng">
                      <a:noFill/>
                    </a:lnL>
                    <a:lnR w="6350" cap="flat" cmpd="sng" algn="ctr">
                      <a:solidFill>
                        <a:srgbClr val="003D5C"/>
                      </a:solidFill>
                      <a:prstDash val="solid"/>
                      <a:round/>
                      <a:headEnd type="none" w="med" len="med"/>
                      <a:tailEnd type="none" w="med" len="med"/>
                    </a:lnR>
                    <a:lnT w="38100" cmpd="sng">
                      <a:noFill/>
                    </a:lnT>
                    <a:lnB w="6350" cap="flat" cmpd="sng" algn="ctr">
                      <a:solidFill>
                        <a:srgbClr val="D2E5F8"/>
                      </a:solid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E5EBFF">
                            <a:alpha val="50000"/>
                          </a:srgbClr>
                        </a:gs>
                        <a:gs pos="100000">
                          <a:srgbClr val="FFFFFF"/>
                        </a:gs>
                      </a:gsLst>
                      <a:lin ang="16200000" scaled="1"/>
                      <a:tileRect/>
                    </a:gradFill>
                  </a:tcPr>
                </a:tc>
                <a:extLst>
                  <a:ext uri="{0D108BD9-81ED-4DB2-BD59-A6C34878D82A}">
                    <a16:rowId xmlns:a16="http://schemas.microsoft.com/office/drawing/2014/main" val="314338969"/>
                  </a:ext>
                </a:extLst>
              </a:tr>
            </a:tbl>
          </a:graphicData>
        </a:graphic>
      </p:graphicFrame>
    </p:spTree>
    <p:extLst>
      <p:ext uri="{BB962C8B-B14F-4D97-AF65-F5344CB8AC3E}">
        <p14:creationId xmlns:p14="http://schemas.microsoft.com/office/powerpoint/2010/main" val="2297833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0CBFE75C-26F9-41D3-80F9-08B6C142C1DB}"/>
              </a:ext>
            </a:extLst>
          </p:cNvPr>
          <p:cNvSpPr>
            <a:spLocks noGrp="1"/>
          </p:cNvSpPr>
          <p:nvPr>
            <p:ph type="body" sz="quarter" idx="13"/>
          </p:nvPr>
        </p:nvSpPr>
        <p:spPr>
          <a:xfrm>
            <a:off x="5775694" y="124658"/>
            <a:ext cx="877163" cy="313932"/>
          </a:xfrm>
        </p:spPr>
        <p:txBody>
          <a:bodyPr/>
          <a:lstStyle/>
          <a:p>
            <a:r>
              <a:rPr lang="en-US" altLang="zh-TW" dirty="0"/>
              <a:t>- </a:t>
            </a:r>
            <a:r>
              <a:rPr lang="zh-TW" altLang="en-US" dirty="0"/>
              <a:t>目錄 </a:t>
            </a:r>
            <a:r>
              <a:rPr lang="en-US" altLang="zh-TW" dirty="0"/>
              <a:t>-</a:t>
            </a:r>
            <a:endParaRPr lang="zh-TW" altLang="en-US" dirty="0"/>
          </a:p>
        </p:txBody>
      </p:sp>
      <p:sp>
        <p:nvSpPr>
          <p:cNvPr id="3" name="文字版面配置區 2">
            <a:extLst>
              <a:ext uri="{FF2B5EF4-FFF2-40B4-BE49-F238E27FC236}">
                <a16:creationId xmlns:a16="http://schemas.microsoft.com/office/drawing/2014/main" id="{BC292B05-E8CD-4B8B-A281-B8851BFA79E8}"/>
              </a:ext>
            </a:extLst>
          </p:cNvPr>
          <p:cNvSpPr>
            <a:spLocks noGrp="1"/>
          </p:cNvSpPr>
          <p:nvPr>
            <p:ph type="body" sz="quarter" idx="15"/>
          </p:nvPr>
        </p:nvSpPr>
        <p:spPr/>
        <p:txBody>
          <a:bodyPr/>
          <a:lstStyle/>
          <a:p>
            <a:r>
              <a:rPr lang="zh-TW" altLang="en-US" dirty="0"/>
              <a:t>第</a:t>
            </a:r>
            <a:r>
              <a:rPr lang="en-US" altLang="zh-TW" dirty="0"/>
              <a:t> 1 </a:t>
            </a:r>
            <a:r>
              <a:rPr lang="zh-TW" altLang="en-US" dirty="0"/>
              <a:t>章：系統簡介</a:t>
            </a:r>
          </a:p>
        </p:txBody>
      </p:sp>
      <p:sp>
        <p:nvSpPr>
          <p:cNvPr id="4" name="文字版面配置區 3">
            <a:extLst>
              <a:ext uri="{FF2B5EF4-FFF2-40B4-BE49-F238E27FC236}">
                <a16:creationId xmlns:a16="http://schemas.microsoft.com/office/drawing/2014/main" id="{E01B2297-AFEA-436B-9932-9D05BD0AC4B9}"/>
              </a:ext>
            </a:extLst>
          </p:cNvPr>
          <p:cNvSpPr>
            <a:spLocks noGrp="1"/>
          </p:cNvSpPr>
          <p:nvPr>
            <p:ph type="body" sz="quarter" idx="18"/>
          </p:nvPr>
        </p:nvSpPr>
        <p:spPr>
          <a:xfrm>
            <a:off x="271169" y="1079222"/>
            <a:ext cx="2185214" cy="827278"/>
          </a:xfrm>
        </p:spPr>
        <p:txBody>
          <a:bodyPr wrap="none"/>
          <a:lstStyle/>
          <a:p>
            <a:r>
              <a:rPr lang="en-US" altLang="zh-TW" dirty="0"/>
              <a:t>    1 ‧ 1 </a:t>
            </a:r>
            <a:r>
              <a:rPr lang="zh-TW" altLang="en-US" dirty="0"/>
              <a:t>系統核心價值</a:t>
            </a:r>
            <a:endParaRPr lang="en-US" altLang="zh-TW" dirty="0"/>
          </a:p>
          <a:p>
            <a:r>
              <a:rPr lang="en-US" altLang="zh-TW" dirty="0"/>
              <a:t>    1 ‧ 2 </a:t>
            </a:r>
            <a:r>
              <a:rPr lang="zh-TW" altLang="en-US" dirty="0"/>
              <a:t>角色與權限概覽</a:t>
            </a:r>
            <a:r>
              <a:rPr lang="en-US" altLang="zh-TW" dirty="0"/>
              <a:t>    </a:t>
            </a:r>
            <a:endParaRPr lang="zh-TW" altLang="en-US" dirty="0"/>
          </a:p>
        </p:txBody>
      </p:sp>
      <p:sp>
        <p:nvSpPr>
          <p:cNvPr id="6" name="文字版面配置區 2">
            <a:extLst>
              <a:ext uri="{FF2B5EF4-FFF2-40B4-BE49-F238E27FC236}">
                <a16:creationId xmlns:a16="http://schemas.microsoft.com/office/drawing/2014/main" id="{1CAF0537-F33B-4B18-B1B9-1E8DDBF0BB67}"/>
              </a:ext>
            </a:extLst>
          </p:cNvPr>
          <p:cNvSpPr txBox="1">
            <a:spLocks/>
          </p:cNvSpPr>
          <p:nvPr/>
        </p:nvSpPr>
        <p:spPr>
          <a:xfrm>
            <a:off x="271169" y="2061401"/>
            <a:ext cx="6315657" cy="3139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第</a:t>
            </a:r>
            <a:r>
              <a:rPr lang="en-US" altLang="zh-TW" dirty="0"/>
              <a:t> 2 </a:t>
            </a:r>
            <a:r>
              <a:rPr lang="zh-TW" altLang="en-US" dirty="0"/>
              <a:t>章：首次使用與專案申請</a:t>
            </a:r>
          </a:p>
        </p:txBody>
      </p:sp>
      <p:sp>
        <p:nvSpPr>
          <p:cNvPr id="7" name="文字版面配置區 3">
            <a:extLst>
              <a:ext uri="{FF2B5EF4-FFF2-40B4-BE49-F238E27FC236}">
                <a16:creationId xmlns:a16="http://schemas.microsoft.com/office/drawing/2014/main" id="{7F56078B-239C-4946-95D6-A46B878852E2}"/>
              </a:ext>
            </a:extLst>
          </p:cNvPr>
          <p:cNvSpPr txBox="1">
            <a:spLocks/>
          </p:cNvSpPr>
          <p:nvPr/>
        </p:nvSpPr>
        <p:spPr>
          <a:xfrm>
            <a:off x="270929" y="2373268"/>
            <a:ext cx="2364750" cy="1278683"/>
          </a:xfrm>
          <a:prstGeom prst="rect">
            <a:avLst/>
          </a:prstGeom>
        </p:spPr>
        <p:txBody>
          <a:bodyPr wrap="none">
            <a:spAutoFit/>
          </a:bodyPr>
          <a:lstStyle>
            <a:lvl1pPr marL="0" indent="0" algn="l" defTabSz="914400" rtl="0" eaLnBrk="1" latinLnBrk="0" hangingPunct="1">
              <a:lnSpc>
                <a:spcPct val="150000"/>
              </a:lnSpc>
              <a:spcBef>
                <a:spcPts val="1000"/>
              </a:spcBef>
              <a:buFont typeface="Arial" panose="020B0604020202020204" pitchFamily="34" charset="0"/>
              <a:buNone/>
              <a:defRPr sz="1400" b="0"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    2 ‧ 1 </a:t>
            </a:r>
            <a:r>
              <a:rPr lang="zh-TW" altLang="en-US" dirty="0"/>
              <a:t>系統登入</a:t>
            </a:r>
            <a:endParaRPr lang="en-US" altLang="zh-TW" dirty="0"/>
          </a:p>
          <a:p>
            <a:r>
              <a:rPr lang="en-US" altLang="zh-TW" dirty="0"/>
              <a:t>    2 ‧ 2 </a:t>
            </a:r>
            <a:r>
              <a:rPr lang="zh-TW" altLang="en-US" dirty="0"/>
              <a:t>申請加入正式專案</a:t>
            </a:r>
            <a:endParaRPr lang="en-US" altLang="zh-TW" dirty="0"/>
          </a:p>
          <a:p>
            <a:r>
              <a:rPr lang="en-US" altLang="zh-TW" dirty="0"/>
              <a:t>    2 ‧ 3 </a:t>
            </a:r>
            <a:r>
              <a:rPr lang="zh-TW" altLang="en-US" dirty="0"/>
              <a:t>申請狀態與結果通知</a:t>
            </a:r>
            <a:endParaRPr lang="en-US" altLang="zh-TW" dirty="0"/>
          </a:p>
        </p:txBody>
      </p:sp>
      <p:sp>
        <p:nvSpPr>
          <p:cNvPr id="10" name="文字版面配置區 2">
            <a:extLst>
              <a:ext uri="{FF2B5EF4-FFF2-40B4-BE49-F238E27FC236}">
                <a16:creationId xmlns:a16="http://schemas.microsoft.com/office/drawing/2014/main" id="{4E516968-5EA8-42D3-AAFB-72FF8896D7A6}"/>
              </a:ext>
            </a:extLst>
          </p:cNvPr>
          <p:cNvSpPr txBox="1">
            <a:spLocks/>
          </p:cNvSpPr>
          <p:nvPr/>
        </p:nvSpPr>
        <p:spPr>
          <a:xfrm>
            <a:off x="270689" y="3804787"/>
            <a:ext cx="6315657" cy="3139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第</a:t>
            </a:r>
            <a:r>
              <a:rPr lang="en-US" altLang="zh-TW" dirty="0"/>
              <a:t> 3 </a:t>
            </a:r>
            <a:r>
              <a:rPr lang="zh-TW" altLang="en-US" dirty="0"/>
              <a:t>章：核心功能</a:t>
            </a:r>
          </a:p>
        </p:txBody>
      </p:sp>
      <p:sp>
        <p:nvSpPr>
          <p:cNvPr id="11" name="文字版面配置區 3">
            <a:extLst>
              <a:ext uri="{FF2B5EF4-FFF2-40B4-BE49-F238E27FC236}">
                <a16:creationId xmlns:a16="http://schemas.microsoft.com/office/drawing/2014/main" id="{32F617B2-4B96-4361-9765-37D1DB749B8A}"/>
              </a:ext>
            </a:extLst>
          </p:cNvPr>
          <p:cNvSpPr txBox="1">
            <a:spLocks/>
          </p:cNvSpPr>
          <p:nvPr/>
        </p:nvSpPr>
        <p:spPr>
          <a:xfrm>
            <a:off x="270449" y="4116654"/>
            <a:ext cx="2903359" cy="2632900"/>
          </a:xfrm>
          <a:prstGeom prst="rect">
            <a:avLst/>
          </a:prstGeom>
        </p:spPr>
        <p:txBody>
          <a:bodyPr wrap="none">
            <a:spAutoFit/>
          </a:bodyPr>
          <a:lstStyle>
            <a:lvl1pPr marL="0" indent="0" algn="l" defTabSz="914400" rtl="0" eaLnBrk="1" latinLnBrk="0" hangingPunct="1">
              <a:lnSpc>
                <a:spcPct val="150000"/>
              </a:lnSpc>
              <a:spcBef>
                <a:spcPts val="1000"/>
              </a:spcBef>
              <a:buFont typeface="Arial" panose="020B0604020202020204" pitchFamily="34" charset="0"/>
              <a:buNone/>
              <a:defRPr sz="1400" b="0"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    3 ‧ 1</a:t>
            </a:r>
            <a:r>
              <a:rPr lang="zh-TW" altLang="en-US" dirty="0"/>
              <a:t> 進入專案後頁面</a:t>
            </a:r>
            <a:endParaRPr lang="en-US" altLang="zh-TW" dirty="0"/>
          </a:p>
          <a:p>
            <a:r>
              <a:rPr lang="en-US" altLang="zh-TW" dirty="0"/>
              <a:t>    3 ‧ 2 </a:t>
            </a:r>
            <a:r>
              <a:rPr lang="zh-TW" altLang="en-US" dirty="0"/>
              <a:t>進入上傳建築履歷頁面</a:t>
            </a:r>
            <a:endParaRPr lang="en-US" altLang="zh-TW" dirty="0"/>
          </a:p>
          <a:p>
            <a:r>
              <a:rPr lang="en-US" altLang="zh-TW" dirty="0"/>
              <a:t>    3 ‧ 3 </a:t>
            </a:r>
            <a:r>
              <a:rPr lang="zh-TW" altLang="en-US" dirty="0"/>
              <a:t>進入建築履歷編碼列表頁面</a:t>
            </a:r>
            <a:endParaRPr lang="en-US" altLang="zh-TW" dirty="0"/>
          </a:p>
          <a:p>
            <a:r>
              <a:rPr lang="en-US" altLang="zh-TW" dirty="0"/>
              <a:t>    3 ‧ 4 </a:t>
            </a:r>
            <a:r>
              <a:rPr lang="zh-TW" altLang="en-US" dirty="0"/>
              <a:t>進入資產設備列表頁面</a:t>
            </a:r>
            <a:endParaRPr lang="en-US" altLang="zh-TW" dirty="0"/>
          </a:p>
          <a:p>
            <a:r>
              <a:rPr lang="en-US" altLang="zh-TW" dirty="0"/>
              <a:t>    3 ‧ 5 </a:t>
            </a:r>
            <a:r>
              <a:rPr lang="zh-TW" altLang="en-US" dirty="0"/>
              <a:t>進入同步維修紀錄頁面</a:t>
            </a:r>
            <a:endParaRPr lang="en-US" altLang="zh-TW" dirty="0"/>
          </a:p>
          <a:p>
            <a:r>
              <a:rPr lang="en-US" altLang="zh-TW" dirty="0"/>
              <a:t>    3 ‧ 6 </a:t>
            </a:r>
            <a:r>
              <a:rPr lang="zh-TW" altLang="en-US" dirty="0"/>
              <a:t>進入維修紀錄列表頁面</a:t>
            </a:r>
            <a:endParaRPr lang="en-US" altLang="zh-TW" dirty="0"/>
          </a:p>
        </p:txBody>
      </p:sp>
      <p:sp>
        <p:nvSpPr>
          <p:cNvPr id="12" name="文字版面配置區 2">
            <a:extLst>
              <a:ext uri="{FF2B5EF4-FFF2-40B4-BE49-F238E27FC236}">
                <a16:creationId xmlns:a16="http://schemas.microsoft.com/office/drawing/2014/main" id="{D559FF4B-8909-490E-9420-C56592448EB0}"/>
              </a:ext>
            </a:extLst>
          </p:cNvPr>
          <p:cNvSpPr txBox="1">
            <a:spLocks/>
          </p:cNvSpPr>
          <p:nvPr/>
        </p:nvSpPr>
        <p:spPr>
          <a:xfrm>
            <a:off x="270449" y="6904455"/>
            <a:ext cx="6315657" cy="3139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第</a:t>
            </a:r>
            <a:r>
              <a:rPr lang="en-US" altLang="zh-TW" dirty="0"/>
              <a:t> 4 </a:t>
            </a:r>
            <a:r>
              <a:rPr lang="zh-TW" altLang="en-US" dirty="0"/>
              <a:t>章：專案管理功能</a:t>
            </a:r>
          </a:p>
        </p:txBody>
      </p:sp>
      <p:sp>
        <p:nvSpPr>
          <p:cNvPr id="13" name="文字版面配置區 3">
            <a:extLst>
              <a:ext uri="{FF2B5EF4-FFF2-40B4-BE49-F238E27FC236}">
                <a16:creationId xmlns:a16="http://schemas.microsoft.com/office/drawing/2014/main" id="{EE657F66-F832-46E6-BA52-9B71AA29BD7C}"/>
              </a:ext>
            </a:extLst>
          </p:cNvPr>
          <p:cNvSpPr txBox="1">
            <a:spLocks/>
          </p:cNvSpPr>
          <p:nvPr/>
        </p:nvSpPr>
        <p:spPr>
          <a:xfrm>
            <a:off x="270209" y="7216322"/>
            <a:ext cx="2005677" cy="827278"/>
          </a:xfrm>
          <a:prstGeom prst="rect">
            <a:avLst/>
          </a:prstGeom>
        </p:spPr>
        <p:txBody>
          <a:bodyPr wrap="none">
            <a:spAutoFit/>
          </a:bodyPr>
          <a:lstStyle>
            <a:lvl1pPr marL="0" indent="0" algn="l" defTabSz="914400" rtl="0" eaLnBrk="1" latinLnBrk="0" hangingPunct="1">
              <a:lnSpc>
                <a:spcPct val="150000"/>
              </a:lnSpc>
              <a:spcBef>
                <a:spcPts val="1000"/>
              </a:spcBef>
              <a:buFont typeface="Arial" panose="020B0604020202020204" pitchFamily="34" charset="0"/>
              <a:buNone/>
              <a:defRPr sz="1400" b="0"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    4 ‧ 1 </a:t>
            </a:r>
            <a:r>
              <a:rPr lang="zh-TW" altLang="en-US" dirty="0"/>
              <a:t>專案助理指南</a:t>
            </a:r>
            <a:endParaRPr lang="en-US" altLang="zh-TW" dirty="0"/>
          </a:p>
          <a:p>
            <a:r>
              <a:rPr lang="en-US" altLang="zh-TW" dirty="0"/>
              <a:t>    4 ‧ 2 </a:t>
            </a:r>
            <a:r>
              <a:rPr lang="zh-TW" altLang="en-US" dirty="0"/>
              <a:t>專案管理員指南</a:t>
            </a:r>
            <a:endParaRPr lang="en-US" altLang="zh-TW" dirty="0"/>
          </a:p>
        </p:txBody>
      </p:sp>
      <p:sp>
        <p:nvSpPr>
          <p:cNvPr id="14" name="文字版面配置區 3">
            <a:extLst>
              <a:ext uri="{FF2B5EF4-FFF2-40B4-BE49-F238E27FC236}">
                <a16:creationId xmlns:a16="http://schemas.microsoft.com/office/drawing/2014/main" id="{6401D481-A741-4E3D-92EB-EDDC67F565E1}"/>
              </a:ext>
            </a:extLst>
          </p:cNvPr>
          <p:cNvSpPr txBox="1">
            <a:spLocks/>
          </p:cNvSpPr>
          <p:nvPr/>
        </p:nvSpPr>
        <p:spPr>
          <a:xfrm>
            <a:off x="5863358" y="1079222"/>
            <a:ext cx="468398" cy="827278"/>
          </a:xfrm>
          <a:prstGeom prst="rect">
            <a:avLst/>
          </a:prstGeom>
        </p:spPr>
        <p:txBody>
          <a:bodyPr wrap="none">
            <a:spAutoFit/>
          </a:bodyPr>
          <a:lstStyle>
            <a:lvl1pPr marL="0" indent="0" algn="l" defTabSz="914400" rtl="0" eaLnBrk="1" latinLnBrk="0" hangingPunct="1">
              <a:lnSpc>
                <a:spcPct val="150000"/>
              </a:lnSpc>
              <a:spcBef>
                <a:spcPts val="1000"/>
              </a:spcBef>
              <a:buFont typeface="Arial" panose="020B0604020202020204" pitchFamily="34" charset="0"/>
              <a:buNone/>
              <a:defRPr sz="1400" b="0"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tLang="zh-TW" dirty="0"/>
              <a:t>    4</a:t>
            </a:r>
          </a:p>
          <a:p>
            <a:pPr algn="r"/>
            <a:r>
              <a:rPr lang="en-US" altLang="zh-TW" dirty="0"/>
              <a:t>    4</a:t>
            </a:r>
            <a:endParaRPr lang="zh-TW" altLang="en-US" dirty="0"/>
          </a:p>
        </p:txBody>
      </p:sp>
      <p:sp>
        <p:nvSpPr>
          <p:cNvPr id="15" name="文字版面配置區 3">
            <a:extLst>
              <a:ext uri="{FF2B5EF4-FFF2-40B4-BE49-F238E27FC236}">
                <a16:creationId xmlns:a16="http://schemas.microsoft.com/office/drawing/2014/main" id="{094D4606-439A-4DC5-8A37-8012C5FABBA1}"/>
              </a:ext>
            </a:extLst>
          </p:cNvPr>
          <p:cNvSpPr txBox="1">
            <a:spLocks/>
          </p:cNvSpPr>
          <p:nvPr/>
        </p:nvSpPr>
        <p:spPr>
          <a:xfrm>
            <a:off x="5863359" y="2373268"/>
            <a:ext cx="468397" cy="1278683"/>
          </a:xfrm>
          <a:prstGeom prst="rect">
            <a:avLst/>
          </a:prstGeom>
        </p:spPr>
        <p:txBody>
          <a:bodyPr wrap="none">
            <a:spAutoFit/>
          </a:bodyPr>
          <a:lstStyle>
            <a:lvl1pPr marL="0" indent="0" algn="l" defTabSz="914400" rtl="0" eaLnBrk="1" latinLnBrk="0" hangingPunct="1">
              <a:lnSpc>
                <a:spcPct val="150000"/>
              </a:lnSpc>
              <a:spcBef>
                <a:spcPts val="1000"/>
              </a:spcBef>
              <a:buFont typeface="Arial" panose="020B0604020202020204" pitchFamily="34" charset="0"/>
              <a:buNone/>
              <a:defRPr sz="1400" b="0"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tLang="zh-TW" dirty="0"/>
              <a:t>    5</a:t>
            </a:r>
          </a:p>
          <a:p>
            <a:pPr algn="r"/>
            <a:r>
              <a:rPr lang="en-US" altLang="zh-TW" dirty="0"/>
              <a:t>    6</a:t>
            </a:r>
          </a:p>
          <a:p>
            <a:pPr algn="r"/>
            <a:r>
              <a:rPr lang="en-US" altLang="zh-TW" dirty="0"/>
              <a:t>    8</a:t>
            </a:r>
          </a:p>
        </p:txBody>
      </p:sp>
      <p:sp>
        <p:nvSpPr>
          <p:cNvPr id="16" name="文字版面配置區 3">
            <a:extLst>
              <a:ext uri="{FF2B5EF4-FFF2-40B4-BE49-F238E27FC236}">
                <a16:creationId xmlns:a16="http://schemas.microsoft.com/office/drawing/2014/main" id="{0C2B8655-6DC3-4ACB-9D42-54AA319E5C29}"/>
              </a:ext>
            </a:extLst>
          </p:cNvPr>
          <p:cNvSpPr txBox="1">
            <a:spLocks/>
          </p:cNvSpPr>
          <p:nvPr/>
        </p:nvSpPr>
        <p:spPr>
          <a:xfrm>
            <a:off x="5759163" y="4116654"/>
            <a:ext cx="572593" cy="2632900"/>
          </a:xfrm>
          <a:prstGeom prst="rect">
            <a:avLst/>
          </a:prstGeom>
        </p:spPr>
        <p:txBody>
          <a:bodyPr wrap="none">
            <a:spAutoFit/>
          </a:bodyPr>
          <a:lstStyle>
            <a:lvl1pPr marL="0" indent="0" algn="l" defTabSz="914400" rtl="0" eaLnBrk="1" latinLnBrk="0" hangingPunct="1">
              <a:lnSpc>
                <a:spcPct val="150000"/>
              </a:lnSpc>
              <a:spcBef>
                <a:spcPts val="1000"/>
              </a:spcBef>
              <a:buFont typeface="Arial" panose="020B0604020202020204" pitchFamily="34" charset="0"/>
              <a:buNone/>
              <a:defRPr sz="1400" b="0"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tLang="zh-TW" dirty="0"/>
              <a:t>    10</a:t>
            </a:r>
          </a:p>
          <a:p>
            <a:pPr algn="r"/>
            <a:r>
              <a:rPr lang="en-US" altLang="zh-TW" dirty="0"/>
              <a:t>    11</a:t>
            </a:r>
          </a:p>
          <a:p>
            <a:pPr algn="r"/>
            <a:r>
              <a:rPr lang="en-US" altLang="zh-TW" dirty="0"/>
              <a:t>    14</a:t>
            </a:r>
          </a:p>
          <a:p>
            <a:pPr algn="r"/>
            <a:r>
              <a:rPr lang="en-US" altLang="zh-TW" dirty="0"/>
              <a:t>    16</a:t>
            </a:r>
          </a:p>
          <a:p>
            <a:pPr algn="r"/>
            <a:r>
              <a:rPr lang="en-US" altLang="zh-TW" dirty="0"/>
              <a:t>    17</a:t>
            </a:r>
          </a:p>
          <a:p>
            <a:pPr algn="r"/>
            <a:r>
              <a:rPr lang="en-US" altLang="zh-TW" dirty="0"/>
              <a:t>    18</a:t>
            </a:r>
          </a:p>
        </p:txBody>
      </p:sp>
      <p:sp>
        <p:nvSpPr>
          <p:cNvPr id="17" name="文字版面配置區 3">
            <a:extLst>
              <a:ext uri="{FF2B5EF4-FFF2-40B4-BE49-F238E27FC236}">
                <a16:creationId xmlns:a16="http://schemas.microsoft.com/office/drawing/2014/main" id="{B622FBDB-85E4-4DE5-9AED-726D35678157}"/>
              </a:ext>
            </a:extLst>
          </p:cNvPr>
          <p:cNvSpPr txBox="1">
            <a:spLocks/>
          </p:cNvSpPr>
          <p:nvPr/>
        </p:nvSpPr>
        <p:spPr>
          <a:xfrm>
            <a:off x="5759163" y="7216322"/>
            <a:ext cx="572593" cy="827278"/>
          </a:xfrm>
          <a:prstGeom prst="rect">
            <a:avLst/>
          </a:prstGeom>
        </p:spPr>
        <p:txBody>
          <a:bodyPr wrap="none">
            <a:spAutoFit/>
          </a:bodyPr>
          <a:lstStyle>
            <a:lvl1pPr marL="0" indent="0" algn="l" defTabSz="914400" rtl="0" eaLnBrk="1" latinLnBrk="0" hangingPunct="1">
              <a:lnSpc>
                <a:spcPct val="150000"/>
              </a:lnSpc>
              <a:spcBef>
                <a:spcPts val="1000"/>
              </a:spcBef>
              <a:buFont typeface="Arial" panose="020B0604020202020204" pitchFamily="34" charset="0"/>
              <a:buNone/>
              <a:defRPr sz="1400" b="0" kern="1200">
                <a:solidFill>
                  <a:srgbClr val="006495"/>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tLang="zh-TW" dirty="0"/>
              <a:t>    19</a:t>
            </a:r>
          </a:p>
          <a:p>
            <a:pPr algn="r"/>
            <a:r>
              <a:rPr lang="en-US" altLang="zh-TW" dirty="0"/>
              <a:t>    22</a:t>
            </a:r>
          </a:p>
        </p:txBody>
      </p:sp>
      <p:cxnSp>
        <p:nvCxnSpPr>
          <p:cNvPr id="19" name="直線接點 18">
            <a:extLst>
              <a:ext uri="{FF2B5EF4-FFF2-40B4-BE49-F238E27FC236}">
                <a16:creationId xmlns:a16="http://schemas.microsoft.com/office/drawing/2014/main" id="{AA201D54-8C70-4FDF-8EE9-94CA456C9CB5}"/>
              </a:ext>
            </a:extLst>
          </p:cNvPr>
          <p:cNvCxnSpPr>
            <a:cxnSpLocks/>
          </p:cNvCxnSpPr>
          <p:nvPr/>
        </p:nvCxnSpPr>
        <p:spPr>
          <a:xfrm>
            <a:off x="2075447" y="1362576"/>
            <a:ext cx="3908226"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35E8D545-4A78-4397-ABB5-FE3280BC9002}"/>
              </a:ext>
            </a:extLst>
          </p:cNvPr>
          <p:cNvCxnSpPr>
            <a:cxnSpLocks/>
          </p:cNvCxnSpPr>
          <p:nvPr/>
        </p:nvCxnSpPr>
        <p:spPr>
          <a:xfrm>
            <a:off x="2275886" y="7947526"/>
            <a:ext cx="3707787"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3858ADF5-9430-43EA-945F-A52CC4C175C0}"/>
              </a:ext>
            </a:extLst>
          </p:cNvPr>
          <p:cNvCxnSpPr>
            <a:cxnSpLocks/>
          </p:cNvCxnSpPr>
          <p:nvPr/>
        </p:nvCxnSpPr>
        <p:spPr>
          <a:xfrm>
            <a:off x="2075447" y="7503026"/>
            <a:ext cx="3908226"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89B827E3-A3FF-4DAF-9C16-D161A7EC4ACD}"/>
              </a:ext>
            </a:extLst>
          </p:cNvPr>
          <p:cNvCxnSpPr>
            <a:cxnSpLocks/>
          </p:cNvCxnSpPr>
          <p:nvPr/>
        </p:nvCxnSpPr>
        <p:spPr>
          <a:xfrm>
            <a:off x="2788920" y="6636251"/>
            <a:ext cx="3194753"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77B697F2-66A0-4A91-8024-6293E0612CB8}"/>
              </a:ext>
            </a:extLst>
          </p:cNvPr>
          <p:cNvCxnSpPr>
            <a:cxnSpLocks/>
          </p:cNvCxnSpPr>
          <p:nvPr/>
        </p:nvCxnSpPr>
        <p:spPr>
          <a:xfrm>
            <a:off x="2788920" y="6191751"/>
            <a:ext cx="3194753"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9D936441-FB2C-410B-B554-351D07A3FAD9}"/>
              </a:ext>
            </a:extLst>
          </p:cNvPr>
          <p:cNvCxnSpPr>
            <a:cxnSpLocks/>
          </p:cNvCxnSpPr>
          <p:nvPr/>
        </p:nvCxnSpPr>
        <p:spPr>
          <a:xfrm>
            <a:off x="2788920" y="5744076"/>
            <a:ext cx="3194753"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8E055B5D-5138-47DD-BE54-B0D0732B96F4}"/>
              </a:ext>
            </a:extLst>
          </p:cNvPr>
          <p:cNvCxnSpPr>
            <a:cxnSpLocks/>
          </p:cNvCxnSpPr>
          <p:nvPr/>
        </p:nvCxnSpPr>
        <p:spPr>
          <a:xfrm>
            <a:off x="2400300" y="3102476"/>
            <a:ext cx="3583373"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C578855A-B340-439B-9389-93EB778D4792}"/>
              </a:ext>
            </a:extLst>
          </p:cNvPr>
          <p:cNvCxnSpPr>
            <a:cxnSpLocks/>
          </p:cNvCxnSpPr>
          <p:nvPr/>
        </p:nvCxnSpPr>
        <p:spPr>
          <a:xfrm>
            <a:off x="1726532" y="2657976"/>
            <a:ext cx="4257141"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6DB99FE6-B53F-4FEA-87BD-9E9E46F59D48}"/>
              </a:ext>
            </a:extLst>
          </p:cNvPr>
          <p:cNvCxnSpPr>
            <a:cxnSpLocks/>
          </p:cNvCxnSpPr>
          <p:nvPr/>
        </p:nvCxnSpPr>
        <p:spPr>
          <a:xfrm>
            <a:off x="2231858" y="1807076"/>
            <a:ext cx="3751815"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id="{291836B4-49ED-4651-919C-614DF67C16BC}"/>
              </a:ext>
            </a:extLst>
          </p:cNvPr>
          <p:cNvCxnSpPr>
            <a:cxnSpLocks/>
          </p:cNvCxnSpPr>
          <p:nvPr/>
        </p:nvCxnSpPr>
        <p:spPr>
          <a:xfrm>
            <a:off x="2580774" y="3553326"/>
            <a:ext cx="3402899"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5FD360F3-0BB3-4F5C-BA5B-CAE166D22B82}"/>
              </a:ext>
            </a:extLst>
          </p:cNvPr>
          <p:cNvCxnSpPr>
            <a:cxnSpLocks/>
          </p:cNvCxnSpPr>
          <p:nvPr/>
        </p:nvCxnSpPr>
        <p:spPr>
          <a:xfrm>
            <a:off x="2231858" y="4404226"/>
            <a:ext cx="3751815"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AAD9F5AE-F1C9-4387-B26D-91BBB3F218AA}"/>
              </a:ext>
            </a:extLst>
          </p:cNvPr>
          <p:cNvCxnSpPr>
            <a:cxnSpLocks/>
          </p:cNvCxnSpPr>
          <p:nvPr/>
        </p:nvCxnSpPr>
        <p:spPr>
          <a:xfrm>
            <a:off x="2788920" y="4851901"/>
            <a:ext cx="3194753"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A50F40BD-EBA9-4227-9E94-6567119BC7DA}"/>
              </a:ext>
            </a:extLst>
          </p:cNvPr>
          <p:cNvCxnSpPr>
            <a:cxnSpLocks/>
          </p:cNvCxnSpPr>
          <p:nvPr/>
        </p:nvCxnSpPr>
        <p:spPr>
          <a:xfrm>
            <a:off x="3173808" y="5293226"/>
            <a:ext cx="2809865" cy="0"/>
          </a:xfrm>
          <a:prstGeom prst="line">
            <a:avLst/>
          </a:prstGeom>
          <a:ln w="9525">
            <a:solidFill>
              <a:srgbClr val="008ED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32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a16="http://schemas.microsoft.com/office/drawing/2014/main" id="{0B044F4D-D0B4-4FE4-A2E8-3E06CBFC4970}"/>
              </a:ext>
            </a:extLst>
          </p:cNvPr>
          <p:cNvSpPr>
            <a:spLocks noGrp="1"/>
          </p:cNvSpPr>
          <p:nvPr>
            <p:ph type="body" sz="quarter" idx="15"/>
          </p:nvPr>
        </p:nvSpPr>
        <p:spPr>
          <a:xfrm>
            <a:off x="271409" y="767355"/>
            <a:ext cx="6315657" cy="313932"/>
          </a:xfrm>
        </p:spPr>
        <p:txBody>
          <a:bodyPr/>
          <a:lstStyle/>
          <a:p>
            <a:r>
              <a:rPr lang="zh-TW" altLang="en-US" dirty="0"/>
              <a:t>第 </a:t>
            </a:r>
            <a:r>
              <a:rPr lang="en-US" altLang="zh-TW" dirty="0"/>
              <a:t>1 </a:t>
            </a:r>
            <a:r>
              <a:rPr lang="zh-TW" altLang="en-US" dirty="0"/>
              <a:t>章：系統簡介</a:t>
            </a:r>
          </a:p>
        </p:txBody>
      </p:sp>
      <p:sp>
        <p:nvSpPr>
          <p:cNvPr id="7" name="文字版面配置區 6">
            <a:extLst>
              <a:ext uri="{FF2B5EF4-FFF2-40B4-BE49-F238E27FC236}">
                <a16:creationId xmlns:a16="http://schemas.microsoft.com/office/drawing/2014/main" id="{09553547-E753-4043-8959-AACC0FBB32D0}"/>
              </a:ext>
            </a:extLst>
          </p:cNvPr>
          <p:cNvSpPr>
            <a:spLocks noGrp="1"/>
          </p:cNvSpPr>
          <p:nvPr>
            <p:ph type="body" sz="quarter" idx="18"/>
          </p:nvPr>
        </p:nvSpPr>
        <p:spPr>
          <a:xfrm>
            <a:off x="271169" y="1079222"/>
            <a:ext cx="6315657" cy="827278"/>
          </a:xfrm>
        </p:spPr>
        <p:txBody>
          <a:bodyPr/>
          <a:lstStyle/>
          <a:p>
            <a:r>
              <a:rPr lang="zh-TW" altLang="en-US" dirty="0"/>
              <a:t>本手冊旨在協助使用者熟悉「中華工程建築履歷系統」之各項功能與操作流程。</a:t>
            </a:r>
            <a:endParaRPr lang="en-US" altLang="zh-TW" dirty="0"/>
          </a:p>
          <a:p>
            <a:endParaRPr lang="zh-TW" altLang="en-US" dirty="0"/>
          </a:p>
        </p:txBody>
      </p:sp>
      <p:sp>
        <p:nvSpPr>
          <p:cNvPr id="2" name="文字版面配置區 1">
            <a:extLst>
              <a:ext uri="{FF2B5EF4-FFF2-40B4-BE49-F238E27FC236}">
                <a16:creationId xmlns:a16="http://schemas.microsoft.com/office/drawing/2014/main" id="{64DE96E8-263B-456C-874A-1F344EF236C2}"/>
              </a:ext>
            </a:extLst>
          </p:cNvPr>
          <p:cNvSpPr>
            <a:spLocks noGrp="1"/>
          </p:cNvSpPr>
          <p:nvPr>
            <p:ph type="body" sz="quarter" idx="13"/>
          </p:nvPr>
        </p:nvSpPr>
        <p:spPr>
          <a:xfrm>
            <a:off x="5365324" y="124658"/>
            <a:ext cx="1287533" cy="313932"/>
          </a:xfrm>
        </p:spPr>
        <p:txBody>
          <a:bodyPr/>
          <a:lstStyle/>
          <a:p>
            <a:r>
              <a:rPr lang="en-US" altLang="zh-TW" dirty="0"/>
              <a:t>- </a:t>
            </a:r>
            <a:r>
              <a:rPr lang="zh-TW" altLang="en-US" dirty="0"/>
              <a:t>系統簡介 </a:t>
            </a:r>
            <a:r>
              <a:rPr lang="en-US" altLang="zh-TW" dirty="0"/>
              <a:t>-</a:t>
            </a:r>
            <a:endParaRPr lang="zh-TW" altLang="en-US" dirty="0"/>
          </a:p>
        </p:txBody>
      </p:sp>
      <p:sp>
        <p:nvSpPr>
          <p:cNvPr id="3" name="投影片編號版面配置區 2">
            <a:extLst>
              <a:ext uri="{FF2B5EF4-FFF2-40B4-BE49-F238E27FC236}">
                <a16:creationId xmlns:a16="http://schemas.microsoft.com/office/drawing/2014/main" id="{0DDE8479-24FA-49D0-81D3-E2C8FB7EADB4}"/>
              </a:ext>
            </a:extLst>
          </p:cNvPr>
          <p:cNvSpPr>
            <a:spLocks noGrp="1"/>
          </p:cNvSpPr>
          <p:nvPr>
            <p:ph type="sldNum" sz="quarter" idx="12"/>
          </p:nvPr>
        </p:nvSpPr>
        <p:spPr/>
        <p:txBody>
          <a:bodyPr/>
          <a:lstStyle/>
          <a:p>
            <a:fld id="{87F2EC76-4ACB-421A-B9EA-F72429D0FACA}" type="slidenum">
              <a:rPr lang="zh-TW" altLang="en-US" smtClean="0"/>
              <a:pPr/>
              <a:t>4</a:t>
            </a:fld>
            <a:endParaRPr lang="zh-TW" altLang="en-US" dirty="0"/>
          </a:p>
        </p:txBody>
      </p:sp>
      <p:sp>
        <p:nvSpPr>
          <p:cNvPr id="5" name="文字版面配置區 4">
            <a:extLst>
              <a:ext uri="{FF2B5EF4-FFF2-40B4-BE49-F238E27FC236}">
                <a16:creationId xmlns:a16="http://schemas.microsoft.com/office/drawing/2014/main" id="{C242EE2C-326B-4341-9803-C712B7CC6572}"/>
              </a:ext>
            </a:extLst>
          </p:cNvPr>
          <p:cNvSpPr>
            <a:spLocks noGrp="1"/>
          </p:cNvSpPr>
          <p:nvPr>
            <p:ph type="body" sz="quarter" idx="16"/>
          </p:nvPr>
        </p:nvSpPr>
        <p:spPr>
          <a:xfrm>
            <a:off x="271169" y="1527040"/>
            <a:ext cx="6315657" cy="286232"/>
          </a:xfrm>
        </p:spPr>
        <p:txBody>
          <a:bodyPr/>
          <a:lstStyle/>
          <a:p>
            <a:r>
              <a:rPr lang="en-US" altLang="zh-TW" dirty="0"/>
              <a:t>1 ‧ 1 </a:t>
            </a:r>
            <a:r>
              <a:rPr lang="zh-TW" altLang="en-US" dirty="0"/>
              <a:t>系統核心價值</a:t>
            </a:r>
          </a:p>
        </p:txBody>
      </p:sp>
      <p:sp>
        <p:nvSpPr>
          <p:cNvPr id="6" name="文字版面配置區 5">
            <a:extLst>
              <a:ext uri="{FF2B5EF4-FFF2-40B4-BE49-F238E27FC236}">
                <a16:creationId xmlns:a16="http://schemas.microsoft.com/office/drawing/2014/main" id="{BE6DBAEB-56B7-4795-8A85-12FE079356A7}"/>
              </a:ext>
            </a:extLst>
          </p:cNvPr>
          <p:cNvSpPr>
            <a:spLocks noGrp="1"/>
          </p:cNvSpPr>
          <p:nvPr>
            <p:ph type="body" sz="quarter" idx="17"/>
          </p:nvPr>
        </p:nvSpPr>
        <p:spPr>
          <a:xfrm>
            <a:off x="271170" y="1813272"/>
            <a:ext cx="6315657" cy="2994305"/>
          </a:xfrm>
        </p:spPr>
        <p:txBody>
          <a:bodyPr/>
          <a:lstStyle/>
          <a:p>
            <a:r>
              <a:rPr lang="zh-TW" altLang="en-US" dirty="0"/>
              <a:t>本系統透過數位化管理手段，賦予每座建築完整且真實的「數位履歷」，確保建築資訊從上傳到揭露的每個環節皆受到嚴密監管：</a:t>
            </a:r>
            <a:endParaRPr lang="en-US" altLang="zh-TW" dirty="0"/>
          </a:p>
          <a:p>
            <a:pPr marL="342900" indent="-342900">
              <a:buFont typeface="Arial" panose="020B0604020202020204" pitchFamily="34" charset="0"/>
              <a:buChar char="•"/>
            </a:pPr>
            <a:r>
              <a:rPr lang="zh-TW" altLang="en-US" b="1" dirty="0"/>
              <a:t>精準對接：</a:t>
            </a:r>
            <a:r>
              <a:rPr lang="zh-TW" altLang="en-US" dirty="0"/>
              <a:t> 簡化大量數據上傳流程，實現由紙本或零散文件向數位平台的高效轉換。</a:t>
            </a:r>
            <a:endParaRPr lang="en-US" altLang="zh-TW" dirty="0"/>
          </a:p>
          <a:p>
            <a:pPr marL="342900" indent="-342900">
              <a:buFont typeface="Arial" panose="020B0604020202020204" pitchFamily="34" charset="0"/>
              <a:buChar char="•"/>
            </a:pPr>
            <a:r>
              <a:rPr lang="zh-TW" altLang="en-US" b="1" dirty="0"/>
              <a:t>安全防禦：</a:t>
            </a:r>
            <a:r>
              <a:rPr lang="zh-TW" altLang="en-US" dirty="0"/>
              <a:t>嚴格的權限分層機制，確保只有被授權的人員能編輯、審查或發布資料，防範敏感資訊外洩。</a:t>
            </a:r>
            <a:endParaRPr lang="en-US" altLang="zh-TW" dirty="0"/>
          </a:p>
          <a:p>
            <a:pPr marL="342900" indent="-342900">
              <a:buFont typeface="Arial" panose="020B0604020202020204" pitchFamily="34" charset="0"/>
              <a:buChar char="•"/>
            </a:pPr>
            <a:r>
              <a:rPr lang="zh-TW" altLang="en-US" b="1" dirty="0"/>
              <a:t>價值呈現：</a:t>
            </a:r>
            <a:r>
              <a:rPr lang="zh-TW" altLang="en-US" dirty="0"/>
              <a:t>建立標準化的公開列表，將零散的工程數據轉化為具備商業價值與維運參考意義的建築履歷。</a:t>
            </a:r>
            <a:endParaRPr lang="en-US" altLang="zh-TW" dirty="0"/>
          </a:p>
          <a:p>
            <a:endParaRPr lang="zh-TW" altLang="en-US" dirty="0"/>
          </a:p>
        </p:txBody>
      </p:sp>
      <p:sp>
        <p:nvSpPr>
          <p:cNvPr id="8" name="文字版面配置區 4">
            <a:extLst>
              <a:ext uri="{FF2B5EF4-FFF2-40B4-BE49-F238E27FC236}">
                <a16:creationId xmlns:a16="http://schemas.microsoft.com/office/drawing/2014/main" id="{C705F4D9-8E95-408B-9CB6-0359FB77C2A5}"/>
              </a:ext>
            </a:extLst>
          </p:cNvPr>
          <p:cNvSpPr txBox="1">
            <a:spLocks/>
          </p:cNvSpPr>
          <p:nvPr/>
        </p:nvSpPr>
        <p:spPr>
          <a:xfrm>
            <a:off x="271168" y="4866681"/>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1 ‧ 2 </a:t>
            </a:r>
            <a:r>
              <a:rPr lang="zh-TW" altLang="en-US" dirty="0"/>
              <a:t>角色與權限概覽</a:t>
            </a:r>
          </a:p>
        </p:txBody>
      </p:sp>
      <p:sp>
        <p:nvSpPr>
          <p:cNvPr id="9" name="文字版面配置區 5">
            <a:extLst>
              <a:ext uri="{FF2B5EF4-FFF2-40B4-BE49-F238E27FC236}">
                <a16:creationId xmlns:a16="http://schemas.microsoft.com/office/drawing/2014/main" id="{6F3A11D2-1455-4F8E-91DB-82DD251DC5F5}"/>
              </a:ext>
            </a:extLst>
          </p:cNvPr>
          <p:cNvSpPr txBox="1">
            <a:spLocks/>
          </p:cNvSpPr>
          <p:nvPr/>
        </p:nvSpPr>
        <p:spPr>
          <a:xfrm>
            <a:off x="271167" y="5151484"/>
            <a:ext cx="6315657" cy="375872"/>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本系統將使用者劃分為四種主要角色，各司其職，其權限範圍摘要如下：</a:t>
            </a:r>
          </a:p>
        </p:txBody>
      </p:sp>
      <p:graphicFrame>
        <p:nvGraphicFramePr>
          <p:cNvPr id="18" name="表格 17">
            <a:extLst>
              <a:ext uri="{FF2B5EF4-FFF2-40B4-BE49-F238E27FC236}">
                <a16:creationId xmlns:a16="http://schemas.microsoft.com/office/drawing/2014/main" id="{F184AB5E-4A62-4A92-B927-8D6CFAAB6E10}"/>
              </a:ext>
            </a:extLst>
          </p:cNvPr>
          <p:cNvGraphicFramePr>
            <a:graphicFrameLocks noGrp="1"/>
          </p:cNvGraphicFramePr>
          <p:nvPr>
            <p:extLst>
              <p:ext uri="{D42A27DB-BD31-4B8C-83A1-F6EECF244321}">
                <p14:modId xmlns:p14="http://schemas.microsoft.com/office/powerpoint/2010/main" val="449330490"/>
              </p:ext>
            </p:extLst>
          </p:nvPr>
        </p:nvGraphicFramePr>
        <p:xfrm>
          <a:off x="271166" y="5613274"/>
          <a:ext cx="6315657" cy="3498073"/>
        </p:xfrm>
        <a:graphic>
          <a:graphicData uri="http://schemas.openxmlformats.org/drawingml/2006/table">
            <a:tbl>
              <a:tblPr firstRow="1" bandRow="1">
                <a:tableStyleId>{5C22544A-7EE6-4342-B048-85BDC9FD1C3A}</a:tableStyleId>
              </a:tblPr>
              <a:tblGrid>
                <a:gridCol w="1244968">
                  <a:extLst>
                    <a:ext uri="{9D8B030D-6E8A-4147-A177-3AD203B41FA5}">
                      <a16:colId xmlns:a16="http://schemas.microsoft.com/office/drawing/2014/main" val="3936402200"/>
                    </a:ext>
                  </a:extLst>
                </a:gridCol>
                <a:gridCol w="2135567">
                  <a:extLst>
                    <a:ext uri="{9D8B030D-6E8A-4147-A177-3AD203B41FA5}">
                      <a16:colId xmlns:a16="http://schemas.microsoft.com/office/drawing/2014/main" val="3169100160"/>
                    </a:ext>
                  </a:extLst>
                </a:gridCol>
                <a:gridCol w="2935122">
                  <a:extLst>
                    <a:ext uri="{9D8B030D-6E8A-4147-A177-3AD203B41FA5}">
                      <a16:colId xmlns:a16="http://schemas.microsoft.com/office/drawing/2014/main" val="1679049968"/>
                    </a:ext>
                  </a:extLst>
                </a:gridCol>
              </a:tblGrid>
              <a:tr h="303562">
                <a:tc>
                  <a:txBody>
                    <a:bodyPr/>
                    <a:lstStyle/>
                    <a:p>
                      <a:r>
                        <a:rPr lang="zh-TW" altLang="en-US" sz="1200" dirty="0">
                          <a:solidFill>
                            <a:srgbClr val="E7F2FF"/>
                          </a:solidFill>
                          <a:latin typeface="微軟正黑體" panose="020B0604030504040204" pitchFamily="34" charset="-120"/>
                          <a:ea typeface="微軟正黑體" panose="020B0604030504040204" pitchFamily="34" charset="-120"/>
                        </a:rPr>
                        <a:t>角色</a:t>
                      </a:r>
                    </a:p>
                  </a:txBody>
                  <a:tcPr anchor="ctr">
                    <a:lnL w="6350" cap="flat" cmpd="sng" algn="ctr">
                      <a:solidFill>
                        <a:srgbClr val="006495"/>
                      </a:solidFill>
                      <a:prstDash val="solid"/>
                      <a:round/>
                      <a:headEnd type="none" w="med" len="med"/>
                      <a:tailEnd type="none" w="med" len="med"/>
                    </a:lnL>
                    <a:lnR w="12700" cmpd="sng">
                      <a:noFill/>
                    </a:lnR>
                    <a:lnT w="6350" cap="flat" cmpd="sng" algn="ctr">
                      <a:solidFill>
                        <a:srgbClr val="006495"/>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006495"/>
                    </a:solidFill>
                  </a:tcPr>
                </a:tc>
                <a:tc>
                  <a:txBody>
                    <a:bodyPr/>
                    <a:lstStyle/>
                    <a:p>
                      <a:pPr marL="0" algn="l" defTabSz="914400" rtl="0" eaLnBrk="1" latinLnBrk="0" hangingPunct="1"/>
                      <a:r>
                        <a:rPr lang="zh-TW" altLang="en-US" sz="1200" b="1" kern="1200" dirty="0">
                          <a:solidFill>
                            <a:srgbClr val="E7F2FF"/>
                          </a:solidFill>
                          <a:latin typeface="微軟正黑體" panose="020B0604030504040204" pitchFamily="34" charset="-120"/>
                          <a:ea typeface="微軟正黑體" panose="020B0604030504040204" pitchFamily="34" charset="-120"/>
                          <a:cs typeface="+mn-cs"/>
                        </a:rPr>
                        <a:t>核心職責</a:t>
                      </a:r>
                    </a:p>
                  </a:txBody>
                  <a:tcPr anchor="ctr">
                    <a:lnL w="12700" cmpd="sng">
                      <a:noFill/>
                    </a:lnL>
                    <a:lnR w="6350" cap="flat" cmpd="sng" algn="ctr">
                      <a:noFill/>
                      <a:prstDash val="solid"/>
                      <a:round/>
                      <a:headEnd type="none" w="med" len="med"/>
                      <a:tailEnd type="none" w="med" len="med"/>
                    </a:lnR>
                    <a:lnT w="6350" cap="flat" cmpd="sng" algn="ctr">
                      <a:solidFill>
                        <a:srgbClr val="006495"/>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006495"/>
                    </a:solidFill>
                  </a:tcPr>
                </a:tc>
                <a:tc>
                  <a:txBody>
                    <a:bodyPr/>
                    <a:lstStyle/>
                    <a:p>
                      <a:pPr marL="0" algn="l" defTabSz="914400" rtl="0" eaLnBrk="1" latinLnBrk="0" hangingPunct="1"/>
                      <a:r>
                        <a:rPr lang="zh-TW" altLang="en-US" sz="1200" b="1" kern="1200" dirty="0">
                          <a:solidFill>
                            <a:srgbClr val="E7F2FF"/>
                          </a:solidFill>
                          <a:latin typeface="微軟正黑體" panose="020B0604030504040204" pitchFamily="34" charset="-120"/>
                          <a:ea typeface="微軟正黑體" panose="020B0604030504040204" pitchFamily="34" charset="-120"/>
                          <a:cs typeface="+mn-cs"/>
                        </a:rPr>
                        <a:t>主要權限</a:t>
                      </a:r>
                    </a:p>
                  </a:txBody>
                  <a:tcPr anchor="ctr">
                    <a:lnL w="6350" cap="flat" cmpd="sng" algn="ctr">
                      <a:noFill/>
                      <a:prstDash val="solid"/>
                      <a:round/>
                      <a:headEnd type="none" w="med" len="med"/>
                      <a:tailEnd type="none" w="med" len="med"/>
                    </a:lnL>
                    <a:lnR w="6350" cap="flat" cmpd="sng" algn="ctr">
                      <a:solidFill>
                        <a:srgbClr val="006495"/>
                      </a:solidFill>
                      <a:prstDash val="solid"/>
                      <a:round/>
                      <a:headEnd type="none" w="med" len="med"/>
                      <a:tailEnd type="none" w="med" len="med"/>
                    </a:lnR>
                    <a:lnT w="6350" cap="flat" cmpd="sng" algn="ctr">
                      <a:solidFill>
                        <a:srgbClr val="006495"/>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495"/>
                    </a:solidFill>
                  </a:tcPr>
                </a:tc>
                <a:extLst>
                  <a:ext uri="{0D108BD9-81ED-4DB2-BD59-A6C34878D82A}">
                    <a16:rowId xmlns:a16="http://schemas.microsoft.com/office/drawing/2014/main" val="535394336"/>
                  </a:ext>
                </a:extLst>
              </a:tr>
              <a:tr h="747017">
                <a:tc>
                  <a:txBody>
                    <a:bodyPr/>
                    <a:lstStyle/>
                    <a:p>
                      <a:r>
                        <a:rPr lang="zh-TW" altLang="en-US" sz="1400" dirty="0">
                          <a:solidFill>
                            <a:srgbClr val="4A5C6E"/>
                          </a:solidFill>
                          <a:latin typeface="微軟正黑體" panose="020B0604030504040204" pitchFamily="34" charset="-120"/>
                          <a:ea typeface="微軟正黑體" panose="020B0604030504040204" pitchFamily="34" charset="-120"/>
                        </a:rPr>
                        <a:t>一般使用者</a:t>
                      </a:r>
                    </a:p>
                  </a:txBody>
                  <a:tcPr anchor="ctr">
                    <a:lnL w="6350" cap="flat" cmpd="sng" algn="ctr">
                      <a:solidFill>
                        <a:srgbClr val="006495"/>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7F2FF"/>
                    </a:solidFill>
                  </a:tcPr>
                </a:tc>
                <a:tc>
                  <a:txBody>
                    <a:bodyPr/>
                    <a:lstStyle/>
                    <a:p>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檢視建築履歷相關內容。</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7F2FF"/>
                    </a:solidFill>
                  </a:tcPr>
                </a:tc>
                <a:tc>
                  <a:txBody>
                    <a:bodyPr/>
                    <a:lstStyle/>
                    <a:p>
                      <a:pPr marL="285750" indent="-285750">
                        <a:buFont typeface="Arial" panose="020B0604020202020204" pitchFamily="34" charset="0"/>
                        <a:buChar char="•"/>
                      </a:pPr>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申請加入專案</a:t>
                      </a:r>
                      <a:endParaRPr lang="en-US" altLang="zh-TW" sz="1400" kern="1200" dirty="0">
                        <a:solidFill>
                          <a:srgbClr val="4A5C6E"/>
                        </a:solidFill>
                        <a:latin typeface="微軟正黑體" panose="020B0604030504040204" pitchFamily="34" charset="-120"/>
                        <a:ea typeface="微軟正黑體" panose="020B0604030504040204" pitchFamily="34" charset="-120"/>
                        <a:cs typeface="+mn-cs"/>
                      </a:endParaRPr>
                    </a:p>
                    <a:p>
                      <a:pPr marL="285750" indent="-285750">
                        <a:buFont typeface="Arial" panose="020B0604020202020204" pitchFamily="34" charset="0"/>
                        <a:buChar char="•"/>
                      </a:pPr>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檢視已申請的專案之建築履歷</a:t>
                      </a:r>
                      <a:endParaRPr lang="en-US" altLang="zh-TW" sz="1400" kern="1200" dirty="0">
                        <a:solidFill>
                          <a:srgbClr val="4A5C6E"/>
                        </a:solidFill>
                        <a:latin typeface="微軟正黑體" panose="020B0604030504040204" pitchFamily="34" charset="-120"/>
                        <a:ea typeface="微軟正黑體" panose="020B0604030504040204" pitchFamily="34" charset="-120"/>
                        <a:cs typeface="+mn-cs"/>
                      </a:endParaRPr>
                    </a:p>
                  </a:txBody>
                  <a:tcPr anchor="ctr">
                    <a:lnL w="12700" cmpd="sng">
                      <a:noFill/>
                    </a:lnL>
                    <a:lnR w="6350" cap="flat" cmpd="sng" algn="ctr">
                      <a:solidFill>
                        <a:srgbClr val="006495"/>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7F2FF"/>
                    </a:solidFill>
                  </a:tcPr>
                </a:tc>
                <a:extLst>
                  <a:ext uri="{0D108BD9-81ED-4DB2-BD59-A6C34878D82A}">
                    <a16:rowId xmlns:a16="http://schemas.microsoft.com/office/drawing/2014/main" val="283875879"/>
                  </a:ext>
                </a:extLst>
              </a:tr>
              <a:tr h="747017">
                <a:tc>
                  <a:txBody>
                    <a:bodyPr/>
                    <a:lstStyle/>
                    <a:p>
                      <a:r>
                        <a:rPr lang="zh-TW" altLang="en-US" sz="1400" dirty="0">
                          <a:solidFill>
                            <a:srgbClr val="4A5C6E"/>
                          </a:solidFill>
                          <a:latin typeface="微軟正黑體" panose="020B0604030504040204" pitchFamily="34" charset="-120"/>
                          <a:ea typeface="微軟正黑體" panose="020B0604030504040204" pitchFamily="34" charset="-120"/>
                        </a:rPr>
                        <a:t>廠商</a:t>
                      </a:r>
                    </a:p>
                  </a:txBody>
                  <a:tcPr anchor="ctr">
                    <a:lnL w="6350" cap="flat" cmpd="sng" algn="ctr">
                      <a:solidFill>
                        <a:srgbClr val="006495"/>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F7F9FF"/>
                    </a:solidFill>
                  </a:tcPr>
                </a:tc>
                <a:tc>
                  <a:txBody>
                    <a:bodyPr/>
                    <a:lstStyle/>
                    <a:p>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檢視與新增該負責專案之建築履歷與相關內容。</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7F9FF"/>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申請加入專案</a:t>
                      </a:r>
                      <a:endParaRPr lang="en-US" altLang="zh-TW" sz="1400" kern="1200" dirty="0">
                        <a:solidFill>
                          <a:srgbClr val="4A5C6E"/>
                        </a:solidFill>
                        <a:latin typeface="微軟正黑體" panose="020B0604030504040204" pitchFamily="34" charset="-120"/>
                        <a:ea typeface="微軟正黑體" panose="020B0604030504040204" pitchFamily="34" charset="-120"/>
                        <a:cs typeface="+mn-cs"/>
                      </a:endParaRPr>
                    </a:p>
                    <a:p>
                      <a:pPr marL="285750" indent="-285750">
                        <a:buFont typeface="Arial" panose="020B0604020202020204" pitchFamily="34" charset="0"/>
                        <a:buChar char="•"/>
                      </a:pPr>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上傳負責專案之建築履歷</a:t>
                      </a:r>
                    </a:p>
                  </a:txBody>
                  <a:tcPr anchor="ctr">
                    <a:lnL w="12700" cmpd="sng">
                      <a:noFill/>
                    </a:lnL>
                    <a:lnR w="6350" cap="flat" cmpd="sng" algn="ctr">
                      <a:solidFill>
                        <a:srgbClr val="006495"/>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7F9FF"/>
                    </a:solidFill>
                  </a:tcPr>
                </a:tc>
                <a:extLst>
                  <a:ext uri="{0D108BD9-81ED-4DB2-BD59-A6C34878D82A}">
                    <a16:rowId xmlns:a16="http://schemas.microsoft.com/office/drawing/2014/main" val="3582528877"/>
                  </a:ext>
                </a:extLst>
              </a:tr>
              <a:tr h="747017">
                <a:tc>
                  <a:txBody>
                    <a:bodyPr/>
                    <a:lstStyle/>
                    <a:p>
                      <a:r>
                        <a:rPr lang="zh-TW" altLang="en-US" sz="1400" dirty="0">
                          <a:solidFill>
                            <a:srgbClr val="4A5C6E"/>
                          </a:solidFill>
                          <a:latin typeface="微軟正黑體" panose="020B0604030504040204" pitchFamily="34" charset="-120"/>
                          <a:ea typeface="微軟正黑體" panose="020B0604030504040204" pitchFamily="34" charset="-120"/>
                        </a:rPr>
                        <a:t>專案助理</a:t>
                      </a:r>
                    </a:p>
                  </a:txBody>
                  <a:tcPr anchor="ctr">
                    <a:lnL w="6350" cap="flat" cmpd="sng" algn="ctr">
                      <a:solidFill>
                        <a:srgbClr val="006495"/>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E7F2FF"/>
                    </a:solidFill>
                  </a:tcPr>
                </a:tc>
                <a:tc>
                  <a:txBody>
                    <a:bodyPr/>
                    <a:lstStyle/>
                    <a:p>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執行新成員申請的初步資格審查。</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F2FF"/>
                    </a:solidFill>
                  </a:tcPr>
                </a:tc>
                <a:tc>
                  <a:txBody>
                    <a:bodyPr/>
                    <a:lstStyle/>
                    <a:p>
                      <a:pPr marL="285750" indent="-285750">
                        <a:buFont typeface="Arial" panose="020B0604020202020204" pitchFamily="34" charset="0"/>
                        <a:buChar char="•"/>
                      </a:pPr>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具備「一般使用者」所有權限</a:t>
                      </a:r>
                      <a:endParaRPr lang="en-US" altLang="zh-TW" sz="1400" kern="1200" dirty="0">
                        <a:solidFill>
                          <a:srgbClr val="4A5C6E"/>
                        </a:solidFill>
                        <a:latin typeface="微軟正黑體" panose="020B0604030504040204" pitchFamily="34" charset="-120"/>
                        <a:ea typeface="微軟正黑體" panose="020B0604030504040204" pitchFamily="34" charset="-120"/>
                        <a:cs typeface="+mn-cs"/>
                      </a:endParaRPr>
                    </a:p>
                    <a:p>
                      <a:pPr marL="285750" indent="-285750">
                        <a:buFont typeface="Arial" panose="020B0604020202020204" pitchFamily="34" charset="0"/>
                        <a:buChar char="•"/>
                      </a:pPr>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審查成員申請案</a:t>
                      </a:r>
                      <a:endParaRPr lang="en-US" altLang="zh-TW" sz="1400" kern="1200" dirty="0">
                        <a:solidFill>
                          <a:srgbClr val="4A5C6E"/>
                        </a:solidFill>
                        <a:latin typeface="微軟正黑體" panose="020B0604030504040204" pitchFamily="34" charset="-120"/>
                        <a:ea typeface="微軟正黑體" panose="020B0604030504040204" pitchFamily="34" charset="-120"/>
                        <a:cs typeface="+mn-cs"/>
                      </a:endParaRPr>
                    </a:p>
                  </a:txBody>
                  <a:tcPr anchor="ctr">
                    <a:lnL w="12700" cmpd="sng">
                      <a:noFill/>
                    </a:lnL>
                    <a:lnR w="6350" cap="flat" cmpd="sng" algn="ctr">
                      <a:solidFill>
                        <a:srgbClr val="006495"/>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7F2FF"/>
                    </a:solidFill>
                  </a:tcPr>
                </a:tc>
                <a:extLst>
                  <a:ext uri="{0D108BD9-81ED-4DB2-BD59-A6C34878D82A}">
                    <a16:rowId xmlns:a16="http://schemas.microsoft.com/office/drawing/2014/main" val="2836452628"/>
                  </a:ext>
                </a:extLst>
              </a:tr>
              <a:tr h="953460">
                <a:tc>
                  <a:txBody>
                    <a:bodyPr/>
                    <a:lstStyle/>
                    <a:p>
                      <a:r>
                        <a:rPr lang="zh-TW" altLang="en-US" sz="1400" dirty="0">
                          <a:solidFill>
                            <a:srgbClr val="4A5C6E"/>
                          </a:solidFill>
                          <a:latin typeface="微軟正黑體" panose="020B0604030504040204" pitchFamily="34" charset="-120"/>
                          <a:ea typeface="微軟正黑體" panose="020B0604030504040204" pitchFamily="34" charset="-120"/>
                        </a:rPr>
                        <a:t>專案管理員</a:t>
                      </a:r>
                    </a:p>
                  </a:txBody>
                  <a:tcPr anchor="ctr">
                    <a:lnL w="6350" cap="flat" cmpd="sng" algn="ctr">
                      <a:solidFill>
                        <a:srgbClr val="006495"/>
                      </a:solidFill>
                      <a:prstDash val="solid"/>
                      <a:round/>
                      <a:headEnd type="none" w="med" len="med"/>
                      <a:tailEnd type="none" w="med" len="med"/>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9FF"/>
                    </a:solidFill>
                  </a:tcPr>
                </a:tc>
                <a:tc>
                  <a:txBody>
                    <a:bodyPr/>
                    <a:lstStyle/>
                    <a:p>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負責專案的整體運作，包含成員管理與資料維護。</a:t>
                      </a:r>
                    </a:p>
                  </a:txBody>
                  <a:tcPr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9FF"/>
                    </a:solidFill>
                  </a:tcPr>
                </a:tc>
                <a:tc>
                  <a:txBody>
                    <a:bodyPr/>
                    <a:lstStyle/>
                    <a:p>
                      <a:pPr marL="285750" indent="-285750">
                        <a:buFont typeface="Arial" panose="020B0604020202020204" pitchFamily="34" charset="0"/>
                        <a:buChar char="•"/>
                      </a:pPr>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具備「專案助理」所有權限</a:t>
                      </a:r>
                      <a:endParaRPr lang="en-US" altLang="zh-TW" sz="1400" kern="1200" dirty="0">
                        <a:solidFill>
                          <a:srgbClr val="4A5C6E"/>
                        </a:solidFill>
                        <a:latin typeface="微軟正黑體" panose="020B0604030504040204" pitchFamily="34" charset="-120"/>
                        <a:ea typeface="微軟正黑體" panose="020B0604030504040204" pitchFamily="34" charset="-120"/>
                        <a:cs typeface="+mn-cs"/>
                      </a:endParaRPr>
                    </a:p>
                    <a:p>
                      <a:pPr marL="285750" indent="-285750">
                        <a:buFont typeface="Arial" panose="020B0604020202020204" pitchFamily="34" charset="0"/>
                        <a:buChar char="•"/>
                      </a:pPr>
                      <a:r>
                        <a:rPr lang="zh-TW" altLang="en-US" sz="1400" kern="1200" dirty="0">
                          <a:solidFill>
                            <a:srgbClr val="4A5C6E"/>
                          </a:solidFill>
                          <a:latin typeface="微軟正黑體" panose="020B0604030504040204" pitchFamily="34" charset="-120"/>
                          <a:ea typeface="微軟正黑體" panose="020B0604030504040204" pitchFamily="34" charset="-120"/>
                          <a:cs typeface="+mn-cs"/>
                        </a:rPr>
                        <a:t>最終審核成員申請案、調整成員權限、自專案移除成員、刪除歷史建築履歷</a:t>
                      </a:r>
                      <a:endParaRPr lang="en-US" altLang="zh-TW" sz="1400" kern="1200" dirty="0">
                        <a:solidFill>
                          <a:srgbClr val="4A5C6E"/>
                        </a:solidFill>
                        <a:latin typeface="微軟正黑體" panose="020B0604030504040204" pitchFamily="34" charset="-120"/>
                        <a:ea typeface="微軟正黑體" panose="020B0604030504040204" pitchFamily="34" charset="-120"/>
                        <a:cs typeface="+mn-cs"/>
                      </a:endParaRPr>
                    </a:p>
                  </a:txBody>
                  <a:tcPr anchor="ctr">
                    <a:lnL w="12700" cmpd="sng">
                      <a:noFill/>
                    </a:lnL>
                    <a:lnR w="6350" cap="flat" cmpd="sng" algn="ctr">
                      <a:solidFill>
                        <a:srgbClr val="006495"/>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7F9FF"/>
                    </a:solidFill>
                  </a:tcPr>
                </a:tc>
                <a:extLst>
                  <a:ext uri="{0D108BD9-81ED-4DB2-BD59-A6C34878D82A}">
                    <a16:rowId xmlns:a16="http://schemas.microsoft.com/office/drawing/2014/main" val="447556678"/>
                  </a:ext>
                </a:extLst>
              </a:tr>
            </a:tbl>
          </a:graphicData>
        </a:graphic>
      </p:graphicFrame>
      <p:sp>
        <p:nvSpPr>
          <p:cNvPr id="19" name="文字方塊 18">
            <a:extLst>
              <a:ext uri="{FF2B5EF4-FFF2-40B4-BE49-F238E27FC236}">
                <a16:creationId xmlns:a16="http://schemas.microsoft.com/office/drawing/2014/main" id="{DCC94AC7-ABF9-4930-97FF-3BDB9EF219C5}"/>
              </a:ext>
            </a:extLst>
          </p:cNvPr>
          <p:cNvSpPr txBox="1"/>
          <p:nvPr/>
        </p:nvSpPr>
        <p:spPr>
          <a:xfrm>
            <a:off x="3089802" y="9111347"/>
            <a:ext cx="678391" cy="246221"/>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表</a:t>
            </a:r>
            <a:r>
              <a:rPr lang="en-US" altLang="zh-TW" sz="1000" dirty="0">
                <a:solidFill>
                  <a:srgbClr val="4E6071"/>
                </a:solidFill>
                <a:latin typeface="微軟正黑體" panose="020B0604030504040204" pitchFamily="34" charset="-120"/>
                <a:ea typeface="微軟正黑體" panose="020B0604030504040204" pitchFamily="34" charset="-120"/>
              </a:rPr>
              <a:t>1-2-1 </a:t>
            </a: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100898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8A94F7B-67F9-4A58-84DD-7A74E037958D}"/>
              </a:ext>
            </a:extLst>
          </p:cNvPr>
          <p:cNvSpPr>
            <a:spLocks noGrp="1"/>
          </p:cNvSpPr>
          <p:nvPr>
            <p:ph type="body" sz="quarter" idx="13"/>
          </p:nvPr>
        </p:nvSpPr>
        <p:spPr>
          <a:xfrm>
            <a:off x="4339402" y="124658"/>
            <a:ext cx="2313455" cy="313932"/>
          </a:xfrm>
        </p:spPr>
        <p:txBody>
          <a:bodyPr/>
          <a:lstStyle/>
          <a:p>
            <a:r>
              <a:rPr lang="en-US" altLang="zh-TW" dirty="0"/>
              <a:t>- </a:t>
            </a:r>
            <a:r>
              <a:rPr lang="zh-TW" altLang="en-US" dirty="0"/>
              <a:t>首次使用與專案申請 </a:t>
            </a:r>
            <a:r>
              <a:rPr lang="en-US" altLang="zh-TW" dirty="0"/>
              <a:t>-</a:t>
            </a:r>
            <a:endParaRPr lang="zh-TW" altLang="en-US" dirty="0"/>
          </a:p>
        </p:txBody>
      </p:sp>
      <p:sp>
        <p:nvSpPr>
          <p:cNvPr id="3" name="投影片編號版面配置區 2">
            <a:extLst>
              <a:ext uri="{FF2B5EF4-FFF2-40B4-BE49-F238E27FC236}">
                <a16:creationId xmlns:a16="http://schemas.microsoft.com/office/drawing/2014/main" id="{9001B789-00E1-4539-8BA5-B1207AE517DD}"/>
              </a:ext>
            </a:extLst>
          </p:cNvPr>
          <p:cNvSpPr>
            <a:spLocks noGrp="1"/>
          </p:cNvSpPr>
          <p:nvPr>
            <p:ph type="sldNum" sz="quarter" idx="12"/>
          </p:nvPr>
        </p:nvSpPr>
        <p:spPr/>
        <p:txBody>
          <a:bodyPr/>
          <a:lstStyle/>
          <a:p>
            <a:fld id="{87F2EC76-4ACB-421A-B9EA-F72429D0FACA}" type="slidenum">
              <a:rPr lang="zh-TW" altLang="en-US" smtClean="0"/>
              <a:pPr/>
              <a:t>5</a:t>
            </a:fld>
            <a:endParaRPr lang="zh-TW" altLang="en-US" dirty="0"/>
          </a:p>
        </p:txBody>
      </p:sp>
      <p:sp>
        <p:nvSpPr>
          <p:cNvPr id="4" name="文字版面配置區 3">
            <a:extLst>
              <a:ext uri="{FF2B5EF4-FFF2-40B4-BE49-F238E27FC236}">
                <a16:creationId xmlns:a16="http://schemas.microsoft.com/office/drawing/2014/main" id="{2930B4DA-F347-4A36-8866-EE54B0B59D88}"/>
              </a:ext>
            </a:extLst>
          </p:cNvPr>
          <p:cNvSpPr>
            <a:spLocks noGrp="1"/>
          </p:cNvSpPr>
          <p:nvPr>
            <p:ph type="body" sz="quarter" idx="15"/>
          </p:nvPr>
        </p:nvSpPr>
        <p:spPr/>
        <p:txBody>
          <a:bodyPr/>
          <a:lstStyle/>
          <a:p>
            <a:r>
              <a:rPr lang="zh-TW" altLang="en-US" dirty="0"/>
              <a:t>第 </a:t>
            </a:r>
            <a:r>
              <a:rPr lang="en-US" altLang="zh-TW" dirty="0"/>
              <a:t>2 </a:t>
            </a:r>
            <a:r>
              <a:rPr lang="zh-TW" altLang="en-US" dirty="0"/>
              <a:t>章：首次使用與專案申請</a:t>
            </a:r>
          </a:p>
        </p:txBody>
      </p:sp>
      <p:sp>
        <p:nvSpPr>
          <p:cNvPr id="5" name="文字版面配置區 4">
            <a:extLst>
              <a:ext uri="{FF2B5EF4-FFF2-40B4-BE49-F238E27FC236}">
                <a16:creationId xmlns:a16="http://schemas.microsoft.com/office/drawing/2014/main" id="{DDAB6F42-D72F-4A4A-B5B7-2B7415E3C16C}"/>
              </a:ext>
            </a:extLst>
          </p:cNvPr>
          <p:cNvSpPr>
            <a:spLocks noGrp="1"/>
          </p:cNvSpPr>
          <p:nvPr>
            <p:ph type="body" sz="quarter" idx="16"/>
          </p:nvPr>
        </p:nvSpPr>
        <p:spPr>
          <a:xfrm>
            <a:off x="271169" y="2255300"/>
            <a:ext cx="6315657" cy="286232"/>
          </a:xfrm>
        </p:spPr>
        <p:txBody>
          <a:bodyPr/>
          <a:lstStyle/>
          <a:p>
            <a:r>
              <a:rPr lang="en-US" altLang="zh-TW" dirty="0"/>
              <a:t>2 ‧ 1 </a:t>
            </a:r>
            <a:r>
              <a:rPr lang="zh-TW" altLang="en-US" dirty="0"/>
              <a:t>系統登入</a:t>
            </a:r>
          </a:p>
        </p:txBody>
      </p:sp>
      <p:sp>
        <p:nvSpPr>
          <p:cNvPr id="6" name="文字版面配置區 5">
            <a:extLst>
              <a:ext uri="{FF2B5EF4-FFF2-40B4-BE49-F238E27FC236}">
                <a16:creationId xmlns:a16="http://schemas.microsoft.com/office/drawing/2014/main" id="{528DA417-E288-4AA7-951E-98168BDEFC59}"/>
              </a:ext>
            </a:extLst>
          </p:cNvPr>
          <p:cNvSpPr>
            <a:spLocks noGrp="1"/>
          </p:cNvSpPr>
          <p:nvPr>
            <p:ph type="body" sz="quarter" idx="17"/>
          </p:nvPr>
        </p:nvSpPr>
        <p:spPr>
          <a:xfrm>
            <a:off x="271170" y="2547768"/>
            <a:ext cx="6315657" cy="3150991"/>
          </a:xfrm>
        </p:spPr>
        <p:txBody>
          <a:bodyPr/>
          <a:lstStyle/>
          <a:p>
            <a:r>
              <a:rPr lang="zh-TW" altLang="en-US" dirty="0"/>
              <a:t>使用者可透過以下網址進入系統登入頁面：</a:t>
            </a:r>
            <a:endParaRPr lang="en-US" altLang="zh-TW" dirty="0"/>
          </a:p>
          <a:p>
            <a:r>
              <a:rPr lang="zh-TW" altLang="en-US" b="1" dirty="0"/>
              <a:t>系統網址：</a:t>
            </a:r>
            <a:r>
              <a:rPr lang="en-US" altLang="zh-TW" b="1" dirty="0">
                <a:solidFill>
                  <a:srgbClr val="006DD5"/>
                </a:solidFill>
                <a:hlinkClick r:id="rId2"/>
              </a:rPr>
              <a:t>https://bes-frontend.jp.ngrok.io/login?platform=logbook</a:t>
            </a:r>
            <a:endParaRPr lang="en-US" altLang="zh-TW" b="1" dirty="0">
              <a:solidFill>
                <a:srgbClr val="006DD5"/>
              </a:solidFill>
            </a:endParaRPr>
          </a:p>
          <a:p>
            <a:r>
              <a:rPr lang="zh-TW" altLang="en-US" dirty="0"/>
              <a:t>本系統採用 </a:t>
            </a:r>
            <a:r>
              <a:rPr lang="en-US" altLang="zh-TW" dirty="0"/>
              <a:t>Line </a:t>
            </a:r>
            <a:r>
              <a:rPr lang="zh-TW" altLang="en-US" dirty="0"/>
              <a:t>作為唯一登入驗證方式。首次登入之使用者，需先行完成帳號授權流程。詳細操作步驟，請參考以下獨立說明文件：</a:t>
            </a:r>
            <a:endParaRPr lang="en-US" altLang="zh-TW" dirty="0"/>
          </a:p>
          <a:p>
            <a:r>
              <a:rPr lang="en-US" altLang="zh-TW" b="1" dirty="0" err="1"/>
              <a:t>BES@Bot</a:t>
            </a:r>
            <a:r>
              <a:rPr lang="en-US" altLang="zh-TW" b="1" dirty="0"/>
              <a:t>_</a:t>
            </a:r>
            <a:r>
              <a:rPr lang="zh-TW" altLang="en-US" b="1" dirty="0"/>
              <a:t>使用者手冊</a:t>
            </a:r>
            <a:r>
              <a:rPr lang="zh-TW" altLang="en-US" dirty="0"/>
              <a:t>：</a:t>
            </a:r>
            <a:r>
              <a:rPr lang="en-US" altLang="zh-TW" b="1" dirty="0">
                <a:solidFill>
                  <a:srgbClr val="006DD5"/>
                </a:solidFill>
                <a:hlinkClick r:id="rId3"/>
              </a:rPr>
              <a:t>https://drive.google.com/file/d/1RpjE1IYCnmMKd9GHuejO-dpYs4NEC5zx/view</a:t>
            </a:r>
            <a:endParaRPr lang="en-US" altLang="zh-TW" b="1" dirty="0">
              <a:solidFill>
                <a:srgbClr val="006DD5"/>
              </a:solidFill>
            </a:endParaRPr>
          </a:p>
          <a:p>
            <a:r>
              <a:rPr lang="zh-TW" altLang="en-US" dirty="0"/>
              <a:t>完成登入後，使用者將會看到建築履歷系統首頁，其中包含可存取的專案列表。</a:t>
            </a:r>
            <a:endParaRPr lang="en-US" altLang="zh-TW" dirty="0"/>
          </a:p>
        </p:txBody>
      </p:sp>
      <p:sp>
        <p:nvSpPr>
          <p:cNvPr id="7" name="文字版面配置區 6">
            <a:extLst>
              <a:ext uri="{FF2B5EF4-FFF2-40B4-BE49-F238E27FC236}">
                <a16:creationId xmlns:a16="http://schemas.microsoft.com/office/drawing/2014/main" id="{68BF0A03-2602-43F9-AF48-FFCE41186116}"/>
              </a:ext>
            </a:extLst>
          </p:cNvPr>
          <p:cNvSpPr>
            <a:spLocks noGrp="1"/>
          </p:cNvSpPr>
          <p:nvPr>
            <p:ph type="body" sz="quarter" idx="18"/>
          </p:nvPr>
        </p:nvSpPr>
        <p:spPr>
          <a:xfrm>
            <a:off x="271169" y="1079222"/>
            <a:ext cx="6315657" cy="1150443"/>
          </a:xfrm>
        </p:spPr>
        <p:txBody>
          <a:bodyPr/>
          <a:lstStyle/>
          <a:p>
            <a:r>
              <a:rPr lang="zh-TW" altLang="en-US" dirty="0"/>
              <a:t>本章節旨在說明新使用者首次進入系統所需完成的初始設定，包含系統登入與專案權限的申請流程。</a:t>
            </a:r>
            <a:endParaRPr lang="en-US" altLang="zh-TW" dirty="0"/>
          </a:p>
          <a:p>
            <a:endParaRPr lang="zh-TW" altLang="en-US" dirty="0"/>
          </a:p>
        </p:txBody>
      </p:sp>
      <p:sp>
        <p:nvSpPr>
          <p:cNvPr id="14" name="文字方塊 13">
            <a:extLst>
              <a:ext uri="{FF2B5EF4-FFF2-40B4-BE49-F238E27FC236}">
                <a16:creationId xmlns:a16="http://schemas.microsoft.com/office/drawing/2014/main" id="{6CD6671D-9967-46A1-969B-C43FEA93B163}"/>
              </a:ext>
            </a:extLst>
          </p:cNvPr>
          <p:cNvSpPr txBox="1"/>
          <p:nvPr/>
        </p:nvSpPr>
        <p:spPr>
          <a:xfrm>
            <a:off x="2560811" y="8607439"/>
            <a:ext cx="1736373" cy="246221"/>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2-1-1  </a:t>
            </a:r>
            <a:r>
              <a:rPr lang="zh-TW" altLang="en-US" sz="1000" dirty="0">
                <a:solidFill>
                  <a:srgbClr val="4E6071"/>
                </a:solidFill>
                <a:latin typeface="微軟正黑體" panose="020B0604030504040204" pitchFamily="34" charset="-120"/>
                <a:ea typeface="微軟正黑體" panose="020B0604030504040204" pitchFamily="34" charset="-120"/>
              </a:rPr>
              <a:t>建築履歷系統首頁</a:t>
            </a:r>
          </a:p>
        </p:txBody>
      </p:sp>
      <p:pic>
        <p:nvPicPr>
          <p:cNvPr id="15" name="圖片 14">
            <a:extLst>
              <a:ext uri="{FF2B5EF4-FFF2-40B4-BE49-F238E27FC236}">
                <a16:creationId xmlns:a16="http://schemas.microsoft.com/office/drawing/2014/main" id="{FFF81203-5B1B-4D23-B7DF-D6BBF9ECC1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008" y="5707328"/>
            <a:ext cx="5769978" cy="2900111"/>
          </a:xfrm>
          <a:prstGeom prst="roundRect">
            <a:avLst>
              <a:gd name="adj" fmla="val 1899"/>
            </a:avLst>
          </a:prstGeom>
          <a:ln w="6350">
            <a:solidFill>
              <a:srgbClr val="007F4C"/>
            </a:solidFill>
          </a:ln>
          <a:effectLst/>
        </p:spPr>
      </p:pic>
    </p:spTree>
    <p:extLst>
      <p:ext uri="{BB962C8B-B14F-4D97-AF65-F5344CB8AC3E}">
        <p14:creationId xmlns:p14="http://schemas.microsoft.com/office/powerpoint/2010/main" val="557686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7EA0C08D-247F-4B69-AFDA-59591A20D27E}"/>
              </a:ext>
            </a:extLst>
          </p:cNvPr>
          <p:cNvSpPr>
            <a:spLocks noGrp="1"/>
          </p:cNvSpPr>
          <p:nvPr>
            <p:ph type="body" sz="quarter" idx="17"/>
          </p:nvPr>
        </p:nvSpPr>
        <p:spPr>
          <a:xfrm>
            <a:off x="271172" y="771392"/>
            <a:ext cx="6315657" cy="1294650"/>
          </a:xfrm>
        </p:spPr>
        <p:txBody>
          <a:bodyPr/>
          <a:lstStyle/>
          <a:p>
            <a:r>
              <a:rPr lang="en-US" altLang="zh-TW" sz="1200" b="1" i="1" dirty="0"/>
              <a:t>【Demo </a:t>
            </a:r>
            <a:r>
              <a:rPr lang="zh-TW" altLang="en-US" sz="1200" b="1" i="1" dirty="0"/>
              <a:t>專案試用</a:t>
            </a:r>
            <a:r>
              <a:rPr lang="en-US" altLang="zh-TW" sz="1200" b="1" i="1" dirty="0"/>
              <a:t>】</a:t>
            </a:r>
            <a:r>
              <a:rPr lang="zh-TW" altLang="en-US" sz="1200" i="1" dirty="0"/>
              <a:t> 為協助新使用者快速熟悉系統，所有帳號在登入後，皆會預設加入一個名為</a:t>
            </a:r>
            <a:r>
              <a:rPr lang="zh-TW" altLang="en-US" sz="1200" b="1" i="1" dirty="0"/>
              <a:t>「</a:t>
            </a:r>
            <a:r>
              <a:rPr lang="en-US" altLang="zh-TW" sz="1200" b="1" i="1" dirty="0"/>
              <a:t>Demo </a:t>
            </a:r>
            <a:r>
              <a:rPr lang="zh-TW" altLang="en-US" sz="1200" b="1" i="1" dirty="0"/>
              <a:t>專案」</a:t>
            </a:r>
            <a:r>
              <a:rPr lang="zh-TW" altLang="en-US" sz="1200" i="1" dirty="0"/>
              <a:t>的試用專案。此專案無需經過申請與審核流程，使用者可直接點擊進入，並參考 </a:t>
            </a:r>
            <a:r>
              <a:rPr lang="zh-TW" altLang="en-US" sz="1200" b="1" i="1" dirty="0"/>
              <a:t>第 </a:t>
            </a:r>
            <a:r>
              <a:rPr lang="en-US" altLang="zh-TW" sz="1200" b="1" i="1" dirty="0"/>
              <a:t>3 </a:t>
            </a:r>
            <a:r>
              <a:rPr lang="zh-TW" altLang="en-US" sz="1200" b="1" i="1" dirty="0"/>
              <a:t>章</a:t>
            </a:r>
            <a:r>
              <a:rPr lang="zh-TW" altLang="en-US" sz="1200" i="1" dirty="0"/>
              <a:t> 的說明，實際操作建築履歷上傳與檢視等核心功能。</a:t>
            </a:r>
            <a:endParaRPr lang="en-US" altLang="zh-TW" sz="1200" i="1" dirty="0"/>
          </a:p>
          <a:p>
            <a:endParaRPr lang="en-US" altLang="zh-TW" sz="1200" i="1" dirty="0"/>
          </a:p>
        </p:txBody>
      </p:sp>
      <p:sp>
        <p:nvSpPr>
          <p:cNvPr id="4" name="文字版面配置區 3">
            <a:extLst>
              <a:ext uri="{FF2B5EF4-FFF2-40B4-BE49-F238E27FC236}">
                <a16:creationId xmlns:a16="http://schemas.microsoft.com/office/drawing/2014/main" id="{156CDCD0-02FB-441E-9664-C850A05FB76B}"/>
              </a:ext>
            </a:extLst>
          </p:cNvPr>
          <p:cNvSpPr>
            <a:spLocks noGrp="1"/>
          </p:cNvSpPr>
          <p:nvPr>
            <p:ph type="body" sz="quarter" idx="13"/>
          </p:nvPr>
        </p:nvSpPr>
        <p:spPr>
          <a:xfrm>
            <a:off x="4339403" y="124658"/>
            <a:ext cx="2313454" cy="313932"/>
          </a:xfrm>
        </p:spPr>
        <p:txBody>
          <a:bodyPr/>
          <a:lstStyle/>
          <a:p>
            <a:r>
              <a:rPr lang="en-US" altLang="zh-TW" dirty="0"/>
              <a:t>- </a:t>
            </a:r>
            <a:r>
              <a:rPr lang="zh-TW" altLang="en-US" dirty="0"/>
              <a:t>首次使用與專案申請 </a:t>
            </a:r>
            <a:r>
              <a:rPr lang="en-US" altLang="zh-TW" dirty="0"/>
              <a:t>-</a:t>
            </a:r>
            <a:endParaRPr lang="zh-TW" altLang="en-US" dirty="0"/>
          </a:p>
        </p:txBody>
      </p:sp>
      <p:sp>
        <p:nvSpPr>
          <p:cNvPr id="5" name="投影片編號版面配置區 4">
            <a:extLst>
              <a:ext uri="{FF2B5EF4-FFF2-40B4-BE49-F238E27FC236}">
                <a16:creationId xmlns:a16="http://schemas.microsoft.com/office/drawing/2014/main" id="{9E3B5576-245F-4C4C-A469-E552573A60C4}"/>
              </a:ext>
            </a:extLst>
          </p:cNvPr>
          <p:cNvSpPr>
            <a:spLocks noGrp="1"/>
          </p:cNvSpPr>
          <p:nvPr>
            <p:ph type="sldNum" sz="quarter" idx="12"/>
          </p:nvPr>
        </p:nvSpPr>
        <p:spPr/>
        <p:txBody>
          <a:bodyPr/>
          <a:lstStyle/>
          <a:p>
            <a:fld id="{87F2EC76-4ACB-421A-B9EA-F72429D0FACA}" type="slidenum">
              <a:rPr lang="zh-TW" altLang="en-US" smtClean="0"/>
              <a:pPr/>
              <a:t>6</a:t>
            </a:fld>
            <a:endParaRPr lang="zh-TW" altLang="en-US" dirty="0"/>
          </a:p>
        </p:txBody>
      </p:sp>
      <p:sp>
        <p:nvSpPr>
          <p:cNvPr id="6" name="文字版面配置區 1">
            <a:extLst>
              <a:ext uri="{FF2B5EF4-FFF2-40B4-BE49-F238E27FC236}">
                <a16:creationId xmlns:a16="http://schemas.microsoft.com/office/drawing/2014/main" id="{49339457-7AAB-455B-8735-BF14799ABC03}"/>
              </a:ext>
            </a:extLst>
          </p:cNvPr>
          <p:cNvSpPr txBox="1">
            <a:spLocks/>
          </p:cNvSpPr>
          <p:nvPr/>
        </p:nvSpPr>
        <p:spPr>
          <a:xfrm>
            <a:off x="271172" y="2066042"/>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2 ‧ 2 </a:t>
            </a:r>
            <a:r>
              <a:rPr lang="zh-TW" altLang="en-US" dirty="0"/>
              <a:t>申請加入專案</a:t>
            </a:r>
          </a:p>
        </p:txBody>
      </p:sp>
      <p:sp>
        <p:nvSpPr>
          <p:cNvPr id="7" name="文字版面配置區 2">
            <a:extLst>
              <a:ext uri="{FF2B5EF4-FFF2-40B4-BE49-F238E27FC236}">
                <a16:creationId xmlns:a16="http://schemas.microsoft.com/office/drawing/2014/main" id="{50197B73-35E0-4283-AB3C-B71A62EE1CF0}"/>
              </a:ext>
            </a:extLst>
          </p:cNvPr>
          <p:cNvSpPr txBox="1">
            <a:spLocks/>
          </p:cNvSpPr>
          <p:nvPr/>
        </p:nvSpPr>
        <p:spPr>
          <a:xfrm>
            <a:off x="271172" y="2352274"/>
            <a:ext cx="6315657" cy="699038"/>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系統內所有功能皆以專案為單位進行管理。使用者必須先申請並獲准加入特定專案，方可使用該專案的建築履歷功能。其申請與審核流程如下：</a:t>
            </a:r>
            <a:endParaRPr lang="en-US" altLang="zh-TW" dirty="0"/>
          </a:p>
        </p:txBody>
      </p:sp>
      <p:sp>
        <p:nvSpPr>
          <p:cNvPr id="13" name="文字版面配置區 2">
            <a:extLst>
              <a:ext uri="{FF2B5EF4-FFF2-40B4-BE49-F238E27FC236}">
                <a16:creationId xmlns:a16="http://schemas.microsoft.com/office/drawing/2014/main" id="{44F157A7-7913-43EE-8612-82F926F7076A}"/>
              </a:ext>
            </a:extLst>
          </p:cNvPr>
          <p:cNvSpPr txBox="1">
            <a:spLocks/>
          </p:cNvSpPr>
          <p:nvPr/>
        </p:nvSpPr>
        <p:spPr>
          <a:xfrm>
            <a:off x="271172" y="3051312"/>
            <a:ext cx="6315657" cy="375872"/>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b="1" dirty="0"/>
              <a:t>步驟一：提出申請</a:t>
            </a:r>
            <a:endParaRPr lang="en-US" altLang="zh-TW" b="1" dirty="0"/>
          </a:p>
        </p:txBody>
      </p:sp>
      <p:sp>
        <p:nvSpPr>
          <p:cNvPr id="14" name="文字版面配置區 2">
            <a:extLst>
              <a:ext uri="{FF2B5EF4-FFF2-40B4-BE49-F238E27FC236}">
                <a16:creationId xmlns:a16="http://schemas.microsoft.com/office/drawing/2014/main" id="{975DCAF5-8581-4E51-927D-9E403827DFD2}"/>
              </a:ext>
            </a:extLst>
          </p:cNvPr>
          <p:cNvSpPr txBox="1">
            <a:spLocks/>
          </p:cNvSpPr>
          <p:nvPr/>
        </p:nvSpPr>
        <p:spPr>
          <a:xfrm>
            <a:off x="271172" y="3427184"/>
            <a:ext cx="6315657" cy="827278"/>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使用者登入後，需於系統內提交專案申請。</a:t>
            </a:r>
            <a:endParaRPr lang="en-US" altLang="zh-TW" dirty="0"/>
          </a:p>
          <a:p>
            <a:pPr marL="342900" indent="-342900">
              <a:buFont typeface="+mj-lt"/>
              <a:buAutoNum type="alphaLcPeriod"/>
            </a:pPr>
            <a:r>
              <a:rPr lang="zh-TW" altLang="en-US" dirty="0"/>
              <a:t>在系統首頁右上角點擊</a:t>
            </a:r>
            <a:r>
              <a:rPr lang="zh-TW" altLang="en-US" b="1" dirty="0"/>
              <a:t>「專案申請」</a:t>
            </a:r>
            <a:r>
              <a:rPr lang="zh-TW" altLang="en-US" dirty="0"/>
              <a:t>。</a:t>
            </a:r>
            <a:endParaRPr lang="en-US" altLang="zh-TW" dirty="0"/>
          </a:p>
        </p:txBody>
      </p:sp>
      <p:sp>
        <p:nvSpPr>
          <p:cNvPr id="15" name="文字方塊 14">
            <a:extLst>
              <a:ext uri="{FF2B5EF4-FFF2-40B4-BE49-F238E27FC236}">
                <a16:creationId xmlns:a16="http://schemas.microsoft.com/office/drawing/2014/main" id="{F96A9905-36AB-4FEE-B1CE-88A828D2A03F}"/>
              </a:ext>
            </a:extLst>
          </p:cNvPr>
          <p:cNvSpPr txBox="1"/>
          <p:nvPr/>
        </p:nvSpPr>
        <p:spPr>
          <a:xfrm>
            <a:off x="2368461" y="7168626"/>
            <a:ext cx="2121094" cy="246221"/>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2-2-1  </a:t>
            </a:r>
            <a:r>
              <a:rPr lang="zh-TW" altLang="en-US" sz="1000" dirty="0">
                <a:solidFill>
                  <a:srgbClr val="4E6071"/>
                </a:solidFill>
                <a:latin typeface="微軟正黑體" panose="020B0604030504040204" pitchFamily="34" charset="-120"/>
                <a:ea typeface="微軟正黑體" panose="020B0604030504040204" pitchFamily="34" charset="-120"/>
              </a:rPr>
              <a:t>點擊右上角「專案申請」</a:t>
            </a:r>
          </a:p>
        </p:txBody>
      </p:sp>
      <p:pic>
        <p:nvPicPr>
          <p:cNvPr id="16" name="圖片 15">
            <a:extLst>
              <a:ext uri="{FF2B5EF4-FFF2-40B4-BE49-F238E27FC236}">
                <a16:creationId xmlns:a16="http://schemas.microsoft.com/office/drawing/2014/main" id="{AA8C5188-8191-49DA-BCA1-A1BA8D7FA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011" y="4254462"/>
            <a:ext cx="5769978" cy="2900111"/>
          </a:xfrm>
          <a:prstGeom prst="roundRect">
            <a:avLst>
              <a:gd name="adj" fmla="val 1899"/>
            </a:avLst>
          </a:prstGeom>
          <a:ln w="6350">
            <a:solidFill>
              <a:srgbClr val="007F4C"/>
            </a:solidFill>
          </a:ln>
          <a:effectLst/>
        </p:spPr>
      </p:pic>
      <p:sp>
        <p:nvSpPr>
          <p:cNvPr id="17" name="矩形 16">
            <a:extLst>
              <a:ext uri="{FF2B5EF4-FFF2-40B4-BE49-F238E27FC236}">
                <a16:creationId xmlns:a16="http://schemas.microsoft.com/office/drawing/2014/main" id="{05BCA8CF-42D6-4256-922C-06E7B3571B48}"/>
              </a:ext>
            </a:extLst>
          </p:cNvPr>
          <p:cNvSpPr/>
          <p:nvPr/>
        </p:nvSpPr>
        <p:spPr>
          <a:xfrm>
            <a:off x="5181600" y="4272877"/>
            <a:ext cx="468294" cy="1702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39421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2FA2C189-1377-47DB-92CD-B8F5209599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009" y="1150415"/>
            <a:ext cx="5769978" cy="2900111"/>
          </a:xfrm>
          <a:prstGeom prst="roundRect">
            <a:avLst>
              <a:gd name="adj" fmla="val 1899"/>
            </a:avLst>
          </a:prstGeom>
          <a:solidFill>
            <a:srgbClr val="007F4C"/>
          </a:solidFill>
          <a:ln w="6350">
            <a:solidFill>
              <a:srgbClr val="007F4C"/>
            </a:solidFill>
          </a:ln>
          <a:effectLst/>
        </p:spPr>
      </p:pic>
      <p:sp>
        <p:nvSpPr>
          <p:cNvPr id="4" name="文字版面配置區 3">
            <a:extLst>
              <a:ext uri="{FF2B5EF4-FFF2-40B4-BE49-F238E27FC236}">
                <a16:creationId xmlns:a16="http://schemas.microsoft.com/office/drawing/2014/main" id="{156CDCD0-02FB-441E-9664-C850A05FB76B}"/>
              </a:ext>
            </a:extLst>
          </p:cNvPr>
          <p:cNvSpPr>
            <a:spLocks noGrp="1"/>
          </p:cNvSpPr>
          <p:nvPr>
            <p:ph type="body" sz="quarter" idx="13"/>
          </p:nvPr>
        </p:nvSpPr>
        <p:spPr>
          <a:xfrm>
            <a:off x="4339403" y="124658"/>
            <a:ext cx="2313454" cy="313932"/>
          </a:xfrm>
        </p:spPr>
        <p:txBody>
          <a:bodyPr/>
          <a:lstStyle/>
          <a:p>
            <a:r>
              <a:rPr lang="en-US" altLang="zh-TW" dirty="0"/>
              <a:t>- </a:t>
            </a:r>
            <a:r>
              <a:rPr lang="zh-TW" altLang="en-US" dirty="0"/>
              <a:t>首次使用與專案申請 </a:t>
            </a:r>
            <a:r>
              <a:rPr lang="en-US" altLang="zh-TW" dirty="0"/>
              <a:t>-</a:t>
            </a:r>
            <a:endParaRPr lang="zh-TW" altLang="en-US" dirty="0"/>
          </a:p>
        </p:txBody>
      </p:sp>
      <p:sp>
        <p:nvSpPr>
          <p:cNvPr id="5" name="投影片編號版面配置區 4">
            <a:extLst>
              <a:ext uri="{FF2B5EF4-FFF2-40B4-BE49-F238E27FC236}">
                <a16:creationId xmlns:a16="http://schemas.microsoft.com/office/drawing/2014/main" id="{9E3B5576-245F-4C4C-A469-E552573A60C4}"/>
              </a:ext>
            </a:extLst>
          </p:cNvPr>
          <p:cNvSpPr>
            <a:spLocks noGrp="1"/>
          </p:cNvSpPr>
          <p:nvPr>
            <p:ph type="sldNum" sz="quarter" idx="12"/>
          </p:nvPr>
        </p:nvSpPr>
        <p:spPr/>
        <p:txBody>
          <a:bodyPr/>
          <a:lstStyle/>
          <a:p>
            <a:fld id="{87F2EC76-4ACB-421A-B9EA-F72429D0FACA}" type="slidenum">
              <a:rPr lang="zh-TW" altLang="en-US" smtClean="0"/>
              <a:pPr/>
              <a:t>7</a:t>
            </a:fld>
            <a:endParaRPr lang="zh-TW" altLang="en-US" dirty="0"/>
          </a:p>
        </p:txBody>
      </p:sp>
      <p:sp>
        <p:nvSpPr>
          <p:cNvPr id="14" name="文字版面配置區 2">
            <a:extLst>
              <a:ext uri="{FF2B5EF4-FFF2-40B4-BE49-F238E27FC236}">
                <a16:creationId xmlns:a16="http://schemas.microsoft.com/office/drawing/2014/main" id="{975DCAF5-8581-4E51-927D-9E403827DFD2}"/>
              </a:ext>
            </a:extLst>
          </p:cNvPr>
          <p:cNvSpPr txBox="1">
            <a:spLocks/>
          </p:cNvSpPr>
          <p:nvPr/>
        </p:nvSpPr>
        <p:spPr>
          <a:xfrm>
            <a:off x="271172" y="773252"/>
            <a:ext cx="6315657" cy="375872"/>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lphaLcPeriod" startAt="2"/>
            </a:pPr>
            <a:r>
              <a:rPr lang="zh-TW" altLang="en-US" dirty="0"/>
              <a:t>選擇要申請的</a:t>
            </a:r>
            <a:r>
              <a:rPr lang="zh-TW" altLang="en-US" b="1" dirty="0"/>
              <a:t>「專案名稱」、「審查者」</a:t>
            </a:r>
            <a:r>
              <a:rPr lang="zh-TW" altLang="en-US" dirty="0"/>
              <a:t>與</a:t>
            </a:r>
            <a:r>
              <a:rPr lang="zh-TW" altLang="en-US" b="1" dirty="0"/>
              <a:t>「申請權限類型」 </a:t>
            </a:r>
            <a:r>
              <a:rPr lang="zh-TW" altLang="en-US" dirty="0"/>
              <a:t>。</a:t>
            </a:r>
            <a:endParaRPr lang="en-US" altLang="zh-TW" dirty="0"/>
          </a:p>
        </p:txBody>
      </p:sp>
      <p:sp>
        <p:nvSpPr>
          <p:cNvPr id="15" name="文字方塊 14">
            <a:extLst>
              <a:ext uri="{FF2B5EF4-FFF2-40B4-BE49-F238E27FC236}">
                <a16:creationId xmlns:a16="http://schemas.microsoft.com/office/drawing/2014/main" id="{F96A9905-36AB-4FEE-B1CE-88A828D2A03F}"/>
              </a:ext>
            </a:extLst>
          </p:cNvPr>
          <p:cNvSpPr txBox="1"/>
          <p:nvPr/>
        </p:nvSpPr>
        <p:spPr>
          <a:xfrm>
            <a:off x="1583000" y="4074041"/>
            <a:ext cx="3692037"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2-2-2  </a:t>
            </a:r>
            <a:r>
              <a:rPr lang="zh-TW" altLang="en-US" sz="1000" dirty="0">
                <a:solidFill>
                  <a:srgbClr val="4E6071"/>
                </a:solidFill>
                <a:latin typeface="微軟正黑體" panose="020B0604030504040204" pitchFamily="34" charset="-120"/>
                <a:ea typeface="微軟正黑體" panose="020B0604030504040204" pitchFamily="34" charset="-120"/>
              </a:rPr>
              <a:t>選擇「專案名稱」、「審查者」與「申請權限類型」 </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sp>
        <p:nvSpPr>
          <p:cNvPr id="17" name="矩形 16">
            <a:extLst>
              <a:ext uri="{FF2B5EF4-FFF2-40B4-BE49-F238E27FC236}">
                <a16:creationId xmlns:a16="http://schemas.microsoft.com/office/drawing/2014/main" id="{05BCA8CF-42D6-4256-922C-06E7B3571B48}"/>
              </a:ext>
            </a:extLst>
          </p:cNvPr>
          <p:cNvSpPr/>
          <p:nvPr/>
        </p:nvSpPr>
        <p:spPr>
          <a:xfrm>
            <a:off x="628650" y="1719577"/>
            <a:ext cx="3710753" cy="3381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版面配置區 2">
            <a:extLst>
              <a:ext uri="{FF2B5EF4-FFF2-40B4-BE49-F238E27FC236}">
                <a16:creationId xmlns:a16="http://schemas.microsoft.com/office/drawing/2014/main" id="{8DE9DEC5-310B-48C2-9469-E08A724E0A61}"/>
              </a:ext>
            </a:extLst>
          </p:cNvPr>
          <p:cNvSpPr txBox="1">
            <a:spLocks/>
          </p:cNvSpPr>
          <p:nvPr/>
        </p:nvSpPr>
        <p:spPr>
          <a:xfrm>
            <a:off x="271172" y="4474151"/>
            <a:ext cx="6315657" cy="375872"/>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lphaLcPeriod" startAt="3"/>
            </a:pPr>
            <a:r>
              <a:rPr lang="zh-TW" altLang="en-US" dirty="0"/>
              <a:t>點擊</a:t>
            </a:r>
            <a:r>
              <a:rPr lang="zh-TW" altLang="en-US" b="1" dirty="0"/>
              <a:t>「確定」</a:t>
            </a:r>
            <a:r>
              <a:rPr lang="zh-TW" altLang="en-US" dirty="0"/>
              <a:t>即可提交申請。</a:t>
            </a:r>
            <a:endParaRPr lang="en-US" altLang="zh-TW" dirty="0"/>
          </a:p>
        </p:txBody>
      </p:sp>
      <p:pic>
        <p:nvPicPr>
          <p:cNvPr id="19" name="圖片 18">
            <a:extLst>
              <a:ext uri="{FF2B5EF4-FFF2-40B4-BE49-F238E27FC236}">
                <a16:creationId xmlns:a16="http://schemas.microsoft.com/office/drawing/2014/main" id="{F877D87E-AEDB-47DB-9ADE-01B7C8F16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009" y="4850023"/>
            <a:ext cx="5769978" cy="2900111"/>
          </a:xfrm>
          <a:prstGeom prst="roundRect">
            <a:avLst>
              <a:gd name="adj" fmla="val 1899"/>
            </a:avLst>
          </a:prstGeom>
          <a:ln w="6350">
            <a:solidFill>
              <a:srgbClr val="007F4C"/>
            </a:solidFill>
          </a:ln>
          <a:effectLst/>
        </p:spPr>
      </p:pic>
      <p:sp>
        <p:nvSpPr>
          <p:cNvPr id="21" name="矩形 20">
            <a:extLst>
              <a:ext uri="{FF2B5EF4-FFF2-40B4-BE49-F238E27FC236}">
                <a16:creationId xmlns:a16="http://schemas.microsoft.com/office/drawing/2014/main" id="{80344A74-C82D-4754-9A8E-FFA180F358C6}"/>
              </a:ext>
            </a:extLst>
          </p:cNvPr>
          <p:cNvSpPr/>
          <p:nvPr/>
        </p:nvSpPr>
        <p:spPr>
          <a:xfrm>
            <a:off x="3428999" y="5722152"/>
            <a:ext cx="368302" cy="2477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3BEB8507-B89D-488F-BA35-EBBF10A65F79}"/>
              </a:ext>
            </a:extLst>
          </p:cNvPr>
          <p:cNvSpPr txBox="1"/>
          <p:nvPr/>
        </p:nvSpPr>
        <p:spPr>
          <a:xfrm>
            <a:off x="2817318" y="7754821"/>
            <a:ext cx="1223412" cy="246221"/>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2-2-3  </a:t>
            </a:r>
            <a:r>
              <a:rPr lang="zh-TW" altLang="en-US" sz="1000" dirty="0">
                <a:solidFill>
                  <a:srgbClr val="4E6071"/>
                </a:solidFill>
                <a:latin typeface="微軟正黑體" panose="020B0604030504040204" pitchFamily="34" charset="-120"/>
                <a:ea typeface="微軟正黑體" panose="020B0604030504040204" pitchFamily="34" charset="-120"/>
              </a:rPr>
              <a:t>提交申請</a:t>
            </a:r>
          </a:p>
        </p:txBody>
      </p:sp>
    </p:spTree>
    <p:extLst>
      <p:ext uri="{BB962C8B-B14F-4D97-AF65-F5344CB8AC3E}">
        <p14:creationId xmlns:p14="http://schemas.microsoft.com/office/powerpoint/2010/main" val="406574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版面配置區 2">
            <a:extLst>
              <a:ext uri="{FF2B5EF4-FFF2-40B4-BE49-F238E27FC236}">
                <a16:creationId xmlns:a16="http://schemas.microsoft.com/office/drawing/2014/main" id="{16B6DA20-3FBD-4E01-9835-A2B933640104}"/>
              </a:ext>
            </a:extLst>
          </p:cNvPr>
          <p:cNvSpPr txBox="1">
            <a:spLocks/>
          </p:cNvSpPr>
          <p:nvPr/>
        </p:nvSpPr>
        <p:spPr>
          <a:xfrm>
            <a:off x="271172" y="766455"/>
            <a:ext cx="6315657" cy="375872"/>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b="1" dirty="0"/>
              <a:t>步驟二：專案助理審查</a:t>
            </a:r>
            <a:endParaRPr lang="en-US" altLang="zh-TW" b="1" dirty="0"/>
          </a:p>
        </p:txBody>
      </p:sp>
      <p:sp>
        <p:nvSpPr>
          <p:cNvPr id="7" name="文字版面配置區 2">
            <a:extLst>
              <a:ext uri="{FF2B5EF4-FFF2-40B4-BE49-F238E27FC236}">
                <a16:creationId xmlns:a16="http://schemas.microsoft.com/office/drawing/2014/main" id="{DFAE7EE1-4F53-46B3-99AA-4818F3DB5A25}"/>
              </a:ext>
            </a:extLst>
          </p:cNvPr>
          <p:cNvSpPr txBox="1">
            <a:spLocks/>
          </p:cNvSpPr>
          <p:nvPr/>
        </p:nvSpPr>
        <p:spPr>
          <a:xfrm>
            <a:off x="271172" y="1142327"/>
            <a:ext cx="6315657" cy="699038"/>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申請提交後，系統將以 </a:t>
            </a:r>
            <a:r>
              <a:rPr lang="en-US" altLang="zh-TW" dirty="0"/>
              <a:t>Line </a:t>
            </a:r>
            <a:r>
              <a:rPr lang="zh-TW" altLang="en-US" dirty="0"/>
              <a:t>與 </a:t>
            </a:r>
            <a:r>
              <a:rPr lang="en-US" altLang="zh-TW" dirty="0"/>
              <a:t>Email </a:t>
            </a:r>
            <a:r>
              <a:rPr lang="zh-TW" altLang="en-US" dirty="0"/>
              <a:t>自動通知</a:t>
            </a:r>
            <a:r>
              <a:rPr lang="zh-TW" altLang="en-US" b="1" dirty="0"/>
              <a:t>「審查者」</a:t>
            </a:r>
            <a:r>
              <a:rPr lang="zh-TW" altLang="en-US" dirty="0"/>
              <a:t>，由其進行第一階段的資格審查。</a:t>
            </a:r>
          </a:p>
        </p:txBody>
      </p:sp>
      <p:sp>
        <p:nvSpPr>
          <p:cNvPr id="4" name="文字版面配置區 3">
            <a:extLst>
              <a:ext uri="{FF2B5EF4-FFF2-40B4-BE49-F238E27FC236}">
                <a16:creationId xmlns:a16="http://schemas.microsoft.com/office/drawing/2014/main" id="{156CDCD0-02FB-441E-9664-C850A05FB76B}"/>
              </a:ext>
            </a:extLst>
          </p:cNvPr>
          <p:cNvSpPr>
            <a:spLocks noGrp="1"/>
          </p:cNvSpPr>
          <p:nvPr>
            <p:ph type="body" sz="quarter" idx="13"/>
          </p:nvPr>
        </p:nvSpPr>
        <p:spPr>
          <a:xfrm>
            <a:off x="4339403" y="124658"/>
            <a:ext cx="2313454" cy="313932"/>
          </a:xfrm>
        </p:spPr>
        <p:txBody>
          <a:bodyPr/>
          <a:lstStyle/>
          <a:p>
            <a:r>
              <a:rPr lang="en-US" altLang="zh-TW" dirty="0"/>
              <a:t>- </a:t>
            </a:r>
            <a:r>
              <a:rPr lang="zh-TW" altLang="en-US" dirty="0"/>
              <a:t>首次使用與專案申請 </a:t>
            </a:r>
            <a:r>
              <a:rPr lang="en-US" altLang="zh-TW" dirty="0"/>
              <a:t>-</a:t>
            </a:r>
            <a:endParaRPr lang="zh-TW" altLang="en-US" dirty="0"/>
          </a:p>
        </p:txBody>
      </p:sp>
      <p:sp>
        <p:nvSpPr>
          <p:cNvPr id="5" name="投影片編號版面配置區 4">
            <a:extLst>
              <a:ext uri="{FF2B5EF4-FFF2-40B4-BE49-F238E27FC236}">
                <a16:creationId xmlns:a16="http://schemas.microsoft.com/office/drawing/2014/main" id="{9E3B5576-245F-4C4C-A469-E552573A60C4}"/>
              </a:ext>
            </a:extLst>
          </p:cNvPr>
          <p:cNvSpPr>
            <a:spLocks noGrp="1"/>
          </p:cNvSpPr>
          <p:nvPr>
            <p:ph type="sldNum" sz="quarter" idx="12"/>
          </p:nvPr>
        </p:nvSpPr>
        <p:spPr/>
        <p:txBody>
          <a:bodyPr/>
          <a:lstStyle/>
          <a:p>
            <a:fld id="{87F2EC76-4ACB-421A-B9EA-F72429D0FACA}" type="slidenum">
              <a:rPr lang="zh-TW" altLang="en-US" smtClean="0"/>
              <a:pPr/>
              <a:t>8</a:t>
            </a:fld>
            <a:endParaRPr lang="zh-TW" altLang="en-US" dirty="0"/>
          </a:p>
        </p:txBody>
      </p:sp>
      <p:sp>
        <p:nvSpPr>
          <p:cNvPr id="21" name="文字版面配置區 2">
            <a:extLst>
              <a:ext uri="{FF2B5EF4-FFF2-40B4-BE49-F238E27FC236}">
                <a16:creationId xmlns:a16="http://schemas.microsoft.com/office/drawing/2014/main" id="{69D53AEE-EA6E-4C16-A1AD-69FC09B67E71}"/>
              </a:ext>
            </a:extLst>
          </p:cNvPr>
          <p:cNvSpPr txBox="1">
            <a:spLocks/>
          </p:cNvSpPr>
          <p:nvPr/>
        </p:nvSpPr>
        <p:spPr>
          <a:xfrm>
            <a:off x="271172" y="1841365"/>
            <a:ext cx="6315657" cy="375872"/>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b="1" dirty="0"/>
              <a:t>步驟三：專案管理員審核</a:t>
            </a:r>
            <a:endParaRPr lang="en-US" altLang="zh-TW" b="1" dirty="0"/>
          </a:p>
        </p:txBody>
      </p:sp>
      <p:sp>
        <p:nvSpPr>
          <p:cNvPr id="22" name="文字版面配置區 2">
            <a:extLst>
              <a:ext uri="{FF2B5EF4-FFF2-40B4-BE49-F238E27FC236}">
                <a16:creationId xmlns:a16="http://schemas.microsoft.com/office/drawing/2014/main" id="{26143BA3-7FA2-4D1F-B99F-4EC786A1EF02}"/>
              </a:ext>
            </a:extLst>
          </p:cNvPr>
          <p:cNvSpPr txBox="1">
            <a:spLocks/>
          </p:cNvSpPr>
          <p:nvPr/>
        </p:nvSpPr>
        <p:spPr>
          <a:xfrm>
            <a:off x="271172" y="2217237"/>
            <a:ext cx="6315657" cy="827278"/>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審查通過後，申請案將自動通知</a:t>
            </a:r>
            <a:r>
              <a:rPr lang="zh-TW" altLang="en-US" b="1" dirty="0"/>
              <a:t>「審核者」</a:t>
            </a:r>
            <a:r>
              <a:rPr lang="zh-TW" altLang="en-US" dirty="0"/>
              <a:t>，由其進行最終審核。</a:t>
            </a:r>
            <a:endParaRPr lang="en-US" altLang="zh-TW" dirty="0"/>
          </a:p>
          <a:p>
            <a:endParaRPr lang="en-US" altLang="zh-TW" dirty="0"/>
          </a:p>
        </p:txBody>
      </p:sp>
      <p:sp>
        <p:nvSpPr>
          <p:cNvPr id="23" name="文字版面配置區 1">
            <a:extLst>
              <a:ext uri="{FF2B5EF4-FFF2-40B4-BE49-F238E27FC236}">
                <a16:creationId xmlns:a16="http://schemas.microsoft.com/office/drawing/2014/main" id="{F1D18BC2-C4B2-4977-85A4-D8E7A3BAC7B2}"/>
              </a:ext>
            </a:extLst>
          </p:cNvPr>
          <p:cNvSpPr txBox="1">
            <a:spLocks/>
          </p:cNvSpPr>
          <p:nvPr/>
        </p:nvSpPr>
        <p:spPr>
          <a:xfrm>
            <a:off x="271172" y="3044515"/>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2 ‧ 3 </a:t>
            </a:r>
            <a:r>
              <a:rPr lang="zh-TW" altLang="en-US" dirty="0"/>
              <a:t>申請狀態與結果通知</a:t>
            </a:r>
          </a:p>
        </p:txBody>
      </p:sp>
      <p:sp>
        <p:nvSpPr>
          <p:cNvPr id="24" name="文字版面配置區 2">
            <a:extLst>
              <a:ext uri="{FF2B5EF4-FFF2-40B4-BE49-F238E27FC236}">
                <a16:creationId xmlns:a16="http://schemas.microsoft.com/office/drawing/2014/main" id="{556E817B-E3D0-42C2-93D7-CFE05E936572}"/>
              </a:ext>
            </a:extLst>
          </p:cNvPr>
          <p:cNvSpPr txBox="1">
            <a:spLocks/>
          </p:cNvSpPr>
          <p:nvPr/>
        </p:nvSpPr>
        <p:spPr>
          <a:xfrm>
            <a:off x="271172" y="3330747"/>
            <a:ext cx="6315657" cy="699038"/>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在審核流程的各個階段（包含申請提交、審查通過、最終核准或駁回），系統皆會透過 </a:t>
            </a:r>
            <a:r>
              <a:rPr lang="en-US" altLang="zh-TW" b="1" dirty="0"/>
              <a:t>Line</a:t>
            </a:r>
            <a:r>
              <a:rPr lang="zh-TW" altLang="en-US" dirty="0"/>
              <a:t> 及 </a:t>
            </a:r>
            <a:r>
              <a:rPr lang="en-US" altLang="zh-TW" b="1" dirty="0"/>
              <a:t>Email</a:t>
            </a:r>
            <a:r>
              <a:rPr lang="zh-TW" altLang="en-US" dirty="0"/>
              <a:t> 發送通知給申請人，以便使用者即時掌握進度。</a:t>
            </a:r>
            <a:endParaRPr lang="en-US" altLang="zh-TW" dirty="0"/>
          </a:p>
        </p:txBody>
      </p:sp>
      <p:sp>
        <p:nvSpPr>
          <p:cNvPr id="26" name="矩形: 圓角 25">
            <a:extLst>
              <a:ext uri="{FF2B5EF4-FFF2-40B4-BE49-F238E27FC236}">
                <a16:creationId xmlns:a16="http://schemas.microsoft.com/office/drawing/2014/main" id="{DA892C3C-5D07-4CBF-8CC8-2AA93EF802E1}"/>
              </a:ext>
            </a:extLst>
          </p:cNvPr>
          <p:cNvSpPr/>
          <p:nvPr/>
        </p:nvSpPr>
        <p:spPr>
          <a:xfrm>
            <a:off x="293487" y="4024334"/>
            <a:ext cx="2893641" cy="2264767"/>
          </a:xfrm>
          <a:prstGeom prst="roundRect">
            <a:avLst>
              <a:gd name="adj" fmla="val 3122"/>
            </a:avLst>
          </a:prstGeom>
          <a:solidFill>
            <a:schemeClr val="bg1"/>
          </a:solidFill>
          <a:ln w="9525">
            <a:solidFill>
              <a:srgbClr val="007F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9" name="圖片 28">
            <a:extLst>
              <a:ext uri="{FF2B5EF4-FFF2-40B4-BE49-F238E27FC236}">
                <a16:creationId xmlns:a16="http://schemas.microsoft.com/office/drawing/2014/main" id="{76A9A9DC-468F-4F9A-9871-7D3FEA9B1AA6}"/>
              </a:ext>
            </a:extLst>
          </p:cNvPr>
          <p:cNvPicPr>
            <a:picLocks noChangeAspect="1"/>
          </p:cNvPicPr>
          <p:nvPr/>
        </p:nvPicPr>
        <p:blipFill>
          <a:blip r:embed="rId2"/>
          <a:stretch>
            <a:fillRect/>
          </a:stretch>
        </p:blipFill>
        <p:spPr>
          <a:xfrm>
            <a:off x="3670872" y="4024334"/>
            <a:ext cx="2893641" cy="2264767"/>
          </a:xfrm>
          <a:prstGeom prst="roundRect">
            <a:avLst>
              <a:gd name="adj" fmla="val 1899"/>
            </a:avLst>
          </a:prstGeom>
          <a:ln w="6350">
            <a:solidFill>
              <a:srgbClr val="007F4C"/>
            </a:solidFill>
          </a:ln>
          <a:effectLst/>
        </p:spPr>
      </p:pic>
      <p:sp>
        <p:nvSpPr>
          <p:cNvPr id="30" name="文字方塊 29">
            <a:extLst>
              <a:ext uri="{FF2B5EF4-FFF2-40B4-BE49-F238E27FC236}">
                <a16:creationId xmlns:a16="http://schemas.microsoft.com/office/drawing/2014/main" id="{E2CB046B-C61F-4255-868A-BC2ED46CC695}"/>
              </a:ext>
            </a:extLst>
          </p:cNvPr>
          <p:cNvSpPr txBox="1"/>
          <p:nvPr/>
        </p:nvSpPr>
        <p:spPr>
          <a:xfrm>
            <a:off x="4454692" y="6292703"/>
            <a:ext cx="1326005"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2-3-2  Email </a:t>
            </a:r>
            <a:r>
              <a:rPr lang="zh-TW" altLang="en-US" sz="1000" dirty="0">
                <a:solidFill>
                  <a:srgbClr val="4E6071"/>
                </a:solidFill>
                <a:latin typeface="微軟正黑體" panose="020B0604030504040204" pitchFamily="34" charset="-120"/>
                <a:ea typeface="微軟正黑體" panose="020B0604030504040204" pitchFamily="34" charset="-120"/>
              </a:rPr>
              <a:t>通知</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9044B5DB-8918-464D-AC85-596770730663}"/>
              </a:ext>
            </a:extLst>
          </p:cNvPr>
          <p:cNvSpPr txBox="1"/>
          <p:nvPr/>
        </p:nvSpPr>
        <p:spPr>
          <a:xfrm>
            <a:off x="1116575" y="6292703"/>
            <a:ext cx="1247457"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2-3-1  Line </a:t>
            </a:r>
            <a:r>
              <a:rPr lang="zh-TW" altLang="en-US" sz="1000" dirty="0">
                <a:solidFill>
                  <a:srgbClr val="4E6071"/>
                </a:solidFill>
                <a:latin typeface="微軟正黑體" panose="020B0604030504040204" pitchFamily="34" charset="-120"/>
                <a:ea typeface="微軟正黑體" panose="020B0604030504040204" pitchFamily="34" charset="-120"/>
              </a:rPr>
              <a:t>通知</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pic>
        <p:nvPicPr>
          <p:cNvPr id="2" name="圖片 1">
            <a:extLst>
              <a:ext uri="{FF2B5EF4-FFF2-40B4-BE49-F238E27FC236}">
                <a16:creationId xmlns:a16="http://schemas.microsoft.com/office/drawing/2014/main" id="{D92E060A-EDDA-4D64-B50C-E9C35C42DE14}"/>
              </a:ext>
            </a:extLst>
          </p:cNvPr>
          <p:cNvPicPr>
            <a:picLocks noChangeAspect="1"/>
          </p:cNvPicPr>
          <p:nvPr/>
        </p:nvPicPr>
        <p:blipFill>
          <a:blip r:embed="rId3"/>
          <a:stretch>
            <a:fillRect/>
          </a:stretch>
        </p:blipFill>
        <p:spPr>
          <a:xfrm>
            <a:off x="387564" y="4244027"/>
            <a:ext cx="2705478" cy="1819529"/>
          </a:xfrm>
          <a:prstGeom prst="rect">
            <a:avLst/>
          </a:prstGeom>
        </p:spPr>
      </p:pic>
      <p:pic>
        <p:nvPicPr>
          <p:cNvPr id="3" name="圖片 2">
            <a:extLst>
              <a:ext uri="{FF2B5EF4-FFF2-40B4-BE49-F238E27FC236}">
                <a16:creationId xmlns:a16="http://schemas.microsoft.com/office/drawing/2014/main" id="{47C422B5-062C-460F-BB37-8D67C63B01A7}"/>
              </a:ext>
            </a:extLst>
          </p:cNvPr>
          <p:cNvPicPr>
            <a:picLocks noChangeAspect="1"/>
          </p:cNvPicPr>
          <p:nvPr/>
        </p:nvPicPr>
        <p:blipFill>
          <a:blip r:embed="rId4"/>
          <a:stretch>
            <a:fillRect/>
          </a:stretch>
        </p:blipFill>
        <p:spPr>
          <a:xfrm>
            <a:off x="4029774" y="4059712"/>
            <a:ext cx="2154594" cy="175308"/>
          </a:xfrm>
          <a:prstGeom prst="rect">
            <a:avLst/>
          </a:prstGeom>
        </p:spPr>
      </p:pic>
      <p:pic>
        <p:nvPicPr>
          <p:cNvPr id="8" name="圖片 7">
            <a:extLst>
              <a:ext uri="{FF2B5EF4-FFF2-40B4-BE49-F238E27FC236}">
                <a16:creationId xmlns:a16="http://schemas.microsoft.com/office/drawing/2014/main" id="{0663D932-859B-49BA-B6D4-6BC12E1BE565}"/>
              </a:ext>
            </a:extLst>
          </p:cNvPr>
          <p:cNvPicPr>
            <a:picLocks noChangeAspect="1"/>
          </p:cNvPicPr>
          <p:nvPr/>
        </p:nvPicPr>
        <p:blipFill>
          <a:blip r:embed="rId5"/>
          <a:stretch>
            <a:fillRect/>
          </a:stretch>
        </p:blipFill>
        <p:spPr>
          <a:xfrm>
            <a:off x="4022154" y="5027197"/>
            <a:ext cx="2186537" cy="681884"/>
          </a:xfrm>
          <a:prstGeom prst="rect">
            <a:avLst/>
          </a:prstGeom>
        </p:spPr>
      </p:pic>
    </p:spTree>
    <p:extLst>
      <p:ext uri="{BB962C8B-B14F-4D97-AF65-F5344CB8AC3E}">
        <p14:creationId xmlns:p14="http://schemas.microsoft.com/office/powerpoint/2010/main" val="688944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圖片 15">
            <a:extLst>
              <a:ext uri="{FF2B5EF4-FFF2-40B4-BE49-F238E27FC236}">
                <a16:creationId xmlns:a16="http://schemas.microsoft.com/office/drawing/2014/main" id="{268C516B-77D9-4164-B12F-6BB5408CA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294" y="5172157"/>
            <a:ext cx="5773412" cy="2901837"/>
          </a:xfrm>
          <a:prstGeom prst="roundRect">
            <a:avLst>
              <a:gd name="adj" fmla="val 1899"/>
            </a:avLst>
          </a:prstGeom>
          <a:ln w="6350">
            <a:solidFill>
              <a:srgbClr val="007F4C"/>
            </a:solidFill>
          </a:ln>
          <a:effectLst/>
        </p:spPr>
      </p:pic>
      <p:sp>
        <p:nvSpPr>
          <p:cNvPr id="6" name="文字版面配置區 2">
            <a:extLst>
              <a:ext uri="{FF2B5EF4-FFF2-40B4-BE49-F238E27FC236}">
                <a16:creationId xmlns:a16="http://schemas.microsoft.com/office/drawing/2014/main" id="{388DE1E5-B457-4074-AED3-DD4EAF480BD4}"/>
              </a:ext>
            </a:extLst>
          </p:cNvPr>
          <p:cNvSpPr txBox="1">
            <a:spLocks/>
          </p:cNvSpPr>
          <p:nvPr/>
        </p:nvSpPr>
        <p:spPr>
          <a:xfrm>
            <a:off x="271172" y="766455"/>
            <a:ext cx="6315657" cy="375872"/>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申請人亦可在</a:t>
            </a:r>
            <a:r>
              <a:rPr lang="zh-TW" altLang="en-US" b="1" dirty="0"/>
              <a:t>「專案申請」</a:t>
            </a:r>
            <a:r>
              <a:rPr lang="zh-TW" altLang="en-US" dirty="0"/>
              <a:t>頁面，檢視申請的專案狀態。</a:t>
            </a:r>
            <a:endParaRPr lang="en-US" altLang="zh-TW" dirty="0"/>
          </a:p>
        </p:txBody>
      </p:sp>
      <p:sp>
        <p:nvSpPr>
          <p:cNvPr id="4" name="文字版面配置區 3">
            <a:extLst>
              <a:ext uri="{FF2B5EF4-FFF2-40B4-BE49-F238E27FC236}">
                <a16:creationId xmlns:a16="http://schemas.microsoft.com/office/drawing/2014/main" id="{404F56B1-498F-4D0A-AB09-6C9643007973}"/>
              </a:ext>
            </a:extLst>
          </p:cNvPr>
          <p:cNvSpPr>
            <a:spLocks noGrp="1"/>
          </p:cNvSpPr>
          <p:nvPr>
            <p:ph type="body" sz="quarter" idx="13"/>
          </p:nvPr>
        </p:nvSpPr>
        <p:spPr>
          <a:xfrm>
            <a:off x="4339403" y="124658"/>
            <a:ext cx="2313454" cy="313932"/>
          </a:xfrm>
        </p:spPr>
        <p:txBody>
          <a:bodyPr/>
          <a:lstStyle/>
          <a:p>
            <a:r>
              <a:rPr lang="en-US" altLang="zh-TW" dirty="0"/>
              <a:t>- </a:t>
            </a:r>
            <a:r>
              <a:rPr lang="zh-TW" altLang="en-US" dirty="0"/>
              <a:t>首次使用與專案申請 </a:t>
            </a:r>
            <a:r>
              <a:rPr lang="en-US" altLang="zh-TW" dirty="0"/>
              <a:t>-</a:t>
            </a:r>
            <a:endParaRPr lang="zh-TW" altLang="en-US" dirty="0"/>
          </a:p>
        </p:txBody>
      </p:sp>
      <p:sp>
        <p:nvSpPr>
          <p:cNvPr id="5" name="投影片編號版面配置區 4">
            <a:extLst>
              <a:ext uri="{FF2B5EF4-FFF2-40B4-BE49-F238E27FC236}">
                <a16:creationId xmlns:a16="http://schemas.microsoft.com/office/drawing/2014/main" id="{F63C2ADD-1C17-4670-B66E-0F9954ACD39F}"/>
              </a:ext>
            </a:extLst>
          </p:cNvPr>
          <p:cNvSpPr>
            <a:spLocks noGrp="1"/>
          </p:cNvSpPr>
          <p:nvPr>
            <p:ph type="sldNum" sz="quarter" idx="12"/>
          </p:nvPr>
        </p:nvSpPr>
        <p:spPr/>
        <p:txBody>
          <a:bodyPr/>
          <a:lstStyle/>
          <a:p>
            <a:fld id="{87F2EC76-4ACB-421A-B9EA-F72429D0FACA}" type="slidenum">
              <a:rPr lang="zh-TW" altLang="en-US" smtClean="0"/>
              <a:pPr/>
              <a:t>9</a:t>
            </a:fld>
            <a:endParaRPr lang="zh-TW" altLang="en-US" dirty="0"/>
          </a:p>
        </p:txBody>
      </p:sp>
      <p:sp>
        <p:nvSpPr>
          <p:cNvPr id="7" name="文字版面配置區 2">
            <a:extLst>
              <a:ext uri="{FF2B5EF4-FFF2-40B4-BE49-F238E27FC236}">
                <a16:creationId xmlns:a16="http://schemas.microsoft.com/office/drawing/2014/main" id="{9FB7FDFB-9B1E-47D0-955A-7F87EDA8EC0D}"/>
              </a:ext>
            </a:extLst>
          </p:cNvPr>
          <p:cNvSpPr txBox="1">
            <a:spLocks/>
          </p:cNvSpPr>
          <p:nvPr/>
        </p:nvSpPr>
        <p:spPr>
          <a:xfrm>
            <a:off x="271172" y="4470513"/>
            <a:ext cx="6315657" cy="699038"/>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使用者收到</a:t>
            </a:r>
            <a:r>
              <a:rPr lang="zh-TW" altLang="en-US" b="1" dirty="0"/>
              <a:t>「審核通過」</a:t>
            </a:r>
            <a:r>
              <a:rPr lang="zh-TW" altLang="en-US" dirty="0"/>
              <a:t>通知後，即代表已成功加入專案。該專案將會顯示於使用者的專案列表中，並可開始使用 </a:t>
            </a:r>
            <a:r>
              <a:rPr lang="en-US" altLang="zh-TW" b="1" dirty="0"/>
              <a:t>[</a:t>
            </a:r>
            <a:r>
              <a:rPr lang="zh-TW" altLang="en-US" b="1" dirty="0"/>
              <a:t>建築履歷</a:t>
            </a:r>
            <a:r>
              <a:rPr lang="en-US" altLang="zh-TW" b="1" dirty="0"/>
              <a:t>]</a:t>
            </a:r>
            <a:r>
              <a:rPr lang="zh-TW" altLang="en-US" dirty="0"/>
              <a:t> 等相關功能。</a:t>
            </a:r>
            <a:endParaRPr lang="en-US" altLang="zh-TW" dirty="0"/>
          </a:p>
        </p:txBody>
      </p:sp>
      <p:pic>
        <p:nvPicPr>
          <p:cNvPr id="8" name="圖片 7">
            <a:extLst>
              <a:ext uri="{FF2B5EF4-FFF2-40B4-BE49-F238E27FC236}">
                <a16:creationId xmlns:a16="http://schemas.microsoft.com/office/drawing/2014/main" id="{5A5366B8-49F7-4179-A97E-E797C1152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339" y="1161495"/>
            <a:ext cx="5771322" cy="2900786"/>
          </a:xfrm>
          <a:prstGeom prst="roundRect">
            <a:avLst>
              <a:gd name="adj" fmla="val 1899"/>
            </a:avLst>
          </a:prstGeom>
          <a:ln w="6350">
            <a:solidFill>
              <a:srgbClr val="007F4C"/>
            </a:solidFill>
          </a:ln>
          <a:effectLst/>
        </p:spPr>
      </p:pic>
      <p:sp>
        <p:nvSpPr>
          <p:cNvPr id="9" name="文字方塊 8">
            <a:extLst>
              <a:ext uri="{FF2B5EF4-FFF2-40B4-BE49-F238E27FC236}">
                <a16:creationId xmlns:a16="http://schemas.microsoft.com/office/drawing/2014/main" id="{0A928841-42F5-4B6E-A017-582B243E295E}"/>
              </a:ext>
            </a:extLst>
          </p:cNvPr>
          <p:cNvSpPr txBox="1"/>
          <p:nvPr/>
        </p:nvSpPr>
        <p:spPr>
          <a:xfrm>
            <a:off x="2624933" y="4070403"/>
            <a:ext cx="1608133"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2-3-3  </a:t>
            </a:r>
            <a:r>
              <a:rPr lang="zh-TW" altLang="en-US" sz="1000" dirty="0">
                <a:solidFill>
                  <a:srgbClr val="4E6071"/>
                </a:solidFill>
                <a:latin typeface="微軟正黑體" panose="020B0604030504040204" pitchFamily="34" charset="-120"/>
                <a:ea typeface="微軟正黑體" panose="020B0604030504040204" pitchFamily="34" charset="-120"/>
              </a:rPr>
              <a:t>申請的專案狀態</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sp>
        <p:nvSpPr>
          <p:cNvPr id="10" name="矩形 9">
            <a:extLst>
              <a:ext uri="{FF2B5EF4-FFF2-40B4-BE49-F238E27FC236}">
                <a16:creationId xmlns:a16="http://schemas.microsoft.com/office/drawing/2014/main" id="{2D3D0163-4FEA-4DEC-A60A-AE10BECCD5EF}"/>
              </a:ext>
            </a:extLst>
          </p:cNvPr>
          <p:cNvSpPr/>
          <p:nvPr/>
        </p:nvSpPr>
        <p:spPr>
          <a:xfrm>
            <a:off x="659826" y="2836683"/>
            <a:ext cx="5531444" cy="266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D5606955-5594-4605-BF27-539FB7760421}"/>
              </a:ext>
            </a:extLst>
          </p:cNvPr>
          <p:cNvSpPr txBox="1"/>
          <p:nvPr/>
        </p:nvSpPr>
        <p:spPr>
          <a:xfrm>
            <a:off x="2682153" y="8093162"/>
            <a:ext cx="1479892" cy="246221"/>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2-3-4  </a:t>
            </a:r>
            <a:r>
              <a:rPr lang="zh-TW" altLang="en-US" sz="1000" dirty="0">
                <a:solidFill>
                  <a:srgbClr val="4E6071"/>
                </a:solidFill>
                <a:latin typeface="微軟正黑體" panose="020B0604030504040204" pitchFamily="34" charset="-120"/>
                <a:ea typeface="微軟正黑體" panose="020B0604030504040204" pitchFamily="34" charset="-120"/>
              </a:rPr>
              <a:t>成功加入專案</a:t>
            </a:r>
          </a:p>
        </p:txBody>
      </p:sp>
      <p:sp>
        <p:nvSpPr>
          <p:cNvPr id="13" name="矩形 12">
            <a:extLst>
              <a:ext uri="{FF2B5EF4-FFF2-40B4-BE49-F238E27FC236}">
                <a16:creationId xmlns:a16="http://schemas.microsoft.com/office/drawing/2014/main" id="{0FEC32A7-4F34-4E89-949E-C4AC9EF55FB3}"/>
              </a:ext>
            </a:extLst>
          </p:cNvPr>
          <p:cNvSpPr/>
          <p:nvPr/>
        </p:nvSpPr>
        <p:spPr>
          <a:xfrm>
            <a:off x="666728" y="6283659"/>
            <a:ext cx="5524542" cy="2039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785905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8A94F7B-67F9-4A58-84DD-7A74E037958D}"/>
              </a:ext>
            </a:extLst>
          </p:cNvPr>
          <p:cNvSpPr>
            <a:spLocks noGrp="1"/>
          </p:cNvSpPr>
          <p:nvPr>
            <p:ph type="body" sz="quarter" idx="13"/>
          </p:nvPr>
        </p:nvSpPr>
        <p:spPr>
          <a:xfrm>
            <a:off x="3890562" y="124658"/>
            <a:ext cx="2762295" cy="313932"/>
          </a:xfrm>
        </p:spPr>
        <p:txBody>
          <a:bodyPr/>
          <a:lstStyle/>
          <a:p>
            <a:r>
              <a:rPr lang="en-US" altLang="zh-TW" dirty="0"/>
              <a:t>- </a:t>
            </a:r>
            <a:r>
              <a:rPr lang="zh-TW" altLang="en-US" dirty="0"/>
              <a:t>核心功能 </a:t>
            </a:r>
            <a:r>
              <a:rPr lang="en-US" altLang="zh-TW" dirty="0"/>
              <a:t>-</a:t>
            </a:r>
            <a:r>
              <a:rPr lang="zh-TW" altLang="en-US" dirty="0"/>
              <a:t> 建築履歷管理 </a:t>
            </a:r>
            <a:r>
              <a:rPr lang="en-US" altLang="zh-TW" dirty="0"/>
              <a:t>- </a:t>
            </a:r>
            <a:endParaRPr lang="zh-TW" altLang="en-US" dirty="0"/>
          </a:p>
        </p:txBody>
      </p:sp>
      <p:sp>
        <p:nvSpPr>
          <p:cNvPr id="3" name="投影片編號版面配置區 2">
            <a:extLst>
              <a:ext uri="{FF2B5EF4-FFF2-40B4-BE49-F238E27FC236}">
                <a16:creationId xmlns:a16="http://schemas.microsoft.com/office/drawing/2014/main" id="{9001B789-00E1-4539-8BA5-B1207AE517DD}"/>
              </a:ext>
            </a:extLst>
          </p:cNvPr>
          <p:cNvSpPr>
            <a:spLocks noGrp="1"/>
          </p:cNvSpPr>
          <p:nvPr>
            <p:ph type="sldNum" sz="quarter" idx="12"/>
          </p:nvPr>
        </p:nvSpPr>
        <p:spPr/>
        <p:txBody>
          <a:bodyPr/>
          <a:lstStyle/>
          <a:p>
            <a:fld id="{87F2EC76-4ACB-421A-B9EA-F72429D0FACA}" type="slidenum">
              <a:rPr lang="zh-TW" altLang="en-US" smtClean="0"/>
              <a:pPr/>
              <a:t>10</a:t>
            </a:fld>
            <a:endParaRPr lang="zh-TW" altLang="en-US" dirty="0"/>
          </a:p>
        </p:txBody>
      </p:sp>
      <p:sp>
        <p:nvSpPr>
          <p:cNvPr id="4" name="文字版面配置區 3">
            <a:extLst>
              <a:ext uri="{FF2B5EF4-FFF2-40B4-BE49-F238E27FC236}">
                <a16:creationId xmlns:a16="http://schemas.microsoft.com/office/drawing/2014/main" id="{2930B4DA-F347-4A36-8866-EE54B0B59D88}"/>
              </a:ext>
            </a:extLst>
          </p:cNvPr>
          <p:cNvSpPr>
            <a:spLocks noGrp="1"/>
          </p:cNvSpPr>
          <p:nvPr>
            <p:ph type="body" sz="quarter" idx="15"/>
          </p:nvPr>
        </p:nvSpPr>
        <p:spPr/>
        <p:txBody>
          <a:bodyPr/>
          <a:lstStyle/>
          <a:p>
            <a:r>
              <a:rPr lang="zh-TW" altLang="en-US" dirty="0"/>
              <a:t>第 </a:t>
            </a:r>
            <a:r>
              <a:rPr lang="en-US" altLang="zh-TW" dirty="0"/>
              <a:t>3 </a:t>
            </a:r>
            <a:r>
              <a:rPr lang="zh-TW" altLang="en-US" dirty="0"/>
              <a:t>章：核心功能 </a:t>
            </a:r>
            <a:r>
              <a:rPr lang="en-US" altLang="zh-TW" dirty="0"/>
              <a:t>– </a:t>
            </a:r>
            <a:r>
              <a:rPr lang="zh-TW" altLang="en-US" dirty="0"/>
              <a:t>建築履歷管理</a:t>
            </a:r>
          </a:p>
        </p:txBody>
      </p:sp>
      <p:sp>
        <p:nvSpPr>
          <p:cNvPr id="5" name="文字版面配置區 4">
            <a:extLst>
              <a:ext uri="{FF2B5EF4-FFF2-40B4-BE49-F238E27FC236}">
                <a16:creationId xmlns:a16="http://schemas.microsoft.com/office/drawing/2014/main" id="{DDAB6F42-D72F-4A4A-B5B7-2B7415E3C16C}"/>
              </a:ext>
            </a:extLst>
          </p:cNvPr>
          <p:cNvSpPr>
            <a:spLocks noGrp="1"/>
          </p:cNvSpPr>
          <p:nvPr>
            <p:ph type="body" sz="quarter" idx="16"/>
          </p:nvPr>
        </p:nvSpPr>
        <p:spPr>
          <a:xfrm>
            <a:off x="271169" y="2255300"/>
            <a:ext cx="6315657" cy="286232"/>
          </a:xfrm>
        </p:spPr>
        <p:txBody>
          <a:bodyPr/>
          <a:lstStyle/>
          <a:p>
            <a:r>
              <a:rPr lang="en-US" altLang="zh-TW" dirty="0"/>
              <a:t>3 ‧ 1 </a:t>
            </a:r>
            <a:r>
              <a:rPr lang="zh-TW" altLang="en-US" dirty="0"/>
              <a:t>進入專案後頁面</a:t>
            </a:r>
          </a:p>
        </p:txBody>
      </p:sp>
      <p:sp>
        <p:nvSpPr>
          <p:cNvPr id="6" name="文字版面配置區 5">
            <a:extLst>
              <a:ext uri="{FF2B5EF4-FFF2-40B4-BE49-F238E27FC236}">
                <a16:creationId xmlns:a16="http://schemas.microsoft.com/office/drawing/2014/main" id="{528DA417-E288-4AA7-951E-98168BDEFC59}"/>
              </a:ext>
            </a:extLst>
          </p:cNvPr>
          <p:cNvSpPr>
            <a:spLocks noGrp="1"/>
          </p:cNvSpPr>
          <p:nvPr>
            <p:ph type="body" sz="quarter" idx="17"/>
          </p:nvPr>
        </p:nvSpPr>
        <p:spPr>
          <a:xfrm>
            <a:off x="271170" y="2547768"/>
            <a:ext cx="6315657" cy="699038"/>
          </a:xfrm>
        </p:spPr>
        <p:txBody>
          <a:bodyPr/>
          <a:lstStyle/>
          <a:p>
            <a:r>
              <a:rPr lang="zh-TW" altLang="en-US" dirty="0"/>
              <a:t>使用者登入系統並進入指定專案後，即可開啟管理功能列表的操作介面。以下將會逐一介紹每個功能。</a:t>
            </a:r>
            <a:endParaRPr lang="en-US" altLang="zh-TW" dirty="0"/>
          </a:p>
        </p:txBody>
      </p:sp>
      <p:sp>
        <p:nvSpPr>
          <p:cNvPr id="7" name="文字版面配置區 6">
            <a:extLst>
              <a:ext uri="{FF2B5EF4-FFF2-40B4-BE49-F238E27FC236}">
                <a16:creationId xmlns:a16="http://schemas.microsoft.com/office/drawing/2014/main" id="{68BF0A03-2602-43F9-AF48-FFCE41186116}"/>
              </a:ext>
            </a:extLst>
          </p:cNvPr>
          <p:cNvSpPr>
            <a:spLocks noGrp="1"/>
          </p:cNvSpPr>
          <p:nvPr>
            <p:ph type="body" sz="quarter" idx="18"/>
          </p:nvPr>
        </p:nvSpPr>
        <p:spPr>
          <a:xfrm>
            <a:off x="271169" y="1079222"/>
            <a:ext cx="6315657" cy="1150443"/>
          </a:xfrm>
        </p:spPr>
        <p:txBody>
          <a:bodyPr/>
          <a:lstStyle/>
          <a:p>
            <a:r>
              <a:rPr lang="zh-TW" altLang="en-US" dirty="0"/>
              <a:t>本章節說明系統的核心功能，包含建築履歷的上傳流程，以及建築履歷的查詢方法。</a:t>
            </a:r>
            <a:endParaRPr lang="en-US" altLang="zh-TW" dirty="0"/>
          </a:p>
          <a:p>
            <a:endParaRPr lang="zh-TW" altLang="en-US" dirty="0"/>
          </a:p>
        </p:txBody>
      </p:sp>
      <p:sp>
        <p:nvSpPr>
          <p:cNvPr id="14" name="文字方塊 13">
            <a:extLst>
              <a:ext uri="{FF2B5EF4-FFF2-40B4-BE49-F238E27FC236}">
                <a16:creationId xmlns:a16="http://schemas.microsoft.com/office/drawing/2014/main" id="{6CD6671D-9967-46A1-969B-C43FEA93B163}"/>
              </a:ext>
            </a:extLst>
          </p:cNvPr>
          <p:cNvSpPr txBox="1"/>
          <p:nvPr/>
        </p:nvSpPr>
        <p:spPr>
          <a:xfrm>
            <a:off x="2592876" y="6162667"/>
            <a:ext cx="1672254" cy="246221"/>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3-1-1</a:t>
            </a:r>
            <a:r>
              <a:rPr lang="zh-TW" altLang="en-US" sz="1000" dirty="0">
                <a:solidFill>
                  <a:srgbClr val="4E6071"/>
                </a:solidFill>
                <a:latin typeface="微軟正黑體" panose="020B0604030504040204" pitchFamily="34" charset="-120"/>
                <a:ea typeface="微軟正黑體" panose="020B0604030504040204" pitchFamily="34" charset="-120"/>
              </a:rPr>
              <a:t>管理功能列表介面</a:t>
            </a:r>
          </a:p>
        </p:txBody>
      </p:sp>
      <p:pic>
        <p:nvPicPr>
          <p:cNvPr id="8" name="圖片 7">
            <a:extLst>
              <a:ext uri="{FF2B5EF4-FFF2-40B4-BE49-F238E27FC236}">
                <a16:creationId xmlns:a16="http://schemas.microsoft.com/office/drawing/2014/main" id="{6CAC0295-ADF3-4C4B-9397-81B1937FD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008" y="3263907"/>
            <a:ext cx="5767291" cy="2898760"/>
          </a:xfrm>
          <a:prstGeom prst="roundRect">
            <a:avLst>
              <a:gd name="adj" fmla="val 1899"/>
            </a:avLst>
          </a:prstGeom>
          <a:ln w="6350">
            <a:solidFill>
              <a:srgbClr val="007F4C"/>
            </a:solidFill>
          </a:ln>
          <a:effectLst/>
        </p:spPr>
      </p:pic>
    </p:spTree>
    <p:extLst>
      <p:ext uri="{BB962C8B-B14F-4D97-AF65-F5344CB8AC3E}">
        <p14:creationId xmlns:p14="http://schemas.microsoft.com/office/powerpoint/2010/main" val="2954150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版面配置區 5">
            <a:extLst>
              <a:ext uri="{FF2B5EF4-FFF2-40B4-BE49-F238E27FC236}">
                <a16:creationId xmlns:a16="http://schemas.microsoft.com/office/drawing/2014/main" id="{528DA417-E288-4AA7-951E-98168BDEFC59}"/>
              </a:ext>
            </a:extLst>
          </p:cNvPr>
          <p:cNvSpPr>
            <a:spLocks noGrp="1"/>
          </p:cNvSpPr>
          <p:nvPr>
            <p:ph type="body" sz="quarter" idx="17"/>
          </p:nvPr>
        </p:nvSpPr>
        <p:spPr>
          <a:xfrm>
            <a:off x="271171" y="1052687"/>
            <a:ext cx="6148679" cy="699038"/>
          </a:xfrm>
        </p:spPr>
        <p:txBody>
          <a:bodyPr/>
          <a:lstStyle/>
          <a:p>
            <a:r>
              <a:rPr lang="zh-TW" altLang="en-US" dirty="0"/>
              <a:t>進入指定專案之上傳建築履歷後，即可開啟上傳建築履歷的操作介面。第一次進到該專案時，可以先下載</a:t>
            </a:r>
            <a:r>
              <a:rPr lang="en-US" altLang="zh-TW" dirty="0"/>
              <a:t>Excel</a:t>
            </a:r>
            <a:r>
              <a:rPr lang="zh-TW" altLang="en-US" dirty="0"/>
              <a:t>範本，並順著範本標題去填入正確內容。</a:t>
            </a:r>
            <a:endParaRPr lang="en-US" altLang="zh-TW" dirty="0"/>
          </a:p>
        </p:txBody>
      </p:sp>
      <p:sp>
        <p:nvSpPr>
          <p:cNvPr id="2" name="文字版面配置區 1">
            <a:extLst>
              <a:ext uri="{FF2B5EF4-FFF2-40B4-BE49-F238E27FC236}">
                <a16:creationId xmlns:a16="http://schemas.microsoft.com/office/drawing/2014/main" id="{48A94F7B-67F9-4A58-84DD-7A74E037958D}"/>
              </a:ext>
            </a:extLst>
          </p:cNvPr>
          <p:cNvSpPr>
            <a:spLocks noGrp="1"/>
          </p:cNvSpPr>
          <p:nvPr>
            <p:ph type="body" sz="quarter" idx="13"/>
          </p:nvPr>
        </p:nvSpPr>
        <p:spPr>
          <a:xfrm>
            <a:off x="3890562" y="124658"/>
            <a:ext cx="2762295" cy="313932"/>
          </a:xfrm>
        </p:spPr>
        <p:txBody>
          <a:bodyPr/>
          <a:lstStyle/>
          <a:p>
            <a:r>
              <a:rPr lang="en-US" altLang="zh-TW" dirty="0"/>
              <a:t>- </a:t>
            </a:r>
            <a:r>
              <a:rPr lang="zh-TW" altLang="en-US" dirty="0"/>
              <a:t>核心功能 </a:t>
            </a:r>
            <a:r>
              <a:rPr lang="en-US" altLang="zh-TW" dirty="0"/>
              <a:t>-</a:t>
            </a:r>
            <a:r>
              <a:rPr lang="zh-TW" altLang="en-US" dirty="0"/>
              <a:t> 上傳建築履歷 </a:t>
            </a:r>
            <a:r>
              <a:rPr lang="en-US" altLang="zh-TW" dirty="0"/>
              <a:t>- </a:t>
            </a:r>
            <a:endParaRPr lang="zh-TW" altLang="en-US" dirty="0"/>
          </a:p>
        </p:txBody>
      </p:sp>
      <p:sp>
        <p:nvSpPr>
          <p:cNvPr id="3" name="投影片編號版面配置區 2">
            <a:extLst>
              <a:ext uri="{FF2B5EF4-FFF2-40B4-BE49-F238E27FC236}">
                <a16:creationId xmlns:a16="http://schemas.microsoft.com/office/drawing/2014/main" id="{9001B789-00E1-4539-8BA5-B1207AE517DD}"/>
              </a:ext>
            </a:extLst>
          </p:cNvPr>
          <p:cNvSpPr>
            <a:spLocks noGrp="1"/>
          </p:cNvSpPr>
          <p:nvPr>
            <p:ph type="sldNum" sz="quarter" idx="12"/>
          </p:nvPr>
        </p:nvSpPr>
        <p:spPr/>
        <p:txBody>
          <a:bodyPr/>
          <a:lstStyle/>
          <a:p>
            <a:fld id="{87F2EC76-4ACB-421A-B9EA-F72429D0FACA}" type="slidenum">
              <a:rPr lang="zh-TW" altLang="en-US" smtClean="0"/>
              <a:pPr/>
              <a:t>11</a:t>
            </a:fld>
            <a:endParaRPr lang="zh-TW" altLang="en-US" dirty="0"/>
          </a:p>
        </p:txBody>
      </p:sp>
      <p:sp>
        <p:nvSpPr>
          <p:cNvPr id="14" name="文字方塊 13">
            <a:extLst>
              <a:ext uri="{FF2B5EF4-FFF2-40B4-BE49-F238E27FC236}">
                <a16:creationId xmlns:a16="http://schemas.microsoft.com/office/drawing/2014/main" id="{6CD6671D-9967-46A1-969B-C43FEA93B163}"/>
              </a:ext>
            </a:extLst>
          </p:cNvPr>
          <p:cNvSpPr txBox="1"/>
          <p:nvPr/>
        </p:nvSpPr>
        <p:spPr>
          <a:xfrm>
            <a:off x="2448607" y="4674945"/>
            <a:ext cx="1960793" cy="400110"/>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3-2-1 </a:t>
            </a:r>
            <a:r>
              <a:rPr lang="zh-TW" altLang="en-US" sz="1000" dirty="0">
                <a:solidFill>
                  <a:srgbClr val="4E6071"/>
                </a:solidFill>
                <a:latin typeface="微軟正黑體" panose="020B0604030504040204" pitchFamily="34" charset="-120"/>
                <a:ea typeface="微軟正黑體" panose="020B0604030504040204" pitchFamily="34" charset="-120"/>
              </a:rPr>
              <a:t>上傳建築履歷操作介面</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pic>
        <p:nvPicPr>
          <p:cNvPr id="8" name="圖片 7">
            <a:extLst>
              <a:ext uri="{FF2B5EF4-FFF2-40B4-BE49-F238E27FC236}">
                <a16:creationId xmlns:a16="http://schemas.microsoft.com/office/drawing/2014/main" id="{6CAC0295-ADF3-4C4B-9397-81B1937FD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008" y="1761939"/>
            <a:ext cx="5767291" cy="2898760"/>
          </a:xfrm>
          <a:prstGeom prst="roundRect">
            <a:avLst>
              <a:gd name="adj" fmla="val 1899"/>
            </a:avLst>
          </a:prstGeom>
          <a:ln w="6350">
            <a:solidFill>
              <a:srgbClr val="007F4C"/>
            </a:solidFill>
          </a:ln>
          <a:effectLst/>
        </p:spPr>
      </p:pic>
      <p:sp>
        <p:nvSpPr>
          <p:cNvPr id="10" name="矩形 9">
            <a:extLst>
              <a:ext uri="{FF2B5EF4-FFF2-40B4-BE49-F238E27FC236}">
                <a16:creationId xmlns:a16="http://schemas.microsoft.com/office/drawing/2014/main" id="{BE6753A9-E81E-4591-8584-7CE77942FB30}"/>
              </a:ext>
            </a:extLst>
          </p:cNvPr>
          <p:cNvSpPr/>
          <p:nvPr/>
        </p:nvSpPr>
        <p:spPr>
          <a:xfrm>
            <a:off x="5397500" y="3037635"/>
            <a:ext cx="838200" cy="1841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版面配置區 1">
            <a:extLst>
              <a:ext uri="{FF2B5EF4-FFF2-40B4-BE49-F238E27FC236}">
                <a16:creationId xmlns:a16="http://schemas.microsoft.com/office/drawing/2014/main" id="{6F06B970-7803-436E-9458-1F9A187A220A}"/>
              </a:ext>
            </a:extLst>
          </p:cNvPr>
          <p:cNvSpPr txBox="1">
            <a:spLocks/>
          </p:cNvSpPr>
          <p:nvPr/>
        </p:nvSpPr>
        <p:spPr>
          <a:xfrm>
            <a:off x="271172" y="766455"/>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3 ‧ 2</a:t>
            </a:r>
            <a:r>
              <a:rPr lang="zh-TW" altLang="en-US" dirty="0"/>
              <a:t> 進入上傳建築履歷頁面</a:t>
            </a:r>
          </a:p>
        </p:txBody>
      </p:sp>
      <p:pic>
        <p:nvPicPr>
          <p:cNvPr id="27" name="圖片 26">
            <a:extLst>
              <a:ext uri="{FF2B5EF4-FFF2-40B4-BE49-F238E27FC236}">
                <a16:creationId xmlns:a16="http://schemas.microsoft.com/office/drawing/2014/main" id="{E8BF5286-9787-419C-81AA-EE39DDD15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771" y="5605605"/>
            <a:ext cx="2250439" cy="572964"/>
          </a:xfrm>
          <a:prstGeom prst="roundRect">
            <a:avLst>
              <a:gd name="adj" fmla="val 1899"/>
            </a:avLst>
          </a:prstGeom>
          <a:ln w="6350">
            <a:solidFill>
              <a:srgbClr val="007F4C"/>
            </a:solidFill>
          </a:ln>
          <a:effectLst/>
        </p:spPr>
      </p:pic>
      <p:sp>
        <p:nvSpPr>
          <p:cNvPr id="28" name="文字版面配置區 5">
            <a:extLst>
              <a:ext uri="{FF2B5EF4-FFF2-40B4-BE49-F238E27FC236}">
                <a16:creationId xmlns:a16="http://schemas.microsoft.com/office/drawing/2014/main" id="{17C76DCA-2472-428D-8580-6CD57F823DB5}"/>
              </a:ext>
            </a:extLst>
          </p:cNvPr>
          <p:cNvSpPr txBox="1">
            <a:spLocks/>
          </p:cNvSpPr>
          <p:nvPr/>
        </p:nvSpPr>
        <p:spPr>
          <a:xfrm>
            <a:off x="3031523" y="5449589"/>
            <a:ext cx="3387089" cy="1925014"/>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首先要先去</a:t>
            </a:r>
            <a:r>
              <a:rPr lang="zh-TW" altLang="en-US" b="1" dirty="0">
                <a:hlinkClick r:id="rId4"/>
              </a:rPr>
              <a:t>文檔編碼系統</a:t>
            </a:r>
            <a:r>
              <a:rPr lang="zh-TW" altLang="en-US" dirty="0"/>
              <a:t>複製該專案裡所需要的編碼後貼到</a:t>
            </a:r>
            <a:r>
              <a:rPr lang="zh-TW" altLang="en-US" b="1" dirty="0"/>
              <a:t>文檔編碼</a:t>
            </a:r>
            <a:r>
              <a:rPr lang="zh-TW" altLang="en-US" dirty="0"/>
              <a:t>。</a:t>
            </a:r>
            <a:endParaRPr lang="en-US" altLang="zh-TW" dirty="0"/>
          </a:p>
          <a:p>
            <a:r>
              <a:rPr lang="en-US" altLang="zh-TW" b="1" i="1" dirty="0"/>
              <a:t>【</a:t>
            </a:r>
            <a:r>
              <a:rPr lang="zh-TW" altLang="en-US" b="1" i="1" dirty="0"/>
              <a:t>注意</a:t>
            </a:r>
            <a:r>
              <a:rPr lang="en-US" altLang="zh-TW" b="1" i="1" dirty="0"/>
              <a:t>】</a:t>
            </a:r>
            <a:r>
              <a:rPr lang="zh-TW" altLang="en-US" b="1" i="1" dirty="0"/>
              <a:t> 上傳時</a:t>
            </a:r>
            <a:r>
              <a:rPr lang="zh-TW" altLang="en-US" i="1" dirty="0"/>
              <a:t>系統會去偵測是否有該編碼，所以務必要從文檔編碼中複製編碼。</a:t>
            </a:r>
            <a:endParaRPr lang="en-US" altLang="zh-TW" i="1" dirty="0"/>
          </a:p>
          <a:p>
            <a:endParaRPr lang="en-US" altLang="zh-TW" i="1" dirty="0"/>
          </a:p>
        </p:txBody>
      </p:sp>
      <p:pic>
        <p:nvPicPr>
          <p:cNvPr id="29" name="圖片 28">
            <a:extLst>
              <a:ext uri="{FF2B5EF4-FFF2-40B4-BE49-F238E27FC236}">
                <a16:creationId xmlns:a16="http://schemas.microsoft.com/office/drawing/2014/main" id="{1E360F86-5C03-4D2E-883B-AD894DE9A3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008" y="8086329"/>
            <a:ext cx="5767291" cy="568951"/>
          </a:xfrm>
          <a:prstGeom prst="roundRect">
            <a:avLst>
              <a:gd name="adj" fmla="val 1899"/>
            </a:avLst>
          </a:prstGeom>
          <a:ln w="6350">
            <a:solidFill>
              <a:srgbClr val="007F4C"/>
            </a:solidFill>
          </a:ln>
          <a:effectLst/>
        </p:spPr>
      </p:pic>
      <p:sp>
        <p:nvSpPr>
          <p:cNvPr id="30" name="文字方塊 29">
            <a:extLst>
              <a:ext uri="{FF2B5EF4-FFF2-40B4-BE49-F238E27FC236}">
                <a16:creationId xmlns:a16="http://schemas.microsoft.com/office/drawing/2014/main" id="{0870A157-1A58-4423-9212-51957C98D43E}"/>
              </a:ext>
            </a:extLst>
          </p:cNvPr>
          <p:cNvSpPr txBox="1"/>
          <p:nvPr/>
        </p:nvSpPr>
        <p:spPr>
          <a:xfrm>
            <a:off x="407868" y="6186424"/>
            <a:ext cx="2520242" cy="246221"/>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3-2-2 Excel</a:t>
            </a:r>
            <a:r>
              <a:rPr lang="zh-TW" altLang="en-US" sz="1000" dirty="0">
                <a:solidFill>
                  <a:srgbClr val="4E6071"/>
                </a:solidFill>
                <a:latin typeface="微軟正黑體" panose="020B0604030504040204" pitchFamily="34" charset="-120"/>
                <a:ea typeface="微軟正黑體" panose="020B0604030504040204" pitchFamily="34" charset="-120"/>
              </a:rPr>
              <a:t>檔案中第一頁「文檔編碼」</a:t>
            </a:r>
          </a:p>
        </p:txBody>
      </p:sp>
      <p:sp>
        <p:nvSpPr>
          <p:cNvPr id="31" name="文字方塊 30">
            <a:extLst>
              <a:ext uri="{FF2B5EF4-FFF2-40B4-BE49-F238E27FC236}">
                <a16:creationId xmlns:a16="http://schemas.microsoft.com/office/drawing/2014/main" id="{75C8E184-DBA1-4750-8143-B0C5A9D943A2}"/>
              </a:ext>
            </a:extLst>
          </p:cNvPr>
          <p:cNvSpPr txBox="1"/>
          <p:nvPr/>
        </p:nvSpPr>
        <p:spPr>
          <a:xfrm>
            <a:off x="2039292" y="8655280"/>
            <a:ext cx="2776722" cy="246221"/>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3-2-3 Excel</a:t>
            </a:r>
            <a:r>
              <a:rPr lang="zh-TW" altLang="en-US" sz="1000" dirty="0">
                <a:solidFill>
                  <a:srgbClr val="4E6071"/>
                </a:solidFill>
                <a:latin typeface="微軟正黑體" panose="020B0604030504040204" pitchFamily="34" charset="-120"/>
                <a:ea typeface="微軟正黑體" panose="020B0604030504040204" pitchFamily="34" charset="-120"/>
              </a:rPr>
              <a:t>檔案中第二頁「智慧建築履歷」</a:t>
            </a:r>
          </a:p>
        </p:txBody>
      </p:sp>
      <p:sp>
        <p:nvSpPr>
          <p:cNvPr id="32" name="文字版面配置區 5">
            <a:extLst>
              <a:ext uri="{FF2B5EF4-FFF2-40B4-BE49-F238E27FC236}">
                <a16:creationId xmlns:a16="http://schemas.microsoft.com/office/drawing/2014/main" id="{F34DCABB-267B-4966-8515-D493BE856530}"/>
              </a:ext>
            </a:extLst>
          </p:cNvPr>
          <p:cNvSpPr txBox="1">
            <a:spLocks/>
          </p:cNvSpPr>
          <p:nvPr/>
        </p:nvSpPr>
        <p:spPr>
          <a:xfrm>
            <a:off x="269933" y="7374603"/>
            <a:ext cx="6148679" cy="699038"/>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在到第二頁</a:t>
            </a:r>
            <a:r>
              <a:rPr lang="zh-TW" altLang="en-US" b="1" dirty="0"/>
              <a:t>智慧建築履歷</a:t>
            </a:r>
            <a:r>
              <a:rPr lang="zh-TW" altLang="en-US" dirty="0"/>
              <a:t>，即可開始填寫設備的基本資訊。另外如</a:t>
            </a:r>
            <a:r>
              <a:rPr lang="zh-TW" altLang="en-US" b="1" dirty="0"/>
              <a:t>照片、</a:t>
            </a:r>
            <a:r>
              <a:rPr lang="en-US" altLang="zh-TW" b="1" dirty="0"/>
              <a:t> CAD</a:t>
            </a:r>
            <a:r>
              <a:rPr lang="zh-TW" altLang="en-US" b="1" dirty="0"/>
              <a:t>圖交付、</a:t>
            </a:r>
            <a:r>
              <a:rPr lang="en-US" altLang="zh-TW" b="1" dirty="0"/>
              <a:t> 3D BIM</a:t>
            </a:r>
            <a:r>
              <a:rPr lang="zh-TW" altLang="en-US" b="1" dirty="0"/>
              <a:t>模型等</a:t>
            </a:r>
            <a:r>
              <a:rPr lang="zh-TW" altLang="en-US" dirty="0"/>
              <a:t>檔案上傳部分，請到建築履歷系統上操作。</a:t>
            </a:r>
            <a:endParaRPr lang="en-US" altLang="zh-TW" dirty="0"/>
          </a:p>
        </p:txBody>
      </p:sp>
      <p:sp>
        <p:nvSpPr>
          <p:cNvPr id="33" name="文字版面配置區 2">
            <a:extLst>
              <a:ext uri="{FF2B5EF4-FFF2-40B4-BE49-F238E27FC236}">
                <a16:creationId xmlns:a16="http://schemas.microsoft.com/office/drawing/2014/main" id="{7F53E7F2-5475-43CE-B4A6-95182DDEE818}"/>
              </a:ext>
            </a:extLst>
          </p:cNvPr>
          <p:cNvSpPr txBox="1">
            <a:spLocks/>
          </p:cNvSpPr>
          <p:nvPr/>
        </p:nvSpPr>
        <p:spPr>
          <a:xfrm>
            <a:off x="271172" y="5075055"/>
            <a:ext cx="6315657" cy="375872"/>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b="1" dirty="0"/>
              <a:t>開啟</a:t>
            </a:r>
            <a:r>
              <a:rPr lang="en-US" altLang="zh-TW" b="1" dirty="0"/>
              <a:t>Excel</a:t>
            </a:r>
            <a:r>
              <a:rPr lang="zh-TW" altLang="en-US" b="1" dirty="0"/>
              <a:t>：修改「文檔編碼」與「智慧建築履歷」</a:t>
            </a:r>
            <a:endParaRPr lang="en-US" altLang="zh-TW" b="1" dirty="0"/>
          </a:p>
        </p:txBody>
      </p:sp>
    </p:spTree>
    <p:extLst>
      <p:ext uri="{BB962C8B-B14F-4D97-AF65-F5344CB8AC3E}">
        <p14:creationId xmlns:p14="http://schemas.microsoft.com/office/powerpoint/2010/main" val="2193289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69732E96-1294-4858-B720-DD67391E85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492" y="4007466"/>
            <a:ext cx="5843016" cy="3094961"/>
          </a:xfrm>
          <a:prstGeom prst="roundRect">
            <a:avLst>
              <a:gd name="adj" fmla="val 1899"/>
            </a:avLst>
          </a:prstGeom>
          <a:ln w="6350">
            <a:solidFill>
              <a:srgbClr val="006CD2"/>
            </a:solidFill>
          </a:ln>
          <a:effectLst/>
        </p:spPr>
      </p:pic>
      <p:sp>
        <p:nvSpPr>
          <p:cNvPr id="4" name="文字版面配置區 3">
            <a:extLst>
              <a:ext uri="{FF2B5EF4-FFF2-40B4-BE49-F238E27FC236}">
                <a16:creationId xmlns:a16="http://schemas.microsoft.com/office/drawing/2014/main" id="{3CB84D1E-DEED-4E22-82BF-4D185BEC8C5B}"/>
              </a:ext>
            </a:extLst>
          </p:cNvPr>
          <p:cNvSpPr>
            <a:spLocks noGrp="1"/>
          </p:cNvSpPr>
          <p:nvPr>
            <p:ph type="body" sz="quarter" idx="13"/>
          </p:nvPr>
        </p:nvSpPr>
        <p:spPr>
          <a:xfrm>
            <a:off x="3890562" y="124658"/>
            <a:ext cx="2762295" cy="313932"/>
          </a:xfrm>
        </p:spPr>
        <p:txBody>
          <a:bodyPr/>
          <a:lstStyle/>
          <a:p>
            <a:r>
              <a:rPr lang="en-US" altLang="zh-TW" dirty="0"/>
              <a:t>- </a:t>
            </a:r>
            <a:r>
              <a:rPr lang="zh-TW" altLang="en-US" dirty="0"/>
              <a:t>核心功能 </a:t>
            </a:r>
            <a:r>
              <a:rPr lang="en-US" altLang="zh-TW" dirty="0"/>
              <a:t>-</a:t>
            </a:r>
            <a:r>
              <a:rPr lang="zh-TW" altLang="en-US" dirty="0"/>
              <a:t> 上傳建築履歷 </a:t>
            </a:r>
            <a:r>
              <a:rPr lang="en-US" altLang="zh-TW" dirty="0"/>
              <a:t>- </a:t>
            </a:r>
            <a:endParaRPr lang="zh-TW" altLang="en-US" dirty="0"/>
          </a:p>
        </p:txBody>
      </p:sp>
      <p:sp>
        <p:nvSpPr>
          <p:cNvPr id="5" name="投影片編號版面配置區 4">
            <a:extLst>
              <a:ext uri="{FF2B5EF4-FFF2-40B4-BE49-F238E27FC236}">
                <a16:creationId xmlns:a16="http://schemas.microsoft.com/office/drawing/2014/main" id="{F08DCF50-30E8-49DD-AD2A-D952930BBE65}"/>
              </a:ext>
            </a:extLst>
          </p:cNvPr>
          <p:cNvSpPr>
            <a:spLocks noGrp="1"/>
          </p:cNvSpPr>
          <p:nvPr>
            <p:ph type="sldNum" sz="quarter" idx="12"/>
          </p:nvPr>
        </p:nvSpPr>
        <p:spPr/>
        <p:txBody>
          <a:bodyPr/>
          <a:lstStyle/>
          <a:p>
            <a:fld id="{87F2EC76-4ACB-421A-B9EA-F72429D0FACA}" type="slidenum">
              <a:rPr lang="zh-TW" altLang="en-US" smtClean="0"/>
              <a:pPr/>
              <a:t>12</a:t>
            </a:fld>
            <a:endParaRPr lang="zh-TW" altLang="en-US" dirty="0"/>
          </a:p>
        </p:txBody>
      </p:sp>
      <p:sp>
        <p:nvSpPr>
          <p:cNvPr id="7" name="文字版面配置區 6">
            <a:extLst>
              <a:ext uri="{FF2B5EF4-FFF2-40B4-BE49-F238E27FC236}">
                <a16:creationId xmlns:a16="http://schemas.microsoft.com/office/drawing/2014/main" id="{39B071EF-0812-4BE3-B6FB-F055A2EF7097}"/>
              </a:ext>
            </a:extLst>
          </p:cNvPr>
          <p:cNvSpPr>
            <a:spLocks noGrp="1"/>
          </p:cNvSpPr>
          <p:nvPr>
            <p:ph type="body" sz="quarter" idx="17"/>
          </p:nvPr>
        </p:nvSpPr>
        <p:spPr>
          <a:xfrm>
            <a:off x="271172" y="1051400"/>
            <a:ext cx="6315657" cy="2956066"/>
          </a:xfrm>
        </p:spPr>
        <p:txBody>
          <a:bodyPr/>
          <a:lstStyle/>
          <a:p>
            <a:r>
              <a:rPr lang="zh-TW" altLang="en-US" dirty="0"/>
              <a:t>使用者需根據文件性質，依序於</a:t>
            </a:r>
            <a:r>
              <a:rPr lang="en-US" altLang="zh-TW" dirty="0"/>
              <a:t>1.</a:t>
            </a:r>
            <a:r>
              <a:rPr lang="zh-TW" altLang="en-US" dirty="0"/>
              <a:t>欄位選擇對應項目：</a:t>
            </a:r>
            <a:endParaRPr lang="en-US" altLang="zh-TW" dirty="0"/>
          </a:p>
          <a:p>
            <a:pPr marL="285750" indent="-285750">
              <a:buFont typeface="Arial" panose="020B0604020202020204" pitchFamily="34" charset="0"/>
              <a:buChar char="•"/>
            </a:pPr>
            <a:r>
              <a:rPr lang="zh-TW" altLang="en-US" dirty="0"/>
              <a:t>階段</a:t>
            </a:r>
            <a:endParaRPr lang="en-US" altLang="zh-TW" dirty="0"/>
          </a:p>
          <a:p>
            <a:pPr marL="285750" indent="-285750">
              <a:buFont typeface="Arial" panose="020B0604020202020204" pitchFamily="34" charset="0"/>
              <a:buChar char="•"/>
            </a:pPr>
            <a:r>
              <a:rPr lang="zh-TW" altLang="en-US" dirty="0"/>
              <a:t>主項目</a:t>
            </a:r>
            <a:endParaRPr lang="en-US" altLang="zh-TW" dirty="0"/>
          </a:p>
          <a:p>
            <a:pPr marL="285750" indent="-285750">
              <a:buFont typeface="Arial" panose="020B0604020202020204" pitchFamily="34" charset="0"/>
              <a:buChar char="•"/>
            </a:pPr>
            <a:r>
              <a:rPr lang="zh-TW" altLang="en-US" dirty="0"/>
              <a:t>子項目</a:t>
            </a:r>
            <a:endParaRPr lang="en-US" altLang="zh-TW" dirty="0"/>
          </a:p>
          <a:p>
            <a:pPr marL="285750" indent="-285750">
              <a:buFont typeface="Arial" panose="020B0604020202020204" pitchFamily="34" charset="0"/>
              <a:buChar char="•"/>
            </a:pPr>
            <a:r>
              <a:rPr lang="zh-TW" altLang="en-US" dirty="0"/>
              <a:t>選擇審查者</a:t>
            </a:r>
            <a:endParaRPr lang="en-US" altLang="zh-TW" dirty="0"/>
          </a:p>
          <a:p>
            <a:r>
              <a:rPr lang="zh-TW" altLang="en-US" dirty="0"/>
              <a:t>點擊</a:t>
            </a:r>
            <a:r>
              <a:rPr lang="zh-TW" altLang="en-US" b="1" dirty="0"/>
              <a:t>「上傳建築履歷」</a:t>
            </a:r>
            <a:r>
              <a:rPr lang="zh-TW" altLang="en-US" dirty="0"/>
              <a:t>區塊，將準備好的</a:t>
            </a:r>
            <a:r>
              <a:rPr lang="en-US" altLang="zh-TW" dirty="0"/>
              <a:t>Excel</a:t>
            </a:r>
            <a:r>
              <a:rPr lang="zh-TW" altLang="en-US" dirty="0"/>
              <a:t>上傳，系統將於畫面下方顯示</a:t>
            </a:r>
            <a:r>
              <a:rPr lang="en-US" altLang="zh-TW" dirty="0"/>
              <a:t>2.</a:t>
            </a:r>
            <a:r>
              <a:rPr lang="zh-TW" altLang="en-US" dirty="0"/>
              <a:t>上傳資料預覽的完整內容。</a:t>
            </a:r>
            <a:endParaRPr lang="en-US" altLang="zh-TW" dirty="0"/>
          </a:p>
        </p:txBody>
      </p:sp>
      <p:sp>
        <p:nvSpPr>
          <p:cNvPr id="9" name="文字版面配置區 1">
            <a:extLst>
              <a:ext uri="{FF2B5EF4-FFF2-40B4-BE49-F238E27FC236}">
                <a16:creationId xmlns:a16="http://schemas.microsoft.com/office/drawing/2014/main" id="{96568F34-74AE-4D99-8E8A-528226194BA1}"/>
              </a:ext>
            </a:extLst>
          </p:cNvPr>
          <p:cNvSpPr txBox="1">
            <a:spLocks/>
          </p:cNvSpPr>
          <p:nvPr/>
        </p:nvSpPr>
        <p:spPr>
          <a:xfrm>
            <a:off x="271172" y="766455"/>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步驟一：選擇建築履歷屬性</a:t>
            </a:r>
          </a:p>
        </p:txBody>
      </p:sp>
      <p:sp>
        <p:nvSpPr>
          <p:cNvPr id="10" name="文字方塊 9">
            <a:extLst>
              <a:ext uri="{FF2B5EF4-FFF2-40B4-BE49-F238E27FC236}">
                <a16:creationId xmlns:a16="http://schemas.microsoft.com/office/drawing/2014/main" id="{AE7D1BB3-9EDF-4D6B-B23C-82BA7021D8C1}"/>
              </a:ext>
            </a:extLst>
          </p:cNvPr>
          <p:cNvSpPr txBox="1"/>
          <p:nvPr/>
        </p:nvSpPr>
        <p:spPr>
          <a:xfrm>
            <a:off x="1639907" y="7096666"/>
            <a:ext cx="3578224" cy="246221"/>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3-2-1  </a:t>
            </a:r>
            <a:r>
              <a:rPr lang="zh-TW" altLang="en-US" sz="1000" dirty="0">
                <a:solidFill>
                  <a:srgbClr val="4E6071"/>
                </a:solidFill>
                <a:latin typeface="微軟正黑體" panose="020B0604030504040204" pitchFamily="34" charset="-120"/>
                <a:ea typeface="微軟正黑體" panose="020B0604030504040204" pitchFamily="34" charset="-120"/>
              </a:rPr>
              <a:t>依文件性質選擇對應項目，並上傳</a:t>
            </a:r>
            <a:r>
              <a:rPr lang="en-US" altLang="zh-TW" sz="1000" dirty="0">
                <a:solidFill>
                  <a:srgbClr val="4E6071"/>
                </a:solidFill>
                <a:latin typeface="微軟正黑體" panose="020B0604030504040204" pitchFamily="34" charset="-120"/>
                <a:ea typeface="微軟正黑體" panose="020B0604030504040204" pitchFamily="34" charset="-120"/>
              </a:rPr>
              <a:t>Excel</a:t>
            </a:r>
            <a:r>
              <a:rPr lang="zh-TW" altLang="en-US" sz="1000" dirty="0">
                <a:solidFill>
                  <a:srgbClr val="4E6071"/>
                </a:solidFill>
                <a:latin typeface="微軟正黑體" panose="020B0604030504040204" pitchFamily="34" charset="-120"/>
                <a:ea typeface="微軟正黑體" panose="020B0604030504040204" pitchFamily="34" charset="-120"/>
              </a:rPr>
              <a:t>後顯示內容</a:t>
            </a:r>
            <a:endParaRPr lang="en-US" altLang="zh-TW" sz="1000" dirty="0">
              <a:solidFill>
                <a:srgbClr val="4E6071"/>
              </a:solidFill>
              <a:latin typeface="微軟正黑體" panose="020B0604030504040204" pitchFamily="34" charset="-120"/>
              <a:ea typeface="微軟正黑體" panose="020B0604030504040204" pitchFamily="34" charset="-120"/>
            </a:endParaRPr>
          </a:p>
        </p:txBody>
      </p:sp>
      <p:sp>
        <p:nvSpPr>
          <p:cNvPr id="11" name="橢圓 10">
            <a:extLst>
              <a:ext uri="{FF2B5EF4-FFF2-40B4-BE49-F238E27FC236}">
                <a16:creationId xmlns:a16="http://schemas.microsoft.com/office/drawing/2014/main" id="{782A8673-4404-4233-B1D6-3E25D4E5C28F}"/>
              </a:ext>
            </a:extLst>
          </p:cNvPr>
          <p:cNvSpPr/>
          <p:nvPr/>
        </p:nvSpPr>
        <p:spPr>
          <a:xfrm>
            <a:off x="383270" y="4007466"/>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1</a:t>
            </a:r>
            <a:endParaRPr lang="zh-TW" altLang="en-US" sz="1200" b="1" dirty="0"/>
          </a:p>
        </p:txBody>
      </p:sp>
      <p:sp>
        <p:nvSpPr>
          <p:cNvPr id="15" name="橢圓 14">
            <a:extLst>
              <a:ext uri="{FF2B5EF4-FFF2-40B4-BE49-F238E27FC236}">
                <a16:creationId xmlns:a16="http://schemas.microsoft.com/office/drawing/2014/main" id="{776D4822-B9C0-480C-8023-66CDE3C5683B}"/>
              </a:ext>
            </a:extLst>
          </p:cNvPr>
          <p:cNvSpPr/>
          <p:nvPr/>
        </p:nvSpPr>
        <p:spPr>
          <a:xfrm>
            <a:off x="383269" y="5554946"/>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2</a:t>
            </a:r>
            <a:endParaRPr lang="zh-TW" altLang="en-US" sz="1200" b="1" dirty="0"/>
          </a:p>
        </p:txBody>
      </p:sp>
    </p:spTree>
    <p:extLst>
      <p:ext uri="{BB962C8B-B14F-4D97-AF65-F5344CB8AC3E}">
        <p14:creationId xmlns:p14="http://schemas.microsoft.com/office/powerpoint/2010/main" val="1866010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69732E96-1294-4858-B720-DD67391E8548}"/>
              </a:ext>
            </a:extLst>
          </p:cNvPr>
          <p:cNvPicPr>
            <a:picLocks noChangeAspect="1"/>
          </p:cNvPicPr>
          <p:nvPr/>
        </p:nvPicPr>
        <p:blipFill rotWithShape="1">
          <a:blip r:embed="rId2">
            <a:extLst>
              <a:ext uri="{28A0092B-C50C-407E-A947-70E740481C1C}">
                <a14:useLocalDpi xmlns:a14="http://schemas.microsoft.com/office/drawing/2010/main" val="0"/>
              </a:ext>
            </a:extLst>
          </a:blip>
          <a:srcRect l="1" r="1"/>
          <a:stretch/>
        </p:blipFill>
        <p:spPr>
          <a:xfrm>
            <a:off x="1219260" y="3425997"/>
            <a:ext cx="4419540" cy="5650930"/>
          </a:xfrm>
          <a:prstGeom prst="roundRect">
            <a:avLst>
              <a:gd name="adj" fmla="val 1899"/>
            </a:avLst>
          </a:prstGeom>
          <a:ln w="6350">
            <a:solidFill>
              <a:srgbClr val="007F4C"/>
            </a:solidFill>
          </a:ln>
          <a:effectLst/>
        </p:spPr>
      </p:pic>
      <p:sp>
        <p:nvSpPr>
          <p:cNvPr id="2" name="文字版面配置區 1">
            <a:extLst>
              <a:ext uri="{FF2B5EF4-FFF2-40B4-BE49-F238E27FC236}">
                <a16:creationId xmlns:a16="http://schemas.microsoft.com/office/drawing/2014/main" id="{30797615-B803-408D-A075-900316D22E5C}"/>
              </a:ext>
            </a:extLst>
          </p:cNvPr>
          <p:cNvSpPr>
            <a:spLocks noGrp="1"/>
          </p:cNvSpPr>
          <p:nvPr>
            <p:ph type="body" sz="quarter" idx="16"/>
          </p:nvPr>
        </p:nvSpPr>
        <p:spPr>
          <a:xfrm>
            <a:off x="271172" y="766455"/>
            <a:ext cx="6315657" cy="286232"/>
          </a:xfrm>
        </p:spPr>
        <p:txBody>
          <a:bodyPr/>
          <a:lstStyle/>
          <a:p>
            <a:r>
              <a:rPr lang="zh-TW" altLang="en-US" dirty="0"/>
              <a:t>步驟二：確認上傳資料內容是否正確</a:t>
            </a:r>
          </a:p>
        </p:txBody>
      </p:sp>
      <p:sp>
        <p:nvSpPr>
          <p:cNvPr id="4" name="文字版面配置區 3">
            <a:extLst>
              <a:ext uri="{FF2B5EF4-FFF2-40B4-BE49-F238E27FC236}">
                <a16:creationId xmlns:a16="http://schemas.microsoft.com/office/drawing/2014/main" id="{3CB84D1E-DEED-4E22-82BF-4D185BEC8C5B}"/>
              </a:ext>
            </a:extLst>
          </p:cNvPr>
          <p:cNvSpPr>
            <a:spLocks noGrp="1"/>
          </p:cNvSpPr>
          <p:nvPr>
            <p:ph type="body" sz="quarter" idx="13"/>
          </p:nvPr>
        </p:nvSpPr>
        <p:spPr>
          <a:xfrm>
            <a:off x="3890562" y="124658"/>
            <a:ext cx="2762295" cy="313932"/>
          </a:xfrm>
        </p:spPr>
        <p:txBody>
          <a:bodyPr/>
          <a:lstStyle/>
          <a:p>
            <a:r>
              <a:rPr lang="en-US" altLang="zh-TW" dirty="0"/>
              <a:t>- </a:t>
            </a:r>
            <a:r>
              <a:rPr lang="zh-TW" altLang="en-US" dirty="0"/>
              <a:t>核心功能 </a:t>
            </a:r>
            <a:r>
              <a:rPr lang="en-US" altLang="zh-TW" dirty="0"/>
              <a:t>-</a:t>
            </a:r>
            <a:r>
              <a:rPr lang="zh-TW" altLang="en-US" dirty="0"/>
              <a:t> 上傳建築履歷 </a:t>
            </a:r>
            <a:r>
              <a:rPr lang="en-US" altLang="zh-TW" dirty="0"/>
              <a:t>- </a:t>
            </a:r>
            <a:endParaRPr lang="zh-TW" altLang="en-US" dirty="0"/>
          </a:p>
        </p:txBody>
      </p:sp>
      <p:sp>
        <p:nvSpPr>
          <p:cNvPr id="5" name="投影片編號版面配置區 4">
            <a:extLst>
              <a:ext uri="{FF2B5EF4-FFF2-40B4-BE49-F238E27FC236}">
                <a16:creationId xmlns:a16="http://schemas.microsoft.com/office/drawing/2014/main" id="{F08DCF50-30E8-49DD-AD2A-D952930BBE65}"/>
              </a:ext>
            </a:extLst>
          </p:cNvPr>
          <p:cNvSpPr>
            <a:spLocks noGrp="1"/>
          </p:cNvSpPr>
          <p:nvPr>
            <p:ph type="sldNum" sz="quarter" idx="12"/>
          </p:nvPr>
        </p:nvSpPr>
        <p:spPr/>
        <p:txBody>
          <a:bodyPr/>
          <a:lstStyle/>
          <a:p>
            <a:fld id="{87F2EC76-4ACB-421A-B9EA-F72429D0FACA}" type="slidenum">
              <a:rPr lang="zh-TW" altLang="en-US" smtClean="0"/>
              <a:pPr/>
              <a:t>13</a:t>
            </a:fld>
            <a:endParaRPr lang="zh-TW" altLang="en-US" dirty="0"/>
          </a:p>
        </p:txBody>
      </p:sp>
      <p:sp>
        <p:nvSpPr>
          <p:cNvPr id="7" name="文字版面配置區 6">
            <a:extLst>
              <a:ext uri="{FF2B5EF4-FFF2-40B4-BE49-F238E27FC236}">
                <a16:creationId xmlns:a16="http://schemas.microsoft.com/office/drawing/2014/main" id="{39B071EF-0812-4BE3-B6FB-F055A2EF7097}"/>
              </a:ext>
            </a:extLst>
          </p:cNvPr>
          <p:cNvSpPr>
            <a:spLocks noGrp="1"/>
          </p:cNvSpPr>
          <p:nvPr>
            <p:ph type="body" sz="quarter" idx="17"/>
          </p:nvPr>
        </p:nvSpPr>
        <p:spPr>
          <a:xfrm>
            <a:off x="271172" y="1049577"/>
            <a:ext cx="6315657" cy="2376420"/>
          </a:xfrm>
        </p:spPr>
        <p:txBody>
          <a:bodyPr/>
          <a:lstStyle/>
          <a:p>
            <a:r>
              <a:rPr lang="zh-TW" altLang="en-US" dirty="0"/>
              <a:t>於</a:t>
            </a:r>
            <a:r>
              <a:rPr lang="zh-TW" altLang="en-US" b="1" dirty="0"/>
              <a:t>灰色區塊為頁籤</a:t>
            </a:r>
            <a:r>
              <a:rPr lang="zh-TW" altLang="en-US" dirty="0"/>
              <a:t>，如檔案中設備筆數有兩筆或以上，則可於此頁籤中切換並檢視與修改其內容。其他須注意的地方為：</a:t>
            </a:r>
            <a:endParaRPr lang="en-US" altLang="zh-TW" dirty="0"/>
          </a:p>
          <a:p>
            <a:pPr marL="342900" indent="-342900">
              <a:buFont typeface="+mj-lt"/>
              <a:buAutoNum type="alphaLcPeriod"/>
            </a:pPr>
            <a:r>
              <a:rPr lang="zh-TW" altLang="en-US" b="1" dirty="0"/>
              <a:t>照片、圖檔等</a:t>
            </a:r>
            <a:r>
              <a:rPr lang="zh-TW" altLang="en-US" dirty="0"/>
              <a:t>：在此檔案上傳區塊點擊並將各檔案上傳。</a:t>
            </a:r>
            <a:endParaRPr lang="en-US" altLang="zh-TW" b="1" dirty="0"/>
          </a:p>
          <a:p>
            <a:pPr marL="342900" indent="-342900">
              <a:buFont typeface="+mj-lt"/>
              <a:buAutoNum type="alphaLcPeriod"/>
            </a:pPr>
            <a:r>
              <a:rPr lang="zh-TW" altLang="en-US" b="1" dirty="0"/>
              <a:t>數量</a:t>
            </a:r>
            <a:r>
              <a:rPr lang="zh-TW" altLang="en-US" dirty="0"/>
              <a:t>：數字需與下方</a:t>
            </a:r>
            <a:r>
              <a:rPr lang="zh-TW" altLang="en-US" b="1" dirty="0"/>
              <a:t>「安裝位置」</a:t>
            </a:r>
            <a:r>
              <a:rPr lang="zh-TW" altLang="en-US" dirty="0"/>
              <a:t>筆數相同。</a:t>
            </a:r>
            <a:endParaRPr lang="en-US" altLang="zh-TW" dirty="0"/>
          </a:p>
          <a:p>
            <a:r>
              <a:rPr lang="zh-TW" altLang="en-US" dirty="0"/>
              <a:t>完成所有欄位填寫後，點擊</a:t>
            </a:r>
            <a:r>
              <a:rPr lang="zh-TW" altLang="en-US" b="1" dirty="0"/>
              <a:t>「上傳並儲存」</a:t>
            </a:r>
            <a:r>
              <a:rPr lang="zh-TW" altLang="en-US" dirty="0"/>
              <a:t>按鈕，系統將把整筆資料送出給審查者審核。</a:t>
            </a:r>
            <a:endParaRPr lang="en-US" altLang="zh-TW" dirty="0"/>
          </a:p>
        </p:txBody>
      </p:sp>
      <p:sp>
        <p:nvSpPr>
          <p:cNvPr id="10" name="文字方塊 9">
            <a:extLst>
              <a:ext uri="{FF2B5EF4-FFF2-40B4-BE49-F238E27FC236}">
                <a16:creationId xmlns:a16="http://schemas.microsoft.com/office/drawing/2014/main" id="{AE7D1BB3-9EDF-4D6B-B23C-82BA7021D8C1}"/>
              </a:ext>
            </a:extLst>
          </p:cNvPr>
          <p:cNvSpPr txBox="1"/>
          <p:nvPr/>
        </p:nvSpPr>
        <p:spPr>
          <a:xfrm>
            <a:off x="2560835" y="9080022"/>
            <a:ext cx="1736373" cy="246221"/>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3-2-2  </a:t>
            </a:r>
            <a:r>
              <a:rPr lang="zh-TW" altLang="en-US" sz="1000" dirty="0">
                <a:solidFill>
                  <a:srgbClr val="4E6071"/>
                </a:solidFill>
                <a:latin typeface="微軟正黑體" panose="020B0604030504040204" pitchFamily="34" charset="-120"/>
                <a:ea typeface="微軟正黑體" panose="020B0604030504040204" pitchFamily="34" charset="-120"/>
              </a:rPr>
              <a:t>確認所有上傳內容</a:t>
            </a:r>
            <a:endParaRPr lang="en-US" altLang="zh-TW" sz="1000" dirty="0">
              <a:solidFill>
                <a:srgbClr val="4E6071"/>
              </a:solidFill>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4A6A6708-766C-4CA5-809F-89BE17986FCA}"/>
              </a:ext>
            </a:extLst>
          </p:cNvPr>
          <p:cNvSpPr/>
          <p:nvPr/>
        </p:nvSpPr>
        <p:spPr>
          <a:xfrm>
            <a:off x="1292860" y="3519312"/>
            <a:ext cx="4288789" cy="1500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3A7E051E-23EE-4055-916D-AF13B5E4DD06}"/>
              </a:ext>
            </a:extLst>
          </p:cNvPr>
          <p:cNvSpPr/>
          <p:nvPr/>
        </p:nvSpPr>
        <p:spPr>
          <a:xfrm>
            <a:off x="4516087" y="5368015"/>
            <a:ext cx="1065562" cy="1836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2F5F4650-92C7-4CA0-80A8-FDBEB2201D2C}"/>
              </a:ext>
            </a:extLst>
          </p:cNvPr>
          <p:cNvSpPr/>
          <p:nvPr/>
        </p:nvSpPr>
        <p:spPr>
          <a:xfrm>
            <a:off x="1292860" y="8330386"/>
            <a:ext cx="4288789" cy="3955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E2BDACC3-00C2-4987-8C5C-39B9FC454744}"/>
              </a:ext>
            </a:extLst>
          </p:cNvPr>
          <p:cNvSpPr/>
          <p:nvPr/>
        </p:nvSpPr>
        <p:spPr>
          <a:xfrm>
            <a:off x="3221830" y="8852119"/>
            <a:ext cx="454183" cy="1683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61F9D27B-08B2-4BCE-9D6D-539C30DA1653}"/>
              </a:ext>
            </a:extLst>
          </p:cNvPr>
          <p:cNvSpPr/>
          <p:nvPr/>
        </p:nvSpPr>
        <p:spPr>
          <a:xfrm>
            <a:off x="1292859" y="4139150"/>
            <a:ext cx="4288789" cy="10424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a:extLst>
              <a:ext uri="{FF2B5EF4-FFF2-40B4-BE49-F238E27FC236}">
                <a16:creationId xmlns:a16="http://schemas.microsoft.com/office/drawing/2014/main" id="{692BE475-00F8-447A-9C81-958ED995B7F4}"/>
              </a:ext>
            </a:extLst>
          </p:cNvPr>
          <p:cNvSpPr/>
          <p:nvPr/>
        </p:nvSpPr>
        <p:spPr>
          <a:xfrm>
            <a:off x="4344700" y="5211418"/>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b</a:t>
            </a:r>
            <a:endParaRPr lang="zh-TW" altLang="en-US" sz="1200" b="1" dirty="0"/>
          </a:p>
        </p:txBody>
      </p:sp>
      <p:sp>
        <p:nvSpPr>
          <p:cNvPr id="17" name="橢圓 16">
            <a:extLst>
              <a:ext uri="{FF2B5EF4-FFF2-40B4-BE49-F238E27FC236}">
                <a16:creationId xmlns:a16="http://schemas.microsoft.com/office/drawing/2014/main" id="{9C02B148-9677-4B97-96BC-ECE91B21C74C}"/>
              </a:ext>
            </a:extLst>
          </p:cNvPr>
          <p:cNvSpPr/>
          <p:nvPr/>
        </p:nvSpPr>
        <p:spPr>
          <a:xfrm>
            <a:off x="1131838" y="3985110"/>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a</a:t>
            </a:r>
            <a:endParaRPr lang="zh-TW" altLang="en-US" sz="1200" b="1" dirty="0"/>
          </a:p>
        </p:txBody>
      </p:sp>
      <p:sp>
        <p:nvSpPr>
          <p:cNvPr id="18" name="橢圓 17">
            <a:extLst>
              <a:ext uri="{FF2B5EF4-FFF2-40B4-BE49-F238E27FC236}">
                <a16:creationId xmlns:a16="http://schemas.microsoft.com/office/drawing/2014/main" id="{3F8A2B94-9B5A-4604-BAC8-BD143EF17A33}"/>
              </a:ext>
            </a:extLst>
          </p:cNvPr>
          <p:cNvSpPr/>
          <p:nvPr/>
        </p:nvSpPr>
        <p:spPr>
          <a:xfrm>
            <a:off x="1152129" y="8170903"/>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b</a:t>
            </a:r>
            <a:endParaRPr lang="zh-TW" altLang="en-US" sz="1200" b="1" dirty="0"/>
          </a:p>
        </p:txBody>
      </p:sp>
      <p:sp>
        <p:nvSpPr>
          <p:cNvPr id="19" name="矩形 18">
            <a:extLst>
              <a:ext uri="{FF2B5EF4-FFF2-40B4-BE49-F238E27FC236}">
                <a16:creationId xmlns:a16="http://schemas.microsoft.com/office/drawing/2014/main" id="{389B8E44-D916-4545-A359-F6919050382D}"/>
              </a:ext>
            </a:extLst>
          </p:cNvPr>
          <p:cNvSpPr/>
          <p:nvPr/>
        </p:nvSpPr>
        <p:spPr>
          <a:xfrm>
            <a:off x="1292859" y="5961594"/>
            <a:ext cx="4288789" cy="15517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79E05705-421B-4D83-B02E-A1D00E198493}"/>
              </a:ext>
            </a:extLst>
          </p:cNvPr>
          <p:cNvSpPr/>
          <p:nvPr/>
        </p:nvSpPr>
        <p:spPr>
          <a:xfrm>
            <a:off x="1131838" y="5807555"/>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a</a:t>
            </a:r>
            <a:endParaRPr lang="zh-TW" altLang="en-US" sz="1200" b="1" dirty="0"/>
          </a:p>
        </p:txBody>
      </p:sp>
    </p:spTree>
    <p:extLst>
      <p:ext uri="{BB962C8B-B14F-4D97-AF65-F5344CB8AC3E}">
        <p14:creationId xmlns:p14="http://schemas.microsoft.com/office/powerpoint/2010/main" val="2080024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版面配置區 5">
            <a:extLst>
              <a:ext uri="{FF2B5EF4-FFF2-40B4-BE49-F238E27FC236}">
                <a16:creationId xmlns:a16="http://schemas.microsoft.com/office/drawing/2014/main" id="{528DA417-E288-4AA7-951E-98168BDEFC59}"/>
              </a:ext>
            </a:extLst>
          </p:cNvPr>
          <p:cNvSpPr>
            <a:spLocks noGrp="1"/>
          </p:cNvSpPr>
          <p:nvPr>
            <p:ph type="body" sz="quarter" idx="17"/>
          </p:nvPr>
        </p:nvSpPr>
        <p:spPr>
          <a:xfrm>
            <a:off x="271171" y="1052687"/>
            <a:ext cx="6148679" cy="1150443"/>
          </a:xfrm>
        </p:spPr>
        <p:txBody>
          <a:bodyPr/>
          <a:lstStyle/>
          <a:p>
            <a:r>
              <a:rPr lang="zh-TW" altLang="en-US" dirty="0"/>
              <a:t>建築履歷列表共有兩層，</a:t>
            </a:r>
            <a:r>
              <a:rPr lang="zh-TW" altLang="en-US" b="1" dirty="0"/>
              <a:t>建築履歷編碼列表</a:t>
            </a:r>
            <a:r>
              <a:rPr lang="zh-TW" altLang="en-US" dirty="0"/>
              <a:t>與</a:t>
            </a:r>
            <a:r>
              <a:rPr lang="zh-TW" altLang="en-US" b="1" dirty="0"/>
              <a:t>建築履歷列表</a:t>
            </a:r>
            <a:r>
              <a:rPr lang="zh-TW" altLang="en-US" dirty="0"/>
              <a:t>，先從建築履歷編碼列表點擊想檢視的建築履歷。</a:t>
            </a:r>
            <a:endParaRPr lang="en-US" altLang="zh-TW" dirty="0"/>
          </a:p>
          <a:p>
            <a:endParaRPr lang="en-US" altLang="zh-TW" dirty="0"/>
          </a:p>
        </p:txBody>
      </p:sp>
      <p:sp>
        <p:nvSpPr>
          <p:cNvPr id="2" name="文字版面配置區 1">
            <a:extLst>
              <a:ext uri="{FF2B5EF4-FFF2-40B4-BE49-F238E27FC236}">
                <a16:creationId xmlns:a16="http://schemas.microsoft.com/office/drawing/2014/main" id="{48A94F7B-67F9-4A58-84DD-7A74E037958D}"/>
              </a:ext>
            </a:extLst>
          </p:cNvPr>
          <p:cNvSpPr>
            <a:spLocks noGrp="1"/>
          </p:cNvSpPr>
          <p:nvPr>
            <p:ph type="body" sz="quarter" idx="13"/>
          </p:nvPr>
        </p:nvSpPr>
        <p:spPr>
          <a:xfrm>
            <a:off x="3890562" y="124658"/>
            <a:ext cx="2762295" cy="313932"/>
          </a:xfrm>
        </p:spPr>
        <p:txBody>
          <a:bodyPr/>
          <a:lstStyle/>
          <a:p>
            <a:r>
              <a:rPr lang="en-US" altLang="zh-TW" dirty="0"/>
              <a:t>- </a:t>
            </a:r>
            <a:r>
              <a:rPr lang="zh-TW" altLang="en-US" dirty="0"/>
              <a:t>核心功能 </a:t>
            </a:r>
            <a:r>
              <a:rPr lang="en-US" altLang="zh-TW" dirty="0"/>
              <a:t>-</a:t>
            </a:r>
            <a:r>
              <a:rPr lang="zh-TW" altLang="en-US" dirty="0"/>
              <a:t> 建築履歷列表 </a:t>
            </a:r>
            <a:r>
              <a:rPr lang="en-US" altLang="zh-TW" dirty="0"/>
              <a:t>- </a:t>
            </a:r>
            <a:endParaRPr lang="zh-TW" altLang="en-US" dirty="0"/>
          </a:p>
        </p:txBody>
      </p:sp>
      <p:sp>
        <p:nvSpPr>
          <p:cNvPr id="3" name="投影片編號版面配置區 2">
            <a:extLst>
              <a:ext uri="{FF2B5EF4-FFF2-40B4-BE49-F238E27FC236}">
                <a16:creationId xmlns:a16="http://schemas.microsoft.com/office/drawing/2014/main" id="{9001B789-00E1-4539-8BA5-B1207AE517DD}"/>
              </a:ext>
            </a:extLst>
          </p:cNvPr>
          <p:cNvSpPr>
            <a:spLocks noGrp="1"/>
          </p:cNvSpPr>
          <p:nvPr>
            <p:ph type="sldNum" sz="quarter" idx="12"/>
          </p:nvPr>
        </p:nvSpPr>
        <p:spPr/>
        <p:txBody>
          <a:bodyPr/>
          <a:lstStyle/>
          <a:p>
            <a:fld id="{87F2EC76-4ACB-421A-B9EA-F72429D0FACA}" type="slidenum">
              <a:rPr lang="zh-TW" altLang="en-US" smtClean="0"/>
              <a:pPr/>
              <a:t>14</a:t>
            </a:fld>
            <a:endParaRPr lang="zh-TW" altLang="en-US" dirty="0"/>
          </a:p>
        </p:txBody>
      </p:sp>
      <p:sp>
        <p:nvSpPr>
          <p:cNvPr id="14" name="文字方塊 13">
            <a:extLst>
              <a:ext uri="{FF2B5EF4-FFF2-40B4-BE49-F238E27FC236}">
                <a16:creationId xmlns:a16="http://schemas.microsoft.com/office/drawing/2014/main" id="{6CD6671D-9967-46A1-969B-C43FEA93B163}"/>
              </a:ext>
            </a:extLst>
          </p:cNvPr>
          <p:cNvSpPr txBox="1"/>
          <p:nvPr/>
        </p:nvSpPr>
        <p:spPr>
          <a:xfrm>
            <a:off x="2320367" y="5418041"/>
            <a:ext cx="2217274" cy="400110"/>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3-3-1 </a:t>
            </a:r>
            <a:r>
              <a:rPr lang="zh-TW" altLang="en-US" sz="1000" dirty="0">
                <a:solidFill>
                  <a:srgbClr val="4E6071"/>
                </a:solidFill>
                <a:latin typeface="微軟正黑體" panose="020B0604030504040204" pitchFamily="34" charset="-120"/>
                <a:ea typeface="微軟正黑體" panose="020B0604030504040204" pitchFamily="34" charset="-120"/>
              </a:rPr>
              <a:t>建築履歷編碼列表操作介面</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pic>
        <p:nvPicPr>
          <p:cNvPr id="8" name="圖片 7">
            <a:extLst>
              <a:ext uri="{FF2B5EF4-FFF2-40B4-BE49-F238E27FC236}">
                <a16:creationId xmlns:a16="http://schemas.microsoft.com/office/drawing/2014/main" id="{6CAC0295-ADF3-4C4B-9397-81B1937FD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352" y="2507291"/>
            <a:ext cx="5472603" cy="2898760"/>
          </a:xfrm>
          <a:prstGeom prst="roundRect">
            <a:avLst>
              <a:gd name="adj" fmla="val 1899"/>
            </a:avLst>
          </a:prstGeom>
          <a:ln w="6350">
            <a:solidFill>
              <a:srgbClr val="007F4C"/>
            </a:solidFill>
          </a:ln>
          <a:effectLst/>
        </p:spPr>
      </p:pic>
      <p:sp>
        <p:nvSpPr>
          <p:cNvPr id="10" name="矩形 9">
            <a:extLst>
              <a:ext uri="{FF2B5EF4-FFF2-40B4-BE49-F238E27FC236}">
                <a16:creationId xmlns:a16="http://schemas.microsoft.com/office/drawing/2014/main" id="{BE6753A9-E81E-4591-8584-7CE77942FB30}"/>
              </a:ext>
            </a:extLst>
          </p:cNvPr>
          <p:cNvSpPr/>
          <p:nvPr/>
        </p:nvSpPr>
        <p:spPr>
          <a:xfrm>
            <a:off x="807721" y="3414680"/>
            <a:ext cx="5242560" cy="6903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版面配置區 1">
            <a:extLst>
              <a:ext uri="{FF2B5EF4-FFF2-40B4-BE49-F238E27FC236}">
                <a16:creationId xmlns:a16="http://schemas.microsoft.com/office/drawing/2014/main" id="{6F06B970-7803-436E-9458-1F9A187A220A}"/>
              </a:ext>
            </a:extLst>
          </p:cNvPr>
          <p:cNvSpPr txBox="1">
            <a:spLocks/>
          </p:cNvSpPr>
          <p:nvPr/>
        </p:nvSpPr>
        <p:spPr>
          <a:xfrm>
            <a:off x="271172" y="766455"/>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3 ‧ 3</a:t>
            </a:r>
            <a:r>
              <a:rPr lang="zh-TW" altLang="en-US" dirty="0"/>
              <a:t> 進入建築履歷編碼列表頁面</a:t>
            </a:r>
          </a:p>
        </p:txBody>
      </p:sp>
      <p:sp>
        <p:nvSpPr>
          <p:cNvPr id="16" name="文字版面配置區 1">
            <a:extLst>
              <a:ext uri="{FF2B5EF4-FFF2-40B4-BE49-F238E27FC236}">
                <a16:creationId xmlns:a16="http://schemas.microsoft.com/office/drawing/2014/main" id="{3B414D4E-A7BF-4570-ABB4-4782618C3690}"/>
              </a:ext>
            </a:extLst>
          </p:cNvPr>
          <p:cNvSpPr txBox="1">
            <a:spLocks/>
          </p:cNvSpPr>
          <p:nvPr/>
        </p:nvSpPr>
        <p:spPr>
          <a:xfrm>
            <a:off x="269824" y="2203130"/>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步驟一：選擇建築履歷編碼列表</a:t>
            </a:r>
          </a:p>
        </p:txBody>
      </p:sp>
    </p:spTree>
    <p:extLst>
      <p:ext uri="{BB962C8B-B14F-4D97-AF65-F5344CB8AC3E}">
        <p14:creationId xmlns:p14="http://schemas.microsoft.com/office/powerpoint/2010/main" val="319159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字版面配置區 1">
            <a:extLst>
              <a:ext uri="{FF2B5EF4-FFF2-40B4-BE49-F238E27FC236}">
                <a16:creationId xmlns:a16="http://schemas.microsoft.com/office/drawing/2014/main" id="{3B414D4E-A7BF-4570-ABB4-4782618C3690}"/>
              </a:ext>
            </a:extLst>
          </p:cNvPr>
          <p:cNvSpPr txBox="1">
            <a:spLocks/>
          </p:cNvSpPr>
          <p:nvPr/>
        </p:nvSpPr>
        <p:spPr>
          <a:xfrm>
            <a:off x="269824" y="772485"/>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步驟二：檢視建築履歷列表</a:t>
            </a:r>
          </a:p>
        </p:txBody>
      </p:sp>
      <p:sp>
        <p:nvSpPr>
          <p:cNvPr id="6" name="文字版面配置區 5">
            <a:extLst>
              <a:ext uri="{FF2B5EF4-FFF2-40B4-BE49-F238E27FC236}">
                <a16:creationId xmlns:a16="http://schemas.microsoft.com/office/drawing/2014/main" id="{528DA417-E288-4AA7-951E-98168BDEFC59}"/>
              </a:ext>
            </a:extLst>
          </p:cNvPr>
          <p:cNvSpPr>
            <a:spLocks noGrp="1"/>
          </p:cNvSpPr>
          <p:nvPr>
            <p:ph type="body" sz="quarter" idx="17"/>
          </p:nvPr>
        </p:nvSpPr>
        <p:spPr>
          <a:xfrm>
            <a:off x="271171" y="4391711"/>
            <a:ext cx="6148679" cy="2956066"/>
          </a:xfrm>
        </p:spPr>
        <p:txBody>
          <a:bodyPr/>
          <a:lstStyle/>
          <a:p>
            <a:r>
              <a:rPr lang="zh-TW" altLang="en-US" dirty="0"/>
              <a:t>使用者可透過</a:t>
            </a:r>
            <a:r>
              <a:rPr lang="zh-TW" altLang="en-US" b="1" dirty="0"/>
              <a:t>「搜尋」</a:t>
            </a:r>
            <a:r>
              <a:rPr lang="zh-TW" altLang="en-US" dirty="0"/>
              <a:t>功能，查詢專案內所有建築履歷紀錄。而列表可利用下列工具進行操作：</a:t>
            </a:r>
            <a:endParaRPr lang="en-US" altLang="zh-TW" dirty="0"/>
          </a:p>
          <a:p>
            <a:pPr marL="342900" indent="-342900">
              <a:buFont typeface="+mj-lt"/>
              <a:buAutoNum type="alphaLcPeriod"/>
            </a:pPr>
            <a:r>
              <a:rPr lang="zh-TW" altLang="en-US" b="1" dirty="0"/>
              <a:t>操作：</a:t>
            </a:r>
            <a:r>
              <a:rPr lang="zh-TW" altLang="en-US" dirty="0"/>
              <a:t>對該筆設備</a:t>
            </a:r>
            <a:r>
              <a:rPr lang="zh-TW" altLang="en-US" b="1" dirty="0"/>
              <a:t>檢視詳細資料</a:t>
            </a:r>
            <a:r>
              <a:rPr lang="zh-TW" altLang="en-US" dirty="0"/>
              <a:t>與</a:t>
            </a:r>
            <a:r>
              <a:rPr lang="zh-TW" altLang="en-US" b="1" dirty="0"/>
              <a:t>修改詳細資料</a:t>
            </a:r>
            <a:r>
              <a:rPr lang="zh-TW" altLang="en-US" dirty="0"/>
              <a:t>、</a:t>
            </a:r>
            <a:r>
              <a:rPr lang="zh-TW" altLang="en-US" b="1" dirty="0"/>
              <a:t>刪除整筆設備</a:t>
            </a:r>
            <a:r>
              <a:rPr lang="zh-TW" altLang="en-US" dirty="0"/>
              <a:t>。</a:t>
            </a:r>
            <a:endParaRPr lang="en-US" altLang="zh-TW" dirty="0"/>
          </a:p>
          <a:p>
            <a:pPr marL="342900" indent="-342900">
              <a:buFont typeface="+mj-lt"/>
              <a:buAutoNum type="alphaLcPeriod"/>
            </a:pPr>
            <a:r>
              <a:rPr lang="zh-TW" altLang="en-US" b="1" dirty="0"/>
              <a:t>展開：</a:t>
            </a:r>
            <a:r>
              <a:rPr lang="zh-TW" altLang="en-US" dirty="0"/>
              <a:t>點擊箭頭可展開此筆中的所有設備列表。</a:t>
            </a:r>
            <a:endParaRPr lang="en-US" altLang="zh-TW" dirty="0"/>
          </a:p>
          <a:p>
            <a:pPr marL="342900" indent="-342900">
              <a:buFont typeface="+mj-lt"/>
              <a:buAutoNum type="alphaLcPeriod"/>
            </a:pPr>
            <a:r>
              <a:rPr lang="en-US" altLang="zh-TW" b="1" dirty="0" err="1"/>
              <a:t>QRCode</a:t>
            </a:r>
            <a:r>
              <a:rPr lang="zh-TW" altLang="en-US" b="1" dirty="0"/>
              <a:t> ：</a:t>
            </a:r>
            <a:r>
              <a:rPr lang="zh-TW" altLang="en-US" dirty="0"/>
              <a:t>用行動裝置掃描可另開啟該筆設備的詳細資料之視窗。</a:t>
            </a:r>
            <a:endParaRPr lang="en-US" altLang="zh-TW" dirty="0"/>
          </a:p>
          <a:p>
            <a:pPr marL="342900" indent="-342900">
              <a:buFont typeface="+mj-lt"/>
              <a:buAutoNum type="alphaLcPeriod"/>
            </a:pPr>
            <a:r>
              <a:rPr lang="zh-TW" altLang="en-US" b="1" dirty="0"/>
              <a:t>操作：檢視</a:t>
            </a:r>
            <a:r>
              <a:rPr lang="zh-TW" altLang="en-US" dirty="0"/>
              <a:t>單一設備的</a:t>
            </a:r>
            <a:r>
              <a:rPr lang="zh-TW" altLang="en-US" b="1" dirty="0"/>
              <a:t>維修紀錄</a:t>
            </a:r>
            <a:r>
              <a:rPr lang="zh-TW" altLang="en-US" dirty="0"/>
              <a:t>與</a:t>
            </a:r>
            <a:r>
              <a:rPr lang="zh-TW" altLang="en-US" b="1" dirty="0"/>
              <a:t>修改</a:t>
            </a:r>
            <a:r>
              <a:rPr lang="zh-TW" altLang="en-US" dirty="0"/>
              <a:t>單一設備的</a:t>
            </a:r>
            <a:r>
              <a:rPr lang="zh-TW" altLang="en-US" b="1" dirty="0"/>
              <a:t>區域</a:t>
            </a:r>
            <a:r>
              <a:rPr lang="zh-TW" altLang="en-US" dirty="0"/>
              <a:t>和</a:t>
            </a:r>
            <a:r>
              <a:rPr lang="zh-TW" altLang="en-US" b="1" dirty="0"/>
              <a:t>樓層</a:t>
            </a:r>
            <a:r>
              <a:rPr lang="zh-TW" altLang="en-US" dirty="0"/>
              <a:t>。</a:t>
            </a:r>
            <a:endParaRPr lang="en-US" altLang="zh-TW" dirty="0"/>
          </a:p>
          <a:p>
            <a:endParaRPr lang="en-US" altLang="zh-TW" dirty="0"/>
          </a:p>
        </p:txBody>
      </p:sp>
      <p:sp>
        <p:nvSpPr>
          <p:cNvPr id="2" name="文字版面配置區 1">
            <a:extLst>
              <a:ext uri="{FF2B5EF4-FFF2-40B4-BE49-F238E27FC236}">
                <a16:creationId xmlns:a16="http://schemas.microsoft.com/office/drawing/2014/main" id="{48A94F7B-67F9-4A58-84DD-7A74E037958D}"/>
              </a:ext>
            </a:extLst>
          </p:cNvPr>
          <p:cNvSpPr>
            <a:spLocks noGrp="1"/>
          </p:cNvSpPr>
          <p:nvPr>
            <p:ph type="body" sz="quarter" idx="13"/>
          </p:nvPr>
        </p:nvSpPr>
        <p:spPr>
          <a:xfrm>
            <a:off x="3890562" y="124658"/>
            <a:ext cx="2762295" cy="313932"/>
          </a:xfrm>
        </p:spPr>
        <p:txBody>
          <a:bodyPr/>
          <a:lstStyle/>
          <a:p>
            <a:r>
              <a:rPr lang="en-US" altLang="zh-TW" dirty="0"/>
              <a:t>- </a:t>
            </a:r>
            <a:r>
              <a:rPr lang="zh-TW" altLang="en-US" dirty="0"/>
              <a:t>核心功能 </a:t>
            </a:r>
            <a:r>
              <a:rPr lang="en-US" altLang="zh-TW" dirty="0"/>
              <a:t>-</a:t>
            </a:r>
            <a:r>
              <a:rPr lang="zh-TW" altLang="en-US" dirty="0"/>
              <a:t> 建築履歷列表 </a:t>
            </a:r>
            <a:r>
              <a:rPr lang="en-US" altLang="zh-TW" dirty="0"/>
              <a:t>- </a:t>
            </a:r>
            <a:endParaRPr lang="zh-TW" altLang="en-US" dirty="0"/>
          </a:p>
        </p:txBody>
      </p:sp>
      <p:sp>
        <p:nvSpPr>
          <p:cNvPr id="3" name="投影片編號版面配置區 2">
            <a:extLst>
              <a:ext uri="{FF2B5EF4-FFF2-40B4-BE49-F238E27FC236}">
                <a16:creationId xmlns:a16="http://schemas.microsoft.com/office/drawing/2014/main" id="{9001B789-00E1-4539-8BA5-B1207AE517DD}"/>
              </a:ext>
            </a:extLst>
          </p:cNvPr>
          <p:cNvSpPr>
            <a:spLocks noGrp="1"/>
          </p:cNvSpPr>
          <p:nvPr>
            <p:ph type="sldNum" sz="quarter" idx="12"/>
          </p:nvPr>
        </p:nvSpPr>
        <p:spPr/>
        <p:txBody>
          <a:bodyPr/>
          <a:lstStyle/>
          <a:p>
            <a:fld id="{87F2EC76-4ACB-421A-B9EA-F72429D0FACA}" type="slidenum">
              <a:rPr lang="zh-TW" altLang="en-US" smtClean="0"/>
              <a:pPr/>
              <a:t>15</a:t>
            </a:fld>
            <a:endParaRPr lang="zh-TW" altLang="en-US" dirty="0"/>
          </a:p>
        </p:txBody>
      </p:sp>
      <p:sp>
        <p:nvSpPr>
          <p:cNvPr id="14" name="文字方塊 13">
            <a:extLst>
              <a:ext uri="{FF2B5EF4-FFF2-40B4-BE49-F238E27FC236}">
                <a16:creationId xmlns:a16="http://schemas.microsoft.com/office/drawing/2014/main" id="{6CD6671D-9967-46A1-969B-C43FEA93B163}"/>
              </a:ext>
            </a:extLst>
          </p:cNvPr>
          <p:cNvSpPr txBox="1"/>
          <p:nvPr/>
        </p:nvSpPr>
        <p:spPr>
          <a:xfrm>
            <a:off x="2576848" y="3987396"/>
            <a:ext cx="1704313" cy="400110"/>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3-3-2 </a:t>
            </a:r>
            <a:r>
              <a:rPr lang="zh-TW" altLang="en-US" sz="1000" dirty="0">
                <a:solidFill>
                  <a:srgbClr val="4E6071"/>
                </a:solidFill>
                <a:latin typeface="微軟正黑體" panose="020B0604030504040204" pitchFamily="34" charset="-120"/>
                <a:ea typeface="微軟正黑體" panose="020B0604030504040204" pitchFamily="34" charset="-120"/>
              </a:rPr>
              <a:t>檢視建築履歷列表</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pic>
        <p:nvPicPr>
          <p:cNvPr id="8" name="圖片 7">
            <a:extLst>
              <a:ext uri="{FF2B5EF4-FFF2-40B4-BE49-F238E27FC236}">
                <a16:creationId xmlns:a16="http://schemas.microsoft.com/office/drawing/2014/main" id="{6CAC0295-ADF3-4C4B-9397-81B1937FD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352" y="1076646"/>
            <a:ext cx="5472603" cy="2898759"/>
          </a:xfrm>
          <a:prstGeom prst="roundRect">
            <a:avLst>
              <a:gd name="adj" fmla="val 1899"/>
            </a:avLst>
          </a:prstGeom>
          <a:ln w="6350">
            <a:solidFill>
              <a:srgbClr val="007F4C"/>
            </a:solidFill>
          </a:ln>
          <a:effectLst/>
        </p:spPr>
      </p:pic>
      <p:sp>
        <p:nvSpPr>
          <p:cNvPr id="10" name="矩形 9">
            <a:extLst>
              <a:ext uri="{FF2B5EF4-FFF2-40B4-BE49-F238E27FC236}">
                <a16:creationId xmlns:a16="http://schemas.microsoft.com/office/drawing/2014/main" id="{BE6753A9-E81E-4591-8584-7CE77942FB30}"/>
              </a:ext>
            </a:extLst>
          </p:cNvPr>
          <p:cNvSpPr/>
          <p:nvPr/>
        </p:nvSpPr>
        <p:spPr>
          <a:xfrm>
            <a:off x="5879306" y="2029311"/>
            <a:ext cx="170974" cy="1798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4338AF92-BD31-4CE6-AE51-578369CCF9C2}"/>
              </a:ext>
            </a:extLst>
          </p:cNvPr>
          <p:cNvSpPr/>
          <p:nvPr/>
        </p:nvSpPr>
        <p:spPr>
          <a:xfrm>
            <a:off x="5312567" y="2029311"/>
            <a:ext cx="369095" cy="1798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C9629B7C-2081-4BF5-BD4B-59DD25442C91}"/>
              </a:ext>
            </a:extLst>
          </p:cNvPr>
          <p:cNvSpPr/>
          <p:nvPr/>
        </p:nvSpPr>
        <p:spPr>
          <a:xfrm>
            <a:off x="4379117" y="2346176"/>
            <a:ext cx="281783" cy="2827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4D327FCF-5A21-4F96-9D0F-8E36F06066D5}"/>
              </a:ext>
            </a:extLst>
          </p:cNvPr>
          <p:cNvSpPr/>
          <p:nvPr/>
        </p:nvSpPr>
        <p:spPr>
          <a:xfrm>
            <a:off x="5434982" y="2397613"/>
            <a:ext cx="281783" cy="1798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78F6ED02-C508-417D-B146-FF7E86E6824A}"/>
              </a:ext>
            </a:extLst>
          </p:cNvPr>
          <p:cNvSpPr/>
          <p:nvPr/>
        </p:nvSpPr>
        <p:spPr>
          <a:xfrm>
            <a:off x="5158575" y="1856643"/>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a</a:t>
            </a:r>
            <a:endParaRPr lang="zh-TW" altLang="en-US" sz="1200" b="1" dirty="0"/>
          </a:p>
        </p:txBody>
      </p:sp>
      <p:sp>
        <p:nvSpPr>
          <p:cNvPr id="21" name="橢圓 20">
            <a:extLst>
              <a:ext uri="{FF2B5EF4-FFF2-40B4-BE49-F238E27FC236}">
                <a16:creationId xmlns:a16="http://schemas.microsoft.com/office/drawing/2014/main" id="{37C5F534-5DFA-4009-8F63-D19007943269}"/>
              </a:ext>
            </a:extLst>
          </p:cNvPr>
          <p:cNvSpPr/>
          <p:nvPr/>
        </p:nvSpPr>
        <p:spPr>
          <a:xfrm>
            <a:off x="5723905" y="1856643"/>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b</a:t>
            </a:r>
            <a:endParaRPr lang="zh-TW" altLang="en-US" sz="1200" b="1" dirty="0"/>
          </a:p>
        </p:txBody>
      </p:sp>
      <p:sp>
        <p:nvSpPr>
          <p:cNvPr id="22" name="橢圓 21">
            <a:extLst>
              <a:ext uri="{FF2B5EF4-FFF2-40B4-BE49-F238E27FC236}">
                <a16:creationId xmlns:a16="http://schemas.microsoft.com/office/drawing/2014/main" id="{85C99415-C711-4BF7-9563-F8E4382ACFF9}"/>
              </a:ext>
            </a:extLst>
          </p:cNvPr>
          <p:cNvSpPr/>
          <p:nvPr/>
        </p:nvSpPr>
        <p:spPr>
          <a:xfrm>
            <a:off x="4212652" y="2170638"/>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c</a:t>
            </a:r>
            <a:endParaRPr lang="zh-TW" altLang="en-US" sz="1200" b="1" dirty="0"/>
          </a:p>
        </p:txBody>
      </p:sp>
      <p:sp>
        <p:nvSpPr>
          <p:cNvPr id="23" name="橢圓 22">
            <a:extLst>
              <a:ext uri="{FF2B5EF4-FFF2-40B4-BE49-F238E27FC236}">
                <a16:creationId xmlns:a16="http://schemas.microsoft.com/office/drawing/2014/main" id="{6CE43389-6F69-49DA-A01C-F26E27682BFD}"/>
              </a:ext>
            </a:extLst>
          </p:cNvPr>
          <p:cNvSpPr/>
          <p:nvPr/>
        </p:nvSpPr>
        <p:spPr>
          <a:xfrm>
            <a:off x="5280922" y="2227089"/>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d</a:t>
            </a:r>
            <a:endParaRPr lang="zh-TW" altLang="en-US" sz="1200" b="1" dirty="0"/>
          </a:p>
        </p:txBody>
      </p:sp>
      <p:sp>
        <p:nvSpPr>
          <p:cNvPr id="24" name="矩形 23">
            <a:extLst>
              <a:ext uri="{FF2B5EF4-FFF2-40B4-BE49-F238E27FC236}">
                <a16:creationId xmlns:a16="http://schemas.microsoft.com/office/drawing/2014/main" id="{E49BC8E4-EA91-4B9A-9756-1CA7654F9957}"/>
              </a:ext>
            </a:extLst>
          </p:cNvPr>
          <p:cNvSpPr/>
          <p:nvPr/>
        </p:nvSpPr>
        <p:spPr>
          <a:xfrm>
            <a:off x="755032" y="1591163"/>
            <a:ext cx="4458318" cy="2249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56961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版面配置區 5">
            <a:extLst>
              <a:ext uri="{FF2B5EF4-FFF2-40B4-BE49-F238E27FC236}">
                <a16:creationId xmlns:a16="http://schemas.microsoft.com/office/drawing/2014/main" id="{528DA417-E288-4AA7-951E-98168BDEFC59}"/>
              </a:ext>
            </a:extLst>
          </p:cNvPr>
          <p:cNvSpPr>
            <a:spLocks noGrp="1"/>
          </p:cNvSpPr>
          <p:nvPr>
            <p:ph type="body" sz="quarter" idx="17"/>
          </p:nvPr>
        </p:nvSpPr>
        <p:spPr>
          <a:xfrm>
            <a:off x="271171" y="1052687"/>
            <a:ext cx="6148679" cy="375872"/>
          </a:xfrm>
        </p:spPr>
        <p:txBody>
          <a:bodyPr/>
          <a:lstStyle/>
          <a:p>
            <a:r>
              <a:rPr lang="zh-TW" altLang="en-US" dirty="0"/>
              <a:t>可供檢視該專案已上傳的建築履歷之資產設備。</a:t>
            </a:r>
            <a:endParaRPr lang="en-US" altLang="zh-TW" dirty="0"/>
          </a:p>
        </p:txBody>
      </p:sp>
      <p:sp>
        <p:nvSpPr>
          <p:cNvPr id="2" name="文字版面配置區 1">
            <a:extLst>
              <a:ext uri="{FF2B5EF4-FFF2-40B4-BE49-F238E27FC236}">
                <a16:creationId xmlns:a16="http://schemas.microsoft.com/office/drawing/2014/main" id="{48A94F7B-67F9-4A58-84DD-7A74E037958D}"/>
              </a:ext>
            </a:extLst>
          </p:cNvPr>
          <p:cNvSpPr>
            <a:spLocks noGrp="1"/>
          </p:cNvSpPr>
          <p:nvPr>
            <p:ph type="body" sz="quarter" idx="13"/>
          </p:nvPr>
        </p:nvSpPr>
        <p:spPr>
          <a:xfrm>
            <a:off x="3890562" y="124658"/>
            <a:ext cx="2762295" cy="313932"/>
          </a:xfrm>
        </p:spPr>
        <p:txBody>
          <a:bodyPr/>
          <a:lstStyle/>
          <a:p>
            <a:r>
              <a:rPr lang="en-US" altLang="zh-TW" dirty="0"/>
              <a:t>- </a:t>
            </a:r>
            <a:r>
              <a:rPr lang="zh-TW" altLang="en-US" dirty="0"/>
              <a:t>核心功能 </a:t>
            </a:r>
            <a:r>
              <a:rPr lang="en-US" altLang="zh-TW" dirty="0"/>
              <a:t>-</a:t>
            </a:r>
            <a:r>
              <a:rPr lang="zh-TW" altLang="en-US" dirty="0"/>
              <a:t> 資產設備列表 </a:t>
            </a:r>
            <a:r>
              <a:rPr lang="en-US" altLang="zh-TW" dirty="0"/>
              <a:t>- </a:t>
            </a:r>
            <a:endParaRPr lang="zh-TW" altLang="en-US" dirty="0"/>
          </a:p>
        </p:txBody>
      </p:sp>
      <p:sp>
        <p:nvSpPr>
          <p:cNvPr id="3" name="投影片編號版面配置區 2">
            <a:extLst>
              <a:ext uri="{FF2B5EF4-FFF2-40B4-BE49-F238E27FC236}">
                <a16:creationId xmlns:a16="http://schemas.microsoft.com/office/drawing/2014/main" id="{9001B789-00E1-4539-8BA5-B1207AE517DD}"/>
              </a:ext>
            </a:extLst>
          </p:cNvPr>
          <p:cNvSpPr>
            <a:spLocks noGrp="1"/>
          </p:cNvSpPr>
          <p:nvPr>
            <p:ph type="sldNum" sz="quarter" idx="12"/>
          </p:nvPr>
        </p:nvSpPr>
        <p:spPr/>
        <p:txBody>
          <a:bodyPr/>
          <a:lstStyle/>
          <a:p>
            <a:fld id="{87F2EC76-4ACB-421A-B9EA-F72429D0FACA}" type="slidenum">
              <a:rPr lang="zh-TW" altLang="en-US" smtClean="0"/>
              <a:pPr/>
              <a:t>16</a:t>
            </a:fld>
            <a:endParaRPr lang="zh-TW" altLang="en-US" dirty="0"/>
          </a:p>
        </p:txBody>
      </p:sp>
      <p:sp>
        <p:nvSpPr>
          <p:cNvPr id="14" name="文字方塊 13">
            <a:extLst>
              <a:ext uri="{FF2B5EF4-FFF2-40B4-BE49-F238E27FC236}">
                <a16:creationId xmlns:a16="http://schemas.microsoft.com/office/drawing/2014/main" id="{6CD6671D-9967-46A1-969B-C43FEA93B163}"/>
              </a:ext>
            </a:extLst>
          </p:cNvPr>
          <p:cNvSpPr txBox="1"/>
          <p:nvPr/>
        </p:nvSpPr>
        <p:spPr>
          <a:xfrm>
            <a:off x="2448607" y="4339309"/>
            <a:ext cx="1960793" cy="400110"/>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3-4-1</a:t>
            </a:r>
            <a:r>
              <a:rPr lang="zh-TW" altLang="en-US" sz="1000" dirty="0">
                <a:solidFill>
                  <a:srgbClr val="4E6071"/>
                </a:solidFill>
                <a:latin typeface="微軟正黑體" panose="020B0604030504040204" pitchFamily="34" charset="-120"/>
                <a:ea typeface="微軟正黑體" panose="020B0604030504040204" pitchFamily="34" charset="-120"/>
              </a:rPr>
              <a:t> 資產設備列表操作介面</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pic>
        <p:nvPicPr>
          <p:cNvPr id="8" name="圖片 7">
            <a:extLst>
              <a:ext uri="{FF2B5EF4-FFF2-40B4-BE49-F238E27FC236}">
                <a16:creationId xmlns:a16="http://schemas.microsoft.com/office/drawing/2014/main" id="{6CAC0295-ADF3-4C4B-9397-81B1937FD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352" y="1428559"/>
            <a:ext cx="5472603" cy="2898759"/>
          </a:xfrm>
          <a:prstGeom prst="roundRect">
            <a:avLst>
              <a:gd name="adj" fmla="val 1899"/>
            </a:avLst>
          </a:prstGeom>
          <a:ln w="6350">
            <a:solidFill>
              <a:srgbClr val="007F4C"/>
            </a:solidFill>
          </a:ln>
          <a:effectLst/>
        </p:spPr>
      </p:pic>
      <p:sp>
        <p:nvSpPr>
          <p:cNvPr id="10" name="矩形 9">
            <a:extLst>
              <a:ext uri="{FF2B5EF4-FFF2-40B4-BE49-F238E27FC236}">
                <a16:creationId xmlns:a16="http://schemas.microsoft.com/office/drawing/2014/main" id="{BE6753A9-E81E-4591-8584-7CE77942FB30}"/>
              </a:ext>
            </a:extLst>
          </p:cNvPr>
          <p:cNvSpPr/>
          <p:nvPr/>
        </p:nvSpPr>
        <p:spPr>
          <a:xfrm>
            <a:off x="5524499" y="2368716"/>
            <a:ext cx="361951" cy="177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版面配置區 1">
            <a:extLst>
              <a:ext uri="{FF2B5EF4-FFF2-40B4-BE49-F238E27FC236}">
                <a16:creationId xmlns:a16="http://schemas.microsoft.com/office/drawing/2014/main" id="{6F06B970-7803-436E-9458-1F9A187A220A}"/>
              </a:ext>
            </a:extLst>
          </p:cNvPr>
          <p:cNvSpPr txBox="1">
            <a:spLocks/>
          </p:cNvSpPr>
          <p:nvPr/>
        </p:nvSpPr>
        <p:spPr>
          <a:xfrm>
            <a:off x="271172" y="766455"/>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3 ‧ 4</a:t>
            </a:r>
            <a:r>
              <a:rPr lang="zh-TW" altLang="en-US" dirty="0"/>
              <a:t> 進入資產設備列表頁面</a:t>
            </a:r>
          </a:p>
        </p:txBody>
      </p:sp>
      <p:sp>
        <p:nvSpPr>
          <p:cNvPr id="12" name="矩形 11">
            <a:extLst>
              <a:ext uri="{FF2B5EF4-FFF2-40B4-BE49-F238E27FC236}">
                <a16:creationId xmlns:a16="http://schemas.microsoft.com/office/drawing/2014/main" id="{FDF73527-FE83-49D1-BEE0-7CDEED2AECF2}"/>
              </a:ext>
            </a:extLst>
          </p:cNvPr>
          <p:cNvSpPr/>
          <p:nvPr/>
        </p:nvSpPr>
        <p:spPr>
          <a:xfrm>
            <a:off x="755032" y="1940413"/>
            <a:ext cx="4458318" cy="2249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版面配置區 5">
            <a:extLst>
              <a:ext uri="{FF2B5EF4-FFF2-40B4-BE49-F238E27FC236}">
                <a16:creationId xmlns:a16="http://schemas.microsoft.com/office/drawing/2014/main" id="{70DF95AB-2BD7-474A-AA06-6D7055003B61}"/>
              </a:ext>
            </a:extLst>
          </p:cNvPr>
          <p:cNvSpPr txBox="1">
            <a:spLocks/>
          </p:cNvSpPr>
          <p:nvPr/>
        </p:nvSpPr>
        <p:spPr>
          <a:xfrm>
            <a:off x="271171" y="4739419"/>
            <a:ext cx="6148679" cy="1473609"/>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使用者可透過</a:t>
            </a:r>
            <a:r>
              <a:rPr lang="zh-TW" altLang="en-US" b="1" dirty="0"/>
              <a:t>「搜尋」</a:t>
            </a:r>
            <a:r>
              <a:rPr lang="zh-TW" altLang="en-US" dirty="0"/>
              <a:t>功能，查詢專案內所有資產設備紀錄。而列表可利用下列工具進行操作：</a:t>
            </a:r>
            <a:endParaRPr lang="en-US" altLang="zh-TW" dirty="0"/>
          </a:p>
          <a:p>
            <a:pPr marL="342900" indent="-342900">
              <a:buFont typeface="+mj-lt"/>
              <a:buAutoNum type="alphaLcPeriod"/>
            </a:pPr>
            <a:r>
              <a:rPr lang="zh-TW" altLang="en-US" b="1" dirty="0"/>
              <a:t>操作：</a:t>
            </a:r>
            <a:r>
              <a:rPr lang="zh-TW" altLang="en-US" dirty="0"/>
              <a:t>對該筆設備</a:t>
            </a:r>
            <a:r>
              <a:rPr lang="zh-TW" altLang="en-US" b="1" dirty="0"/>
              <a:t>檢視資產詳情</a:t>
            </a:r>
            <a:r>
              <a:rPr lang="zh-TW" altLang="en-US" dirty="0"/>
              <a:t>與</a:t>
            </a:r>
            <a:r>
              <a:rPr lang="zh-TW" altLang="en-US" b="1" dirty="0"/>
              <a:t>修改</a:t>
            </a:r>
            <a:r>
              <a:rPr lang="zh-TW" altLang="en-US" dirty="0"/>
              <a:t>單一設備的</a:t>
            </a:r>
            <a:r>
              <a:rPr lang="zh-TW" altLang="en-US" b="1" dirty="0"/>
              <a:t>區域</a:t>
            </a:r>
            <a:r>
              <a:rPr lang="zh-TW" altLang="en-US" dirty="0"/>
              <a:t>和</a:t>
            </a:r>
            <a:r>
              <a:rPr lang="zh-TW" altLang="en-US" b="1" dirty="0"/>
              <a:t>樓層</a:t>
            </a:r>
            <a:r>
              <a:rPr lang="zh-TW" altLang="en-US" dirty="0"/>
              <a:t>、</a:t>
            </a:r>
            <a:r>
              <a:rPr lang="zh-TW" altLang="en-US" b="1" dirty="0"/>
              <a:t>刪除單筆資產設備</a:t>
            </a:r>
            <a:r>
              <a:rPr lang="zh-TW" altLang="en-US" dirty="0"/>
              <a:t>。</a:t>
            </a:r>
            <a:endParaRPr lang="en-US" altLang="zh-TW" dirty="0"/>
          </a:p>
        </p:txBody>
      </p:sp>
      <p:sp>
        <p:nvSpPr>
          <p:cNvPr id="15" name="橢圓 14">
            <a:extLst>
              <a:ext uri="{FF2B5EF4-FFF2-40B4-BE49-F238E27FC236}">
                <a16:creationId xmlns:a16="http://schemas.microsoft.com/office/drawing/2014/main" id="{FAC0829B-3B47-468E-B80D-27DE78B48A0F}"/>
              </a:ext>
            </a:extLst>
          </p:cNvPr>
          <p:cNvSpPr/>
          <p:nvPr/>
        </p:nvSpPr>
        <p:spPr>
          <a:xfrm>
            <a:off x="5355425" y="2209173"/>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a</a:t>
            </a:r>
            <a:endParaRPr lang="zh-TW" altLang="en-US" sz="1200" b="1" dirty="0"/>
          </a:p>
        </p:txBody>
      </p:sp>
    </p:spTree>
    <p:extLst>
      <p:ext uri="{BB962C8B-B14F-4D97-AF65-F5344CB8AC3E}">
        <p14:creationId xmlns:p14="http://schemas.microsoft.com/office/powerpoint/2010/main" val="974291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圖片 17">
            <a:extLst>
              <a:ext uri="{FF2B5EF4-FFF2-40B4-BE49-F238E27FC236}">
                <a16:creationId xmlns:a16="http://schemas.microsoft.com/office/drawing/2014/main" id="{8E060880-6ED0-4EA5-9112-96C623882F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895" y="5497378"/>
            <a:ext cx="5836210" cy="3094960"/>
          </a:xfrm>
          <a:prstGeom prst="roundRect">
            <a:avLst>
              <a:gd name="adj" fmla="val 1899"/>
            </a:avLst>
          </a:prstGeom>
          <a:ln w="6350">
            <a:solidFill>
              <a:srgbClr val="007F4C"/>
            </a:solidFill>
          </a:ln>
          <a:effectLst/>
        </p:spPr>
      </p:pic>
      <p:pic>
        <p:nvPicPr>
          <p:cNvPr id="13" name="圖片 12">
            <a:extLst>
              <a:ext uri="{FF2B5EF4-FFF2-40B4-BE49-F238E27FC236}">
                <a16:creationId xmlns:a16="http://schemas.microsoft.com/office/drawing/2014/main" id="{69732E96-1294-4858-B720-DD67391E8548}"/>
              </a:ext>
            </a:extLst>
          </p:cNvPr>
          <p:cNvPicPr>
            <a:picLocks noChangeAspect="1"/>
          </p:cNvPicPr>
          <p:nvPr/>
        </p:nvPicPr>
        <p:blipFill rotWithShape="1">
          <a:blip r:embed="rId3">
            <a:extLst>
              <a:ext uri="{28A0092B-C50C-407E-A947-70E740481C1C}">
                <a14:useLocalDpi xmlns:a14="http://schemas.microsoft.com/office/drawing/2010/main" val="0"/>
              </a:ext>
            </a:extLst>
          </a:blip>
          <a:srcRect b="46494"/>
          <a:stretch/>
        </p:blipFill>
        <p:spPr>
          <a:xfrm>
            <a:off x="507493" y="3427820"/>
            <a:ext cx="5843014" cy="1656000"/>
          </a:xfrm>
          <a:prstGeom prst="roundRect">
            <a:avLst>
              <a:gd name="adj" fmla="val 1899"/>
            </a:avLst>
          </a:prstGeom>
          <a:ln w="6350">
            <a:solidFill>
              <a:srgbClr val="006CD2"/>
            </a:solidFill>
          </a:ln>
          <a:effectLst/>
        </p:spPr>
      </p:pic>
      <p:sp>
        <p:nvSpPr>
          <p:cNvPr id="4" name="文字版面配置區 3">
            <a:extLst>
              <a:ext uri="{FF2B5EF4-FFF2-40B4-BE49-F238E27FC236}">
                <a16:creationId xmlns:a16="http://schemas.microsoft.com/office/drawing/2014/main" id="{3CB84D1E-DEED-4E22-82BF-4D185BEC8C5B}"/>
              </a:ext>
            </a:extLst>
          </p:cNvPr>
          <p:cNvSpPr>
            <a:spLocks noGrp="1"/>
          </p:cNvSpPr>
          <p:nvPr>
            <p:ph type="body" sz="quarter" idx="13"/>
          </p:nvPr>
        </p:nvSpPr>
        <p:spPr>
          <a:xfrm>
            <a:off x="3890562" y="124658"/>
            <a:ext cx="2762295" cy="313932"/>
          </a:xfrm>
        </p:spPr>
        <p:txBody>
          <a:bodyPr/>
          <a:lstStyle/>
          <a:p>
            <a:r>
              <a:rPr lang="en-US" altLang="zh-TW" dirty="0"/>
              <a:t>- </a:t>
            </a:r>
            <a:r>
              <a:rPr lang="zh-TW" altLang="en-US" dirty="0"/>
              <a:t>核心功能 </a:t>
            </a:r>
            <a:r>
              <a:rPr lang="en-US" altLang="zh-TW" dirty="0"/>
              <a:t>-</a:t>
            </a:r>
            <a:r>
              <a:rPr lang="zh-TW" altLang="en-US" dirty="0"/>
              <a:t> 同步維修紀錄 </a:t>
            </a:r>
            <a:r>
              <a:rPr lang="en-US" altLang="zh-TW" dirty="0"/>
              <a:t>- </a:t>
            </a:r>
            <a:endParaRPr lang="zh-TW" altLang="en-US" dirty="0"/>
          </a:p>
        </p:txBody>
      </p:sp>
      <p:sp>
        <p:nvSpPr>
          <p:cNvPr id="5" name="投影片編號版面配置區 4">
            <a:extLst>
              <a:ext uri="{FF2B5EF4-FFF2-40B4-BE49-F238E27FC236}">
                <a16:creationId xmlns:a16="http://schemas.microsoft.com/office/drawing/2014/main" id="{F08DCF50-30E8-49DD-AD2A-D952930BBE65}"/>
              </a:ext>
            </a:extLst>
          </p:cNvPr>
          <p:cNvSpPr>
            <a:spLocks noGrp="1"/>
          </p:cNvSpPr>
          <p:nvPr>
            <p:ph type="sldNum" sz="quarter" idx="12"/>
          </p:nvPr>
        </p:nvSpPr>
        <p:spPr/>
        <p:txBody>
          <a:bodyPr/>
          <a:lstStyle/>
          <a:p>
            <a:fld id="{87F2EC76-4ACB-421A-B9EA-F72429D0FACA}" type="slidenum">
              <a:rPr lang="zh-TW" altLang="en-US" smtClean="0"/>
              <a:pPr/>
              <a:t>17</a:t>
            </a:fld>
            <a:endParaRPr lang="zh-TW" altLang="en-US" dirty="0"/>
          </a:p>
        </p:txBody>
      </p:sp>
      <p:sp>
        <p:nvSpPr>
          <p:cNvPr id="7" name="文字版面配置區 6">
            <a:extLst>
              <a:ext uri="{FF2B5EF4-FFF2-40B4-BE49-F238E27FC236}">
                <a16:creationId xmlns:a16="http://schemas.microsoft.com/office/drawing/2014/main" id="{39B071EF-0812-4BE3-B6FB-F055A2EF7097}"/>
              </a:ext>
            </a:extLst>
          </p:cNvPr>
          <p:cNvSpPr>
            <a:spLocks noGrp="1"/>
          </p:cNvSpPr>
          <p:nvPr>
            <p:ph type="body" sz="quarter" idx="17"/>
          </p:nvPr>
        </p:nvSpPr>
        <p:spPr>
          <a:xfrm>
            <a:off x="271172" y="1051400"/>
            <a:ext cx="6315657" cy="2376420"/>
          </a:xfrm>
        </p:spPr>
        <p:txBody>
          <a:bodyPr/>
          <a:lstStyle/>
          <a:p>
            <a:r>
              <a:rPr lang="zh-TW" altLang="en-US" dirty="0"/>
              <a:t>此為新增資產的維修紀錄，請依序於下列欄位選擇對應項目：</a:t>
            </a:r>
            <a:endParaRPr lang="en-US" altLang="zh-TW" dirty="0"/>
          </a:p>
          <a:p>
            <a:pPr marL="342900" indent="-342900">
              <a:buFont typeface="+mj-lt"/>
              <a:buAutoNum type="arabicPeriod"/>
            </a:pPr>
            <a:r>
              <a:rPr lang="zh-TW" altLang="en-US" dirty="0"/>
              <a:t>選擇空間位置：選擇區域與樓層，如果該區域樓層有資產紀錄，會於下方選擇</a:t>
            </a:r>
            <a:r>
              <a:rPr lang="en-US" altLang="zh-TW" dirty="0"/>
              <a:t>/</a:t>
            </a:r>
            <a:r>
              <a:rPr lang="zh-TW" altLang="en-US" dirty="0"/>
              <a:t>輸入資產碼中顯示該區域存在的資產碼供選擇。</a:t>
            </a:r>
            <a:endParaRPr lang="en-US" altLang="zh-TW" dirty="0"/>
          </a:p>
          <a:p>
            <a:pPr marL="342900" indent="-342900">
              <a:buFont typeface="+mj-lt"/>
              <a:buAutoNum type="arabicPeriod"/>
            </a:pPr>
            <a:r>
              <a:rPr lang="zh-TW" altLang="en-US" dirty="0"/>
              <a:t>選擇</a:t>
            </a:r>
            <a:r>
              <a:rPr lang="en-US" altLang="zh-TW" dirty="0"/>
              <a:t>/</a:t>
            </a:r>
            <a:r>
              <a:rPr lang="zh-TW" altLang="en-US" dirty="0"/>
              <a:t>輸入資產碼：選擇顯示於存在選單中的其中一筆資產碼，系統將於畫面下方顯示</a:t>
            </a:r>
            <a:r>
              <a:rPr lang="zh-TW" altLang="en-US" b="1" dirty="0"/>
              <a:t>您正在為以下資產新增紀錄</a:t>
            </a:r>
            <a:r>
              <a:rPr lang="zh-TW" altLang="en-US" dirty="0"/>
              <a:t>的完整內容。</a:t>
            </a:r>
            <a:endParaRPr lang="en-US" altLang="zh-TW" dirty="0"/>
          </a:p>
          <a:p>
            <a:r>
              <a:rPr lang="zh-TW" altLang="en-US" dirty="0"/>
              <a:t>在依照新增紀錄內欄位去填寫內容後，點擊</a:t>
            </a:r>
            <a:r>
              <a:rPr lang="zh-TW" altLang="en-US" b="1" dirty="0"/>
              <a:t>「上傳並儲存」</a:t>
            </a:r>
            <a:r>
              <a:rPr lang="zh-TW" altLang="en-US" dirty="0"/>
              <a:t>按鈕，就完成新增。</a:t>
            </a:r>
            <a:endParaRPr lang="en-US" altLang="zh-TW" dirty="0"/>
          </a:p>
        </p:txBody>
      </p:sp>
      <p:sp>
        <p:nvSpPr>
          <p:cNvPr id="9" name="文字版面配置區 1">
            <a:extLst>
              <a:ext uri="{FF2B5EF4-FFF2-40B4-BE49-F238E27FC236}">
                <a16:creationId xmlns:a16="http://schemas.microsoft.com/office/drawing/2014/main" id="{96568F34-74AE-4D99-8E8A-528226194BA1}"/>
              </a:ext>
            </a:extLst>
          </p:cNvPr>
          <p:cNvSpPr txBox="1">
            <a:spLocks/>
          </p:cNvSpPr>
          <p:nvPr/>
        </p:nvSpPr>
        <p:spPr>
          <a:xfrm>
            <a:off x="271172" y="766455"/>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3 ‧ 5</a:t>
            </a:r>
            <a:r>
              <a:rPr lang="zh-TW" altLang="en-US" dirty="0"/>
              <a:t> 進入同步維修紀錄頁面</a:t>
            </a:r>
          </a:p>
        </p:txBody>
      </p:sp>
      <p:sp>
        <p:nvSpPr>
          <p:cNvPr id="10" name="文字方塊 9">
            <a:extLst>
              <a:ext uri="{FF2B5EF4-FFF2-40B4-BE49-F238E27FC236}">
                <a16:creationId xmlns:a16="http://schemas.microsoft.com/office/drawing/2014/main" id="{AE7D1BB3-9EDF-4D6B-B23C-82BA7021D8C1}"/>
              </a:ext>
            </a:extLst>
          </p:cNvPr>
          <p:cNvSpPr txBox="1"/>
          <p:nvPr/>
        </p:nvSpPr>
        <p:spPr>
          <a:xfrm>
            <a:off x="2640983" y="5084346"/>
            <a:ext cx="1576072"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3-5-1</a:t>
            </a:r>
            <a:r>
              <a:rPr lang="zh-TW" altLang="en-US" sz="1000" dirty="0">
                <a:solidFill>
                  <a:srgbClr val="4E6071"/>
                </a:solidFill>
                <a:latin typeface="微軟正黑體" panose="020B0604030504040204" pitchFamily="34" charset="-120"/>
                <a:ea typeface="微軟正黑體" panose="020B0604030504040204" pitchFamily="34" charset="-120"/>
              </a:rPr>
              <a:t> 選擇區域與樓層</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en-US" altLang="zh-TW" sz="1000" dirty="0">
              <a:solidFill>
                <a:srgbClr val="4E6071"/>
              </a:solidFill>
              <a:latin typeface="微軟正黑體" panose="020B0604030504040204" pitchFamily="34" charset="-120"/>
              <a:ea typeface="微軟正黑體" panose="020B0604030504040204" pitchFamily="34" charset="-120"/>
            </a:endParaRPr>
          </a:p>
        </p:txBody>
      </p:sp>
      <p:sp>
        <p:nvSpPr>
          <p:cNvPr id="14" name="矩形 13">
            <a:extLst>
              <a:ext uri="{FF2B5EF4-FFF2-40B4-BE49-F238E27FC236}">
                <a16:creationId xmlns:a16="http://schemas.microsoft.com/office/drawing/2014/main" id="{E3509CD7-01AD-4DB3-8DFD-2B5C2768C905}"/>
              </a:ext>
            </a:extLst>
          </p:cNvPr>
          <p:cNvSpPr/>
          <p:nvPr/>
        </p:nvSpPr>
        <p:spPr>
          <a:xfrm>
            <a:off x="3124200" y="8279815"/>
            <a:ext cx="624840" cy="2516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A8DEE955-14DB-481C-A45C-A12ABE3C1010}"/>
              </a:ext>
            </a:extLst>
          </p:cNvPr>
          <p:cNvSpPr txBox="1"/>
          <p:nvPr/>
        </p:nvSpPr>
        <p:spPr>
          <a:xfrm>
            <a:off x="957791" y="8616325"/>
            <a:ext cx="4942379"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3-5-2  </a:t>
            </a:r>
            <a:r>
              <a:rPr lang="zh-TW" altLang="en-US" sz="1000" dirty="0">
                <a:solidFill>
                  <a:srgbClr val="4E6071"/>
                </a:solidFill>
                <a:latin typeface="微軟正黑體" panose="020B0604030504040204" pitchFamily="34" charset="-120"/>
                <a:ea typeface="微軟正黑體" panose="020B0604030504040204" pitchFamily="34" charset="-120"/>
              </a:rPr>
              <a:t>選擇區域與樓層後，於畫面下方顯示您正在為以下資產新增紀錄的完整內容</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en-US" altLang="zh-TW" sz="1000" dirty="0">
              <a:solidFill>
                <a:srgbClr val="4E607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448795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版面配置區 5">
            <a:extLst>
              <a:ext uri="{FF2B5EF4-FFF2-40B4-BE49-F238E27FC236}">
                <a16:creationId xmlns:a16="http://schemas.microsoft.com/office/drawing/2014/main" id="{528DA417-E288-4AA7-951E-98168BDEFC59}"/>
              </a:ext>
            </a:extLst>
          </p:cNvPr>
          <p:cNvSpPr>
            <a:spLocks noGrp="1"/>
          </p:cNvSpPr>
          <p:nvPr>
            <p:ph type="body" sz="quarter" idx="17"/>
          </p:nvPr>
        </p:nvSpPr>
        <p:spPr>
          <a:xfrm>
            <a:off x="271171" y="1052687"/>
            <a:ext cx="6148679" cy="375872"/>
          </a:xfrm>
        </p:spPr>
        <p:txBody>
          <a:bodyPr/>
          <a:lstStyle/>
          <a:p>
            <a:r>
              <a:rPr lang="zh-TW" altLang="en-US" dirty="0"/>
              <a:t>可供檢視該專案已上傳的建築履歷之資產設備。</a:t>
            </a:r>
            <a:endParaRPr lang="en-US" altLang="zh-TW" dirty="0"/>
          </a:p>
        </p:txBody>
      </p:sp>
      <p:sp>
        <p:nvSpPr>
          <p:cNvPr id="2" name="文字版面配置區 1">
            <a:extLst>
              <a:ext uri="{FF2B5EF4-FFF2-40B4-BE49-F238E27FC236}">
                <a16:creationId xmlns:a16="http://schemas.microsoft.com/office/drawing/2014/main" id="{48A94F7B-67F9-4A58-84DD-7A74E037958D}"/>
              </a:ext>
            </a:extLst>
          </p:cNvPr>
          <p:cNvSpPr>
            <a:spLocks noGrp="1"/>
          </p:cNvSpPr>
          <p:nvPr>
            <p:ph type="body" sz="quarter" idx="13"/>
          </p:nvPr>
        </p:nvSpPr>
        <p:spPr>
          <a:xfrm>
            <a:off x="3890562" y="124658"/>
            <a:ext cx="2762295" cy="313932"/>
          </a:xfrm>
        </p:spPr>
        <p:txBody>
          <a:bodyPr/>
          <a:lstStyle/>
          <a:p>
            <a:r>
              <a:rPr lang="en-US" altLang="zh-TW" dirty="0"/>
              <a:t>- </a:t>
            </a:r>
            <a:r>
              <a:rPr lang="zh-TW" altLang="en-US" dirty="0"/>
              <a:t>核心功能 </a:t>
            </a:r>
            <a:r>
              <a:rPr lang="en-US" altLang="zh-TW" dirty="0"/>
              <a:t>-</a:t>
            </a:r>
            <a:r>
              <a:rPr lang="zh-TW" altLang="en-US" dirty="0"/>
              <a:t> 維修紀錄列表 </a:t>
            </a:r>
            <a:r>
              <a:rPr lang="en-US" altLang="zh-TW" dirty="0"/>
              <a:t>- </a:t>
            </a:r>
            <a:endParaRPr lang="zh-TW" altLang="en-US" dirty="0"/>
          </a:p>
        </p:txBody>
      </p:sp>
      <p:sp>
        <p:nvSpPr>
          <p:cNvPr id="3" name="投影片編號版面配置區 2">
            <a:extLst>
              <a:ext uri="{FF2B5EF4-FFF2-40B4-BE49-F238E27FC236}">
                <a16:creationId xmlns:a16="http://schemas.microsoft.com/office/drawing/2014/main" id="{9001B789-00E1-4539-8BA5-B1207AE517DD}"/>
              </a:ext>
            </a:extLst>
          </p:cNvPr>
          <p:cNvSpPr>
            <a:spLocks noGrp="1"/>
          </p:cNvSpPr>
          <p:nvPr>
            <p:ph type="sldNum" sz="quarter" idx="12"/>
          </p:nvPr>
        </p:nvSpPr>
        <p:spPr/>
        <p:txBody>
          <a:bodyPr/>
          <a:lstStyle/>
          <a:p>
            <a:fld id="{87F2EC76-4ACB-421A-B9EA-F72429D0FACA}" type="slidenum">
              <a:rPr lang="zh-TW" altLang="en-US" smtClean="0"/>
              <a:pPr/>
              <a:t>18</a:t>
            </a:fld>
            <a:endParaRPr lang="zh-TW" altLang="en-US" dirty="0"/>
          </a:p>
        </p:txBody>
      </p:sp>
      <p:sp>
        <p:nvSpPr>
          <p:cNvPr id="14" name="文字方塊 13">
            <a:extLst>
              <a:ext uri="{FF2B5EF4-FFF2-40B4-BE49-F238E27FC236}">
                <a16:creationId xmlns:a16="http://schemas.microsoft.com/office/drawing/2014/main" id="{6CD6671D-9967-46A1-969B-C43FEA93B163}"/>
              </a:ext>
            </a:extLst>
          </p:cNvPr>
          <p:cNvSpPr txBox="1"/>
          <p:nvPr/>
        </p:nvSpPr>
        <p:spPr>
          <a:xfrm>
            <a:off x="2448607" y="4339309"/>
            <a:ext cx="1960793" cy="400110"/>
          </a:xfrm>
          <a:prstGeom prst="rect">
            <a:avLst/>
          </a:prstGeom>
          <a:noFill/>
        </p:spPr>
        <p:txBody>
          <a:bodyPr wrap="none" rtlCol="0" anchor="ctr">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3-6-1</a:t>
            </a:r>
            <a:r>
              <a:rPr lang="zh-TW" altLang="en-US" sz="1000" dirty="0">
                <a:solidFill>
                  <a:srgbClr val="4E6071"/>
                </a:solidFill>
                <a:latin typeface="微軟正黑體" panose="020B0604030504040204" pitchFamily="34" charset="-120"/>
                <a:ea typeface="微軟正黑體" panose="020B0604030504040204" pitchFamily="34" charset="-120"/>
              </a:rPr>
              <a:t> 維修紀錄列表操作介面</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pic>
        <p:nvPicPr>
          <p:cNvPr id="8" name="圖片 7">
            <a:extLst>
              <a:ext uri="{FF2B5EF4-FFF2-40B4-BE49-F238E27FC236}">
                <a16:creationId xmlns:a16="http://schemas.microsoft.com/office/drawing/2014/main" id="{6CAC0295-ADF3-4C4B-9397-81B1937FD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352" y="1428559"/>
            <a:ext cx="5472602" cy="2898759"/>
          </a:xfrm>
          <a:prstGeom prst="roundRect">
            <a:avLst>
              <a:gd name="adj" fmla="val 1899"/>
            </a:avLst>
          </a:prstGeom>
          <a:ln w="6350">
            <a:solidFill>
              <a:srgbClr val="007F4C"/>
            </a:solidFill>
          </a:ln>
          <a:effectLst/>
        </p:spPr>
      </p:pic>
      <p:sp>
        <p:nvSpPr>
          <p:cNvPr id="10" name="矩形 9">
            <a:extLst>
              <a:ext uri="{FF2B5EF4-FFF2-40B4-BE49-F238E27FC236}">
                <a16:creationId xmlns:a16="http://schemas.microsoft.com/office/drawing/2014/main" id="{BE6753A9-E81E-4591-8584-7CE77942FB30}"/>
              </a:ext>
            </a:extLst>
          </p:cNvPr>
          <p:cNvSpPr/>
          <p:nvPr/>
        </p:nvSpPr>
        <p:spPr>
          <a:xfrm>
            <a:off x="5524499" y="2368716"/>
            <a:ext cx="241301" cy="177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版面配置區 1">
            <a:extLst>
              <a:ext uri="{FF2B5EF4-FFF2-40B4-BE49-F238E27FC236}">
                <a16:creationId xmlns:a16="http://schemas.microsoft.com/office/drawing/2014/main" id="{6F06B970-7803-436E-9458-1F9A187A220A}"/>
              </a:ext>
            </a:extLst>
          </p:cNvPr>
          <p:cNvSpPr txBox="1">
            <a:spLocks/>
          </p:cNvSpPr>
          <p:nvPr/>
        </p:nvSpPr>
        <p:spPr>
          <a:xfrm>
            <a:off x="271172" y="766455"/>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3 ‧ 6</a:t>
            </a:r>
            <a:r>
              <a:rPr lang="zh-TW" altLang="en-US" dirty="0"/>
              <a:t> 進入維修紀錄列表頁面</a:t>
            </a:r>
          </a:p>
        </p:txBody>
      </p:sp>
      <p:sp>
        <p:nvSpPr>
          <p:cNvPr id="12" name="矩形 11">
            <a:extLst>
              <a:ext uri="{FF2B5EF4-FFF2-40B4-BE49-F238E27FC236}">
                <a16:creationId xmlns:a16="http://schemas.microsoft.com/office/drawing/2014/main" id="{FDF73527-FE83-49D1-BEE0-7CDEED2AECF2}"/>
              </a:ext>
            </a:extLst>
          </p:cNvPr>
          <p:cNvSpPr/>
          <p:nvPr/>
        </p:nvSpPr>
        <p:spPr>
          <a:xfrm>
            <a:off x="755032" y="1940413"/>
            <a:ext cx="4458318" cy="2249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版面配置區 5">
            <a:extLst>
              <a:ext uri="{FF2B5EF4-FFF2-40B4-BE49-F238E27FC236}">
                <a16:creationId xmlns:a16="http://schemas.microsoft.com/office/drawing/2014/main" id="{70DF95AB-2BD7-474A-AA06-6D7055003B61}"/>
              </a:ext>
            </a:extLst>
          </p:cNvPr>
          <p:cNvSpPr txBox="1">
            <a:spLocks/>
          </p:cNvSpPr>
          <p:nvPr/>
        </p:nvSpPr>
        <p:spPr>
          <a:xfrm>
            <a:off x="271171" y="4739419"/>
            <a:ext cx="6148679" cy="2053254"/>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使用者可透過</a:t>
            </a:r>
            <a:r>
              <a:rPr lang="zh-TW" altLang="en-US" b="1" dirty="0"/>
              <a:t>「搜尋」</a:t>
            </a:r>
            <a:r>
              <a:rPr lang="zh-TW" altLang="en-US" dirty="0"/>
              <a:t>功能，查詢專案內所有維修紀錄。而列表可利用下列工具進行操作：</a:t>
            </a:r>
            <a:endParaRPr lang="en-US" altLang="zh-TW" dirty="0"/>
          </a:p>
          <a:p>
            <a:pPr marL="342900" indent="-342900">
              <a:buFont typeface="+mj-lt"/>
              <a:buAutoNum type="alphaLcPeriod"/>
            </a:pPr>
            <a:r>
              <a:rPr lang="zh-TW" altLang="en-US" b="1" dirty="0"/>
              <a:t>展開：</a:t>
            </a:r>
            <a:r>
              <a:rPr lang="zh-TW" altLang="en-US" dirty="0"/>
              <a:t>點擊箭頭可展開此筆維修紀錄詳情並查閱。</a:t>
            </a:r>
            <a:endParaRPr lang="en-US" altLang="zh-TW" dirty="0"/>
          </a:p>
          <a:p>
            <a:pPr marL="342900" indent="-342900">
              <a:buFont typeface="+mj-lt"/>
              <a:buAutoNum type="alphaLcPeriod"/>
            </a:pPr>
            <a:r>
              <a:rPr lang="zh-TW" altLang="en-US" b="1" dirty="0"/>
              <a:t>操作：</a:t>
            </a:r>
            <a:r>
              <a:rPr lang="zh-TW" altLang="en-US" dirty="0"/>
              <a:t>對該筆</a:t>
            </a:r>
            <a:r>
              <a:rPr lang="zh-TW" altLang="en-US" b="1" dirty="0"/>
              <a:t>修改維修紀錄</a:t>
            </a:r>
            <a:r>
              <a:rPr lang="zh-TW" altLang="en-US" dirty="0"/>
              <a:t>、</a:t>
            </a:r>
            <a:r>
              <a:rPr lang="zh-TW" altLang="en-US" b="1" dirty="0"/>
              <a:t>刪除維修紀錄</a:t>
            </a:r>
            <a:r>
              <a:rPr lang="zh-TW" altLang="en-US" dirty="0"/>
              <a:t>。</a:t>
            </a:r>
            <a:endParaRPr lang="en-US" altLang="zh-TW" dirty="0"/>
          </a:p>
          <a:p>
            <a:pPr marL="342900" indent="-342900">
              <a:buFont typeface="+mj-lt"/>
              <a:buAutoNum type="alphaLcPeriod"/>
            </a:pPr>
            <a:endParaRPr lang="en-US" altLang="zh-TW" dirty="0"/>
          </a:p>
        </p:txBody>
      </p:sp>
      <p:sp>
        <p:nvSpPr>
          <p:cNvPr id="11" name="矩形 10">
            <a:extLst>
              <a:ext uri="{FF2B5EF4-FFF2-40B4-BE49-F238E27FC236}">
                <a16:creationId xmlns:a16="http://schemas.microsoft.com/office/drawing/2014/main" id="{2B6A4EC7-53B2-407C-A9A9-9FF13129AD2A}"/>
              </a:ext>
            </a:extLst>
          </p:cNvPr>
          <p:cNvSpPr/>
          <p:nvPr/>
        </p:nvSpPr>
        <p:spPr>
          <a:xfrm>
            <a:off x="5268603" y="2368716"/>
            <a:ext cx="241301" cy="177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a:extLst>
              <a:ext uri="{FF2B5EF4-FFF2-40B4-BE49-F238E27FC236}">
                <a16:creationId xmlns:a16="http://schemas.microsoft.com/office/drawing/2014/main" id="{4B7CC820-4D83-4D61-BB64-A0DCAEF99781}"/>
              </a:ext>
            </a:extLst>
          </p:cNvPr>
          <p:cNvSpPr/>
          <p:nvPr/>
        </p:nvSpPr>
        <p:spPr>
          <a:xfrm>
            <a:off x="5126345" y="2179847"/>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a</a:t>
            </a:r>
            <a:endParaRPr lang="zh-TW" altLang="en-US" sz="1200" b="1" dirty="0"/>
          </a:p>
        </p:txBody>
      </p:sp>
      <p:sp>
        <p:nvSpPr>
          <p:cNvPr id="16" name="橢圓 15">
            <a:extLst>
              <a:ext uri="{FF2B5EF4-FFF2-40B4-BE49-F238E27FC236}">
                <a16:creationId xmlns:a16="http://schemas.microsoft.com/office/drawing/2014/main" id="{D9AE0C23-F506-4A4E-A6C6-231A39B7E08B}"/>
              </a:ext>
            </a:extLst>
          </p:cNvPr>
          <p:cNvSpPr/>
          <p:nvPr/>
        </p:nvSpPr>
        <p:spPr>
          <a:xfrm>
            <a:off x="5460537" y="2179847"/>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b</a:t>
            </a:r>
            <a:endParaRPr lang="zh-TW" altLang="en-US" sz="1200" b="1" dirty="0"/>
          </a:p>
        </p:txBody>
      </p:sp>
    </p:spTree>
    <p:extLst>
      <p:ext uri="{BB962C8B-B14F-4D97-AF65-F5344CB8AC3E}">
        <p14:creationId xmlns:p14="http://schemas.microsoft.com/office/powerpoint/2010/main" val="3243352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群組 25">
            <a:extLst>
              <a:ext uri="{FF2B5EF4-FFF2-40B4-BE49-F238E27FC236}">
                <a16:creationId xmlns:a16="http://schemas.microsoft.com/office/drawing/2014/main" id="{62215967-47F5-42F5-9442-EAE311F0FF12}"/>
              </a:ext>
            </a:extLst>
          </p:cNvPr>
          <p:cNvGrpSpPr/>
          <p:nvPr/>
        </p:nvGrpSpPr>
        <p:grpSpPr>
          <a:xfrm>
            <a:off x="293487" y="5089159"/>
            <a:ext cx="2893641" cy="3165574"/>
            <a:chOff x="1346010" y="2215340"/>
            <a:chExt cx="2893641" cy="3165574"/>
          </a:xfrm>
        </p:grpSpPr>
        <p:pic>
          <p:nvPicPr>
            <p:cNvPr id="24" name="圖片 23">
              <a:extLst>
                <a:ext uri="{FF2B5EF4-FFF2-40B4-BE49-F238E27FC236}">
                  <a16:creationId xmlns:a16="http://schemas.microsoft.com/office/drawing/2014/main" id="{12FF6839-3C2A-47DD-AD75-36AC37CDD272}"/>
                </a:ext>
              </a:extLst>
            </p:cNvPr>
            <p:cNvPicPr>
              <a:picLocks noChangeAspect="1"/>
            </p:cNvPicPr>
            <p:nvPr/>
          </p:nvPicPr>
          <p:blipFill>
            <a:blip r:embed="rId2"/>
            <a:stretch>
              <a:fillRect/>
            </a:stretch>
          </p:blipFill>
          <p:spPr>
            <a:xfrm>
              <a:off x="1346010" y="2215340"/>
              <a:ext cx="2893641" cy="3165574"/>
            </a:xfrm>
            <a:prstGeom prst="roundRect">
              <a:avLst>
                <a:gd name="adj" fmla="val 1899"/>
              </a:avLst>
            </a:prstGeom>
            <a:ln w="6350">
              <a:solidFill>
                <a:srgbClr val="006CD2"/>
              </a:solidFill>
            </a:ln>
            <a:effectLst/>
          </p:spPr>
        </p:pic>
        <p:pic>
          <p:nvPicPr>
            <p:cNvPr id="25" name="圖片 24">
              <a:extLst>
                <a:ext uri="{FF2B5EF4-FFF2-40B4-BE49-F238E27FC236}">
                  <a16:creationId xmlns:a16="http://schemas.microsoft.com/office/drawing/2014/main" id="{10C4C514-5121-4400-BDB1-1BFFDB882D8E}"/>
                </a:ext>
              </a:extLst>
            </p:cNvPr>
            <p:cNvPicPr>
              <a:picLocks noChangeAspect="1"/>
            </p:cNvPicPr>
            <p:nvPr/>
          </p:nvPicPr>
          <p:blipFill>
            <a:blip r:embed="rId3"/>
            <a:stretch>
              <a:fillRect/>
            </a:stretch>
          </p:blipFill>
          <p:spPr>
            <a:xfrm>
              <a:off x="1394229" y="2238655"/>
              <a:ext cx="448515" cy="434046"/>
            </a:xfrm>
            <a:prstGeom prst="roundRect">
              <a:avLst>
                <a:gd name="adj" fmla="val 1899"/>
              </a:avLst>
            </a:prstGeom>
            <a:ln w="6350">
              <a:noFill/>
            </a:ln>
            <a:effectLst/>
          </p:spPr>
        </p:pic>
      </p:grpSp>
      <p:sp>
        <p:nvSpPr>
          <p:cNvPr id="2" name="文字版面配置區 1">
            <a:extLst>
              <a:ext uri="{FF2B5EF4-FFF2-40B4-BE49-F238E27FC236}">
                <a16:creationId xmlns:a16="http://schemas.microsoft.com/office/drawing/2014/main" id="{48A94F7B-67F9-4A58-84DD-7A74E037958D}"/>
              </a:ext>
            </a:extLst>
          </p:cNvPr>
          <p:cNvSpPr>
            <a:spLocks noGrp="1"/>
          </p:cNvSpPr>
          <p:nvPr>
            <p:ph type="body" sz="quarter" idx="13"/>
          </p:nvPr>
        </p:nvSpPr>
        <p:spPr>
          <a:xfrm>
            <a:off x="4954955" y="124658"/>
            <a:ext cx="1697902" cy="313932"/>
          </a:xfrm>
        </p:spPr>
        <p:txBody>
          <a:bodyPr/>
          <a:lstStyle/>
          <a:p>
            <a:r>
              <a:rPr lang="en-US" altLang="zh-TW" dirty="0"/>
              <a:t>- </a:t>
            </a:r>
            <a:r>
              <a:rPr lang="zh-TW" altLang="en-US" dirty="0"/>
              <a:t>專案管理功能 </a:t>
            </a:r>
            <a:r>
              <a:rPr lang="en-US" altLang="zh-TW" dirty="0"/>
              <a:t>-</a:t>
            </a:r>
            <a:endParaRPr lang="zh-TW" altLang="en-US" dirty="0"/>
          </a:p>
        </p:txBody>
      </p:sp>
      <p:sp>
        <p:nvSpPr>
          <p:cNvPr id="3" name="投影片編號版面配置區 2">
            <a:extLst>
              <a:ext uri="{FF2B5EF4-FFF2-40B4-BE49-F238E27FC236}">
                <a16:creationId xmlns:a16="http://schemas.microsoft.com/office/drawing/2014/main" id="{9001B789-00E1-4539-8BA5-B1207AE517DD}"/>
              </a:ext>
            </a:extLst>
          </p:cNvPr>
          <p:cNvSpPr>
            <a:spLocks noGrp="1"/>
          </p:cNvSpPr>
          <p:nvPr>
            <p:ph type="sldNum" sz="quarter" idx="12"/>
          </p:nvPr>
        </p:nvSpPr>
        <p:spPr/>
        <p:txBody>
          <a:bodyPr/>
          <a:lstStyle/>
          <a:p>
            <a:fld id="{87F2EC76-4ACB-421A-B9EA-F72429D0FACA}" type="slidenum">
              <a:rPr lang="zh-TW" altLang="en-US" smtClean="0"/>
              <a:pPr/>
              <a:t>19</a:t>
            </a:fld>
            <a:endParaRPr lang="zh-TW" altLang="en-US" dirty="0"/>
          </a:p>
        </p:txBody>
      </p:sp>
      <p:sp>
        <p:nvSpPr>
          <p:cNvPr id="4" name="文字版面配置區 3">
            <a:extLst>
              <a:ext uri="{FF2B5EF4-FFF2-40B4-BE49-F238E27FC236}">
                <a16:creationId xmlns:a16="http://schemas.microsoft.com/office/drawing/2014/main" id="{2930B4DA-F347-4A36-8866-EE54B0B59D88}"/>
              </a:ext>
            </a:extLst>
          </p:cNvPr>
          <p:cNvSpPr>
            <a:spLocks noGrp="1"/>
          </p:cNvSpPr>
          <p:nvPr>
            <p:ph type="body" sz="quarter" idx="15"/>
          </p:nvPr>
        </p:nvSpPr>
        <p:spPr/>
        <p:txBody>
          <a:bodyPr/>
          <a:lstStyle/>
          <a:p>
            <a:r>
              <a:rPr lang="zh-TW" altLang="en-US" dirty="0"/>
              <a:t>第 </a:t>
            </a:r>
            <a:r>
              <a:rPr lang="en-US" altLang="zh-TW" dirty="0"/>
              <a:t>4 </a:t>
            </a:r>
            <a:r>
              <a:rPr lang="zh-TW" altLang="en-US" dirty="0"/>
              <a:t>章：專案管理功能</a:t>
            </a:r>
          </a:p>
        </p:txBody>
      </p:sp>
      <p:sp>
        <p:nvSpPr>
          <p:cNvPr id="5" name="文字版面配置區 4">
            <a:extLst>
              <a:ext uri="{FF2B5EF4-FFF2-40B4-BE49-F238E27FC236}">
                <a16:creationId xmlns:a16="http://schemas.microsoft.com/office/drawing/2014/main" id="{DDAB6F42-D72F-4A4A-B5B7-2B7415E3C16C}"/>
              </a:ext>
            </a:extLst>
          </p:cNvPr>
          <p:cNvSpPr>
            <a:spLocks noGrp="1"/>
          </p:cNvSpPr>
          <p:nvPr>
            <p:ph type="body" sz="quarter" idx="16"/>
          </p:nvPr>
        </p:nvSpPr>
        <p:spPr>
          <a:xfrm>
            <a:off x="271169" y="2255300"/>
            <a:ext cx="6315657" cy="286232"/>
          </a:xfrm>
        </p:spPr>
        <p:txBody>
          <a:bodyPr/>
          <a:lstStyle/>
          <a:p>
            <a:r>
              <a:rPr lang="en-US" altLang="zh-TW" dirty="0"/>
              <a:t>4 ‧ 1 </a:t>
            </a:r>
            <a:r>
              <a:rPr lang="zh-TW" altLang="en-US" dirty="0"/>
              <a:t>專案助理指南</a:t>
            </a:r>
          </a:p>
        </p:txBody>
      </p:sp>
      <p:sp>
        <p:nvSpPr>
          <p:cNvPr id="6" name="文字版面配置區 5">
            <a:extLst>
              <a:ext uri="{FF2B5EF4-FFF2-40B4-BE49-F238E27FC236}">
                <a16:creationId xmlns:a16="http://schemas.microsoft.com/office/drawing/2014/main" id="{528DA417-E288-4AA7-951E-98168BDEFC59}"/>
              </a:ext>
            </a:extLst>
          </p:cNvPr>
          <p:cNvSpPr>
            <a:spLocks noGrp="1"/>
          </p:cNvSpPr>
          <p:nvPr>
            <p:ph type="body" sz="quarter" idx="17"/>
          </p:nvPr>
        </p:nvSpPr>
        <p:spPr>
          <a:xfrm>
            <a:off x="271170" y="2547768"/>
            <a:ext cx="6315657" cy="375872"/>
          </a:xfrm>
        </p:spPr>
        <p:txBody>
          <a:bodyPr/>
          <a:lstStyle/>
          <a:p>
            <a:r>
              <a:rPr lang="zh-TW" altLang="en-US" dirty="0"/>
              <a:t>專案助理的核心職責為執行新成員申請與建築履歷的第一階段資格審查。</a:t>
            </a:r>
            <a:endParaRPr lang="en-US" altLang="zh-TW" dirty="0"/>
          </a:p>
        </p:txBody>
      </p:sp>
      <p:sp>
        <p:nvSpPr>
          <p:cNvPr id="7" name="文字版面配置區 6">
            <a:extLst>
              <a:ext uri="{FF2B5EF4-FFF2-40B4-BE49-F238E27FC236}">
                <a16:creationId xmlns:a16="http://schemas.microsoft.com/office/drawing/2014/main" id="{68BF0A03-2602-43F9-AF48-FFCE41186116}"/>
              </a:ext>
            </a:extLst>
          </p:cNvPr>
          <p:cNvSpPr>
            <a:spLocks noGrp="1"/>
          </p:cNvSpPr>
          <p:nvPr>
            <p:ph type="body" sz="quarter" idx="18"/>
          </p:nvPr>
        </p:nvSpPr>
        <p:spPr>
          <a:xfrm>
            <a:off x="271169" y="1079222"/>
            <a:ext cx="6315657" cy="1150443"/>
          </a:xfrm>
        </p:spPr>
        <p:txBody>
          <a:bodyPr/>
          <a:lstStyle/>
          <a:p>
            <a:r>
              <a:rPr lang="zh-TW" altLang="en-US" dirty="0"/>
              <a:t>本章節旨在為具備管理權限之使用者</a:t>
            </a:r>
            <a:r>
              <a:rPr lang="zh-TW" altLang="en-US" sz="1200" i="1" dirty="0"/>
              <a:t>（專案助理、專案管理員）</a:t>
            </a:r>
            <a:r>
              <a:rPr lang="zh-TW" altLang="en-US" dirty="0"/>
              <a:t>提供操作指南，內容涵蓋成員審核、權限管理及資料維護等核心職責。</a:t>
            </a:r>
            <a:endParaRPr lang="en-US" altLang="zh-TW" dirty="0"/>
          </a:p>
          <a:p>
            <a:endParaRPr lang="zh-TW" altLang="en-US" dirty="0"/>
          </a:p>
        </p:txBody>
      </p:sp>
      <p:sp>
        <p:nvSpPr>
          <p:cNvPr id="11" name="文字版面配置區 4">
            <a:extLst>
              <a:ext uri="{FF2B5EF4-FFF2-40B4-BE49-F238E27FC236}">
                <a16:creationId xmlns:a16="http://schemas.microsoft.com/office/drawing/2014/main" id="{C208578A-A170-498C-B6B1-0FD917E43CAD}"/>
              </a:ext>
            </a:extLst>
          </p:cNvPr>
          <p:cNvSpPr txBox="1">
            <a:spLocks/>
          </p:cNvSpPr>
          <p:nvPr/>
        </p:nvSpPr>
        <p:spPr>
          <a:xfrm>
            <a:off x="271171" y="3246806"/>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4 ‧ 1 ‧ 1 </a:t>
            </a:r>
            <a:r>
              <a:rPr lang="zh-TW" altLang="en-US" dirty="0"/>
              <a:t>處理成員申請之「審查」</a:t>
            </a:r>
          </a:p>
        </p:txBody>
      </p:sp>
      <p:sp>
        <p:nvSpPr>
          <p:cNvPr id="12" name="文字版面配置區 5">
            <a:extLst>
              <a:ext uri="{FF2B5EF4-FFF2-40B4-BE49-F238E27FC236}">
                <a16:creationId xmlns:a16="http://schemas.microsoft.com/office/drawing/2014/main" id="{A98F071F-4E89-44D5-B9A5-2BDC953CD4E8}"/>
              </a:ext>
            </a:extLst>
          </p:cNvPr>
          <p:cNvSpPr txBox="1">
            <a:spLocks/>
          </p:cNvSpPr>
          <p:nvPr/>
        </p:nvSpPr>
        <p:spPr>
          <a:xfrm>
            <a:off x="271172" y="3539274"/>
            <a:ext cx="6315657" cy="1473609"/>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lphaLcPeriod"/>
            </a:pPr>
            <a:r>
              <a:rPr lang="zh-TW" altLang="en-US" b="1" dirty="0"/>
              <a:t>接收通知：</a:t>
            </a:r>
            <a:r>
              <a:rPr lang="zh-TW" altLang="en-US" dirty="0"/>
              <a:t>當有新使者申請加入專案時，系統將透過 </a:t>
            </a:r>
            <a:r>
              <a:rPr lang="en-US" altLang="zh-TW" dirty="0"/>
              <a:t>Line </a:t>
            </a:r>
            <a:r>
              <a:rPr lang="zh-TW" altLang="en-US" dirty="0"/>
              <a:t>及 </a:t>
            </a:r>
            <a:r>
              <a:rPr lang="en-US" altLang="zh-TW" dirty="0"/>
              <a:t>Email </a:t>
            </a:r>
            <a:r>
              <a:rPr lang="zh-TW" altLang="en-US" dirty="0"/>
              <a:t>向指定的專案助理發送審查通知。</a:t>
            </a:r>
            <a:endParaRPr lang="en-US" altLang="zh-TW" dirty="0"/>
          </a:p>
          <a:p>
            <a:pPr marL="342900" indent="-342900">
              <a:buFont typeface="+mj-lt"/>
              <a:buAutoNum type="alphaLcPeriod"/>
            </a:pPr>
            <a:r>
              <a:rPr lang="zh-TW" altLang="en-US" b="1" dirty="0"/>
              <a:t>執行審查：</a:t>
            </a:r>
            <a:r>
              <a:rPr lang="zh-TW" altLang="en-US" dirty="0"/>
              <a:t>專案助理可直接於 </a:t>
            </a:r>
            <a:r>
              <a:rPr lang="en-US" altLang="zh-TW" dirty="0"/>
              <a:t>Line </a:t>
            </a:r>
            <a:r>
              <a:rPr lang="zh-TW" altLang="en-US" dirty="0"/>
              <a:t>中進行操作，或點擊 </a:t>
            </a:r>
            <a:r>
              <a:rPr lang="en-US" altLang="zh-TW" dirty="0"/>
              <a:t>Email </a:t>
            </a:r>
            <a:r>
              <a:rPr lang="zh-TW" altLang="en-US" dirty="0"/>
              <a:t>中的連結進入系統查頁面。此階段的職責為確認申請者的身份與資格。</a:t>
            </a:r>
            <a:endParaRPr lang="en-US" altLang="zh-TW" dirty="0"/>
          </a:p>
        </p:txBody>
      </p:sp>
      <p:sp>
        <p:nvSpPr>
          <p:cNvPr id="20" name="文字方塊 19">
            <a:extLst>
              <a:ext uri="{FF2B5EF4-FFF2-40B4-BE49-F238E27FC236}">
                <a16:creationId xmlns:a16="http://schemas.microsoft.com/office/drawing/2014/main" id="{68264D3A-B84B-45FF-94A4-5BF9CBD0DDDA}"/>
              </a:ext>
            </a:extLst>
          </p:cNvPr>
          <p:cNvSpPr txBox="1"/>
          <p:nvPr/>
        </p:nvSpPr>
        <p:spPr>
          <a:xfrm>
            <a:off x="4454692" y="8254733"/>
            <a:ext cx="1326005"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4-1-2  Email </a:t>
            </a:r>
            <a:r>
              <a:rPr lang="zh-TW" altLang="en-US" sz="1000" dirty="0">
                <a:solidFill>
                  <a:srgbClr val="4E6071"/>
                </a:solidFill>
                <a:latin typeface="微軟正黑體" panose="020B0604030504040204" pitchFamily="34" charset="-120"/>
                <a:ea typeface="微軟正黑體" panose="020B0604030504040204" pitchFamily="34" charset="-120"/>
              </a:rPr>
              <a:t>通知</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sp>
        <p:nvSpPr>
          <p:cNvPr id="21" name="文字方塊 20">
            <a:extLst>
              <a:ext uri="{FF2B5EF4-FFF2-40B4-BE49-F238E27FC236}">
                <a16:creationId xmlns:a16="http://schemas.microsoft.com/office/drawing/2014/main" id="{F5084453-1DA3-43AB-9AB2-BBDE39154CE8}"/>
              </a:ext>
            </a:extLst>
          </p:cNvPr>
          <p:cNvSpPr txBox="1"/>
          <p:nvPr/>
        </p:nvSpPr>
        <p:spPr>
          <a:xfrm>
            <a:off x="1116578" y="8254733"/>
            <a:ext cx="1247457"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4-1-1  Line </a:t>
            </a:r>
            <a:r>
              <a:rPr lang="zh-TW" altLang="en-US" sz="1000" dirty="0">
                <a:solidFill>
                  <a:srgbClr val="4E6071"/>
                </a:solidFill>
                <a:latin typeface="微軟正黑體" panose="020B0604030504040204" pitchFamily="34" charset="-120"/>
                <a:ea typeface="微軟正黑體" panose="020B0604030504040204" pitchFamily="34" charset="-120"/>
              </a:rPr>
              <a:t>通知</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pic>
        <p:nvPicPr>
          <p:cNvPr id="28" name="圖片 27">
            <a:extLst>
              <a:ext uri="{FF2B5EF4-FFF2-40B4-BE49-F238E27FC236}">
                <a16:creationId xmlns:a16="http://schemas.microsoft.com/office/drawing/2014/main" id="{42C22BBF-68F3-4085-8CA0-4708927B31A0}"/>
              </a:ext>
            </a:extLst>
          </p:cNvPr>
          <p:cNvPicPr>
            <a:picLocks noChangeAspect="1"/>
          </p:cNvPicPr>
          <p:nvPr/>
        </p:nvPicPr>
        <p:blipFill>
          <a:blip r:embed="rId4"/>
          <a:stretch>
            <a:fillRect/>
          </a:stretch>
        </p:blipFill>
        <p:spPr>
          <a:xfrm>
            <a:off x="3670872" y="5089159"/>
            <a:ext cx="2893642" cy="2234694"/>
          </a:xfrm>
          <a:prstGeom prst="roundRect">
            <a:avLst>
              <a:gd name="adj" fmla="val 1899"/>
            </a:avLst>
          </a:prstGeom>
          <a:ln w="6350">
            <a:solidFill>
              <a:srgbClr val="006CD2"/>
            </a:solidFill>
          </a:ln>
          <a:effectLst/>
        </p:spPr>
      </p:pic>
      <p:sp>
        <p:nvSpPr>
          <p:cNvPr id="17" name="矩形 16">
            <a:extLst>
              <a:ext uri="{FF2B5EF4-FFF2-40B4-BE49-F238E27FC236}">
                <a16:creationId xmlns:a16="http://schemas.microsoft.com/office/drawing/2014/main" id="{0D59883B-A0B5-4975-B041-8C4FDBFBAE6E}"/>
              </a:ext>
            </a:extLst>
          </p:cNvPr>
          <p:cNvSpPr/>
          <p:nvPr/>
        </p:nvSpPr>
        <p:spPr>
          <a:xfrm>
            <a:off x="889000" y="6437282"/>
            <a:ext cx="2026681" cy="400110"/>
          </a:xfrm>
          <a:prstGeom prst="rect">
            <a:avLst/>
          </a:prstGeom>
          <a:solidFill>
            <a:srgbClr val="FAF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 name="圖片 7">
            <a:extLst>
              <a:ext uri="{FF2B5EF4-FFF2-40B4-BE49-F238E27FC236}">
                <a16:creationId xmlns:a16="http://schemas.microsoft.com/office/drawing/2014/main" id="{5BC87368-7D7F-4BDD-A227-4EE37BBF9398}"/>
              </a:ext>
            </a:extLst>
          </p:cNvPr>
          <p:cNvPicPr>
            <a:picLocks noChangeAspect="1"/>
          </p:cNvPicPr>
          <p:nvPr/>
        </p:nvPicPr>
        <p:blipFill>
          <a:blip r:embed="rId5"/>
          <a:stretch>
            <a:fillRect/>
          </a:stretch>
        </p:blipFill>
        <p:spPr>
          <a:xfrm>
            <a:off x="889000" y="6206506"/>
            <a:ext cx="2082800" cy="423773"/>
          </a:xfrm>
          <a:prstGeom prst="rect">
            <a:avLst/>
          </a:prstGeom>
        </p:spPr>
      </p:pic>
      <p:pic>
        <p:nvPicPr>
          <p:cNvPr id="9" name="圖片 8">
            <a:extLst>
              <a:ext uri="{FF2B5EF4-FFF2-40B4-BE49-F238E27FC236}">
                <a16:creationId xmlns:a16="http://schemas.microsoft.com/office/drawing/2014/main" id="{EDE468AB-314A-40AF-B39C-8485E188AC64}"/>
              </a:ext>
            </a:extLst>
          </p:cNvPr>
          <p:cNvPicPr>
            <a:picLocks noChangeAspect="1"/>
          </p:cNvPicPr>
          <p:nvPr/>
        </p:nvPicPr>
        <p:blipFill>
          <a:blip r:embed="rId6"/>
          <a:stretch>
            <a:fillRect/>
          </a:stretch>
        </p:blipFill>
        <p:spPr>
          <a:xfrm>
            <a:off x="1920875" y="5355995"/>
            <a:ext cx="905001" cy="181000"/>
          </a:xfrm>
          <a:prstGeom prst="rect">
            <a:avLst/>
          </a:prstGeom>
        </p:spPr>
      </p:pic>
      <p:pic>
        <p:nvPicPr>
          <p:cNvPr id="10" name="圖片 9">
            <a:extLst>
              <a:ext uri="{FF2B5EF4-FFF2-40B4-BE49-F238E27FC236}">
                <a16:creationId xmlns:a16="http://schemas.microsoft.com/office/drawing/2014/main" id="{6F13AB1D-AE98-4261-8C94-697DB8C03F5B}"/>
              </a:ext>
            </a:extLst>
          </p:cNvPr>
          <p:cNvPicPr>
            <a:picLocks noChangeAspect="1"/>
          </p:cNvPicPr>
          <p:nvPr/>
        </p:nvPicPr>
        <p:blipFill>
          <a:blip r:embed="rId7"/>
          <a:stretch>
            <a:fillRect/>
          </a:stretch>
        </p:blipFill>
        <p:spPr>
          <a:xfrm>
            <a:off x="4003429" y="5112474"/>
            <a:ext cx="1889371" cy="149950"/>
          </a:xfrm>
          <a:prstGeom prst="rect">
            <a:avLst/>
          </a:prstGeom>
        </p:spPr>
      </p:pic>
      <p:pic>
        <p:nvPicPr>
          <p:cNvPr id="13" name="圖片 12">
            <a:extLst>
              <a:ext uri="{FF2B5EF4-FFF2-40B4-BE49-F238E27FC236}">
                <a16:creationId xmlns:a16="http://schemas.microsoft.com/office/drawing/2014/main" id="{45FF75BA-0305-497C-A0D3-5BC808E3F2C8}"/>
              </a:ext>
            </a:extLst>
          </p:cNvPr>
          <p:cNvPicPr>
            <a:picLocks noChangeAspect="1"/>
          </p:cNvPicPr>
          <p:nvPr/>
        </p:nvPicPr>
        <p:blipFill>
          <a:blip r:embed="rId8"/>
          <a:stretch>
            <a:fillRect/>
          </a:stretch>
        </p:blipFill>
        <p:spPr>
          <a:xfrm>
            <a:off x="4017715" y="6179505"/>
            <a:ext cx="1629404" cy="83183"/>
          </a:xfrm>
          <a:prstGeom prst="rect">
            <a:avLst/>
          </a:prstGeom>
        </p:spPr>
      </p:pic>
    </p:spTree>
    <p:extLst>
      <p:ext uri="{BB962C8B-B14F-4D97-AF65-F5344CB8AC3E}">
        <p14:creationId xmlns:p14="http://schemas.microsoft.com/office/powerpoint/2010/main" val="4015677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a16="http://schemas.microsoft.com/office/drawing/2014/main" id="{3CB84D1E-DEED-4E22-82BF-4D185BEC8C5B}"/>
              </a:ext>
            </a:extLst>
          </p:cNvPr>
          <p:cNvSpPr>
            <a:spLocks noGrp="1"/>
          </p:cNvSpPr>
          <p:nvPr>
            <p:ph type="body" sz="quarter" idx="13"/>
          </p:nvPr>
        </p:nvSpPr>
        <p:spPr>
          <a:xfrm>
            <a:off x="4954956" y="124658"/>
            <a:ext cx="1697901" cy="313932"/>
          </a:xfrm>
        </p:spPr>
        <p:txBody>
          <a:bodyPr/>
          <a:lstStyle/>
          <a:p>
            <a:r>
              <a:rPr lang="en-US" altLang="zh-TW" dirty="0"/>
              <a:t>- </a:t>
            </a:r>
            <a:r>
              <a:rPr lang="zh-TW" altLang="en-US" dirty="0"/>
              <a:t>專案管理功能 </a:t>
            </a:r>
            <a:r>
              <a:rPr lang="en-US" altLang="zh-TW" dirty="0"/>
              <a:t>-</a:t>
            </a:r>
            <a:endParaRPr lang="zh-TW" altLang="en-US" dirty="0"/>
          </a:p>
        </p:txBody>
      </p:sp>
      <p:sp>
        <p:nvSpPr>
          <p:cNvPr id="5" name="投影片編號版面配置區 4">
            <a:extLst>
              <a:ext uri="{FF2B5EF4-FFF2-40B4-BE49-F238E27FC236}">
                <a16:creationId xmlns:a16="http://schemas.microsoft.com/office/drawing/2014/main" id="{F08DCF50-30E8-49DD-AD2A-D952930BBE65}"/>
              </a:ext>
            </a:extLst>
          </p:cNvPr>
          <p:cNvSpPr>
            <a:spLocks noGrp="1"/>
          </p:cNvSpPr>
          <p:nvPr>
            <p:ph type="sldNum" sz="quarter" idx="12"/>
          </p:nvPr>
        </p:nvSpPr>
        <p:spPr/>
        <p:txBody>
          <a:bodyPr/>
          <a:lstStyle/>
          <a:p>
            <a:fld id="{87F2EC76-4ACB-421A-B9EA-F72429D0FACA}" type="slidenum">
              <a:rPr lang="zh-TW" altLang="en-US" smtClean="0"/>
              <a:pPr/>
              <a:t>20</a:t>
            </a:fld>
            <a:endParaRPr lang="zh-TW" altLang="en-US" dirty="0"/>
          </a:p>
        </p:txBody>
      </p:sp>
      <p:sp>
        <p:nvSpPr>
          <p:cNvPr id="17" name="文字方塊 16">
            <a:extLst>
              <a:ext uri="{FF2B5EF4-FFF2-40B4-BE49-F238E27FC236}">
                <a16:creationId xmlns:a16="http://schemas.microsoft.com/office/drawing/2014/main" id="{C73FDE4D-B718-49D8-9925-BDF0992C26E4}"/>
              </a:ext>
            </a:extLst>
          </p:cNvPr>
          <p:cNvSpPr txBox="1"/>
          <p:nvPr/>
        </p:nvSpPr>
        <p:spPr>
          <a:xfrm>
            <a:off x="2705115" y="3838124"/>
            <a:ext cx="1447832" cy="246221"/>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4-1-3 </a:t>
            </a:r>
            <a:r>
              <a:rPr lang="zh-TW" altLang="en-US" sz="1000" dirty="0">
                <a:solidFill>
                  <a:srgbClr val="4E6071"/>
                </a:solidFill>
                <a:latin typeface="微軟正黑體" panose="020B0604030504040204" pitchFamily="34" charset="-120"/>
                <a:ea typeface="微軟正黑體" panose="020B0604030504040204" pitchFamily="34" charset="-120"/>
              </a:rPr>
              <a:t>系統審查頁面</a:t>
            </a:r>
            <a:endParaRPr lang="en-US" altLang="zh-TW" sz="1000" dirty="0">
              <a:solidFill>
                <a:srgbClr val="4E6071"/>
              </a:solidFill>
              <a:latin typeface="微軟正黑體" panose="020B0604030504040204" pitchFamily="34" charset="-120"/>
              <a:ea typeface="微軟正黑體" panose="020B0604030504040204" pitchFamily="34" charset="-120"/>
            </a:endParaRPr>
          </a:p>
        </p:txBody>
      </p:sp>
      <p:pic>
        <p:nvPicPr>
          <p:cNvPr id="3" name="圖片 2">
            <a:extLst>
              <a:ext uri="{FF2B5EF4-FFF2-40B4-BE49-F238E27FC236}">
                <a16:creationId xmlns:a16="http://schemas.microsoft.com/office/drawing/2014/main" id="{B82F1C85-79EA-46E0-98F9-4424681615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53" y="776923"/>
            <a:ext cx="5767291" cy="3054851"/>
          </a:xfrm>
          <a:prstGeom prst="roundRect">
            <a:avLst>
              <a:gd name="adj" fmla="val 1899"/>
            </a:avLst>
          </a:prstGeom>
          <a:ln w="6350">
            <a:solidFill>
              <a:srgbClr val="006CD2"/>
            </a:solidFill>
          </a:ln>
          <a:effectLst/>
        </p:spPr>
      </p:pic>
      <p:sp>
        <p:nvSpPr>
          <p:cNvPr id="16" name="矩形 15">
            <a:extLst>
              <a:ext uri="{FF2B5EF4-FFF2-40B4-BE49-F238E27FC236}">
                <a16:creationId xmlns:a16="http://schemas.microsoft.com/office/drawing/2014/main" id="{33CB9F62-A69B-4AD5-B314-39845324FAE9}"/>
              </a:ext>
            </a:extLst>
          </p:cNvPr>
          <p:cNvSpPr/>
          <p:nvPr/>
        </p:nvSpPr>
        <p:spPr>
          <a:xfrm>
            <a:off x="4237923" y="1676218"/>
            <a:ext cx="379798" cy="1983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版面配置區 5">
            <a:extLst>
              <a:ext uri="{FF2B5EF4-FFF2-40B4-BE49-F238E27FC236}">
                <a16:creationId xmlns:a16="http://schemas.microsoft.com/office/drawing/2014/main" id="{592ADD5A-2EC6-4BAD-9B72-D5417F6C8E4A}"/>
              </a:ext>
            </a:extLst>
          </p:cNvPr>
          <p:cNvSpPr txBox="1">
            <a:spLocks/>
          </p:cNvSpPr>
          <p:nvPr/>
        </p:nvSpPr>
        <p:spPr>
          <a:xfrm>
            <a:off x="271172" y="4084345"/>
            <a:ext cx="6315657" cy="699038"/>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lphaLcPeriod" startAt="3"/>
            </a:pPr>
            <a:r>
              <a:rPr lang="zh-TW" altLang="en-US" b="1" dirty="0"/>
              <a:t>提交結果：</a:t>
            </a:r>
            <a:r>
              <a:rPr lang="zh-TW" altLang="en-US" dirty="0"/>
              <a:t>審查同意後，系統會自動將申請案提交至下一階段</a:t>
            </a:r>
            <a:r>
              <a:rPr lang="zh-TW" altLang="en-US" sz="1200" i="1" dirty="0"/>
              <a:t>（專案管理員）</a:t>
            </a:r>
            <a:r>
              <a:rPr lang="zh-TW" altLang="en-US" dirty="0"/>
              <a:t>；如審查駁回，系統會自動通知使用者申請已被駁回。</a:t>
            </a:r>
            <a:endParaRPr lang="en-US" altLang="zh-TW" dirty="0"/>
          </a:p>
        </p:txBody>
      </p:sp>
    </p:spTree>
    <p:extLst>
      <p:ext uri="{BB962C8B-B14F-4D97-AF65-F5344CB8AC3E}">
        <p14:creationId xmlns:p14="http://schemas.microsoft.com/office/powerpoint/2010/main" val="209239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a16="http://schemas.microsoft.com/office/drawing/2014/main" id="{3CB84D1E-DEED-4E22-82BF-4D185BEC8C5B}"/>
              </a:ext>
            </a:extLst>
          </p:cNvPr>
          <p:cNvSpPr>
            <a:spLocks noGrp="1"/>
          </p:cNvSpPr>
          <p:nvPr>
            <p:ph type="body" sz="quarter" idx="13"/>
          </p:nvPr>
        </p:nvSpPr>
        <p:spPr>
          <a:xfrm>
            <a:off x="4954956" y="124658"/>
            <a:ext cx="1697901" cy="313932"/>
          </a:xfrm>
        </p:spPr>
        <p:txBody>
          <a:bodyPr/>
          <a:lstStyle/>
          <a:p>
            <a:r>
              <a:rPr lang="en-US" altLang="zh-TW" dirty="0"/>
              <a:t>- </a:t>
            </a:r>
            <a:r>
              <a:rPr lang="zh-TW" altLang="en-US" dirty="0"/>
              <a:t>專案管理功能 </a:t>
            </a:r>
            <a:r>
              <a:rPr lang="en-US" altLang="zh-TW" dirty="0"/>
              <a:t>-</a:t>
            </a:r>
            <a:endParaRPr lang="zh-TW" altLang="en-US" dirty="0"/>
          </a:p>
        </p:txBody>
      </p:sp>
      <p:sp>
        <p:nvSpPr>
          <p:cNvPr id="2" name="文字版面配置區 1">
            <a:extLst>
              <a:ext uri="{FF2B5EF4-FFF2-40B4-BE49-F238E27FC236}">
                <a16:creationId xmlns:a16="http://schemas.microsoft.com/office/drawing/2014/main" id="{30797615-B803-408D-A075-900316D22E5C}"/>
              </a:ext>
            </a:extLst>
          </p:cNvPr>
          <p:cNvSpPr>
            <a:spLocks noGrp="1"/>
          </p:cNvSpPr>
          <p:nvPr>
            <p:ph type="body" sz="quarter" idx="16"/>
          </p:nvPr>
        </p:nvSpPr>
        <p:spPr>
          <a:xfrm>
            <a:off x="271172" y="766455"/>
            <a:ext cx="6315657" cy="286232"/>
          </a:xfrm>
        </p:spPr>
        <p:txBody>
          <a:bodyPr/>
          <a:lstStyle/>
          <a:p>
            <a:r>
              <a:rPr lang="en-US" altLang="zh-TW" dirty="0"/>
              <a:t>4 ‧ 1 ‧ 2</a:t>
            </a:r>
            <a:r>
              <a:rPr lang="zh-TW" altLang="en-US" dirty="0"/>
              <a:t> 建築履歷「審查」</a:t>
            </a:r>
          </a:p>
        </p:txBody>
      </p:sp>
      <p:sp>
        <p:nvSpPr>
          <p:cNvPr id="5" name="投影片編號版面配置區 4">
            <a:extLst>
              <a:ext uri="{FF2B5EF4-FFF2-40B4-BE49-F238E27FC236}">
                <a16:creationId xmlns:a16="http://schemas.microsoft.com/office/drawing/2014/main" id="{F08DCF50-30E8-49DD-AD2A-D952930BBE65}"/>
              </a:ext>
            </a:extLst>
          </p:cNvPr>
          <p:cNvSpPr>
            <a:spLocks noGrp="1"/>
          </p:cNvSpPr>
          <p:nvPr>
            <p:ph type="sldNum" sz="quarter" idx="12"/>
          </p:nvPr>
        </p:nvSpPr>
        <p:spPr/>
        <p:txBody>
          <a:bodyPr/>
          <a:lstStyle/>
          <a:p>
            <a:fld id="{87F2EC76-4ACB-421A-B9EA-F72429D0FACA}" type="slidenum">
              <a:rPr lang="zh-TW" altLang="en-US" smtClean="0"/>
              <a:pPr/>
              <a:t>21</a:t>
            </a:fld>
            <a:endParaRPr lang="zh-TW" altLang="en-US" dirty="0"/>
          </a:p>
        </p:txBody>
      </p:sp>
      <p:sp>
        <p:nvSpPr>
          <p:cNvPr id="20" name="文字方塊 19">
            <a:extLst>
              <a:ext uri="{FF2B5EF4-FFF2-40B4-BE49-F238E27FC236}">
                <a16:creationId xmlns:a16="http://schemas.microsoft.com/office/drawing/2014/main" id="{B43F9040-C15F-41F5-A141-5466A744C0F9}"/>
              </a:ext>
            </a:extLst>
          </p:cNvPr>
          <p:cNvSpPr txBox="1"/>
          <p:nvPr/>
        </p:nvSpPr>
        <p:spPr>
          <a:xfrm>
            <a:off x="2687688" y="8415915"/>
            <a:ext cx="1479892" cy="246221"/>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4-2-3  </a:t>
            </a:r>
            <a:r>
              <a:rPr lang="zh-TW" altLang="en-US" sz="1000" dirty="0">
                <a:solidFill>
                  <a:srgbClr val="4E6071"/>
                </a:solidFill>
                <a:latin typeface="微軟正黑體" panose="020B0604030504040204" pitchFamily="34" charset="-120"/>
                <a:ea typeface="微軟正黑體" panose="020B0604030504040204" pitchFamily="34" charset="-120"/>
              </a:rPr>
              <a:t>建築履歷審查</a:t>
            </a:r>
          </a:p>
        </p:txBody>
      </p:sp>
      <p:sp>
        <p:nvSpPr>
          <p:cNvPr id="11" name="文字版面配置區 10">
            <a:extLst>
              <a:ext uri="{FF2B5EF4-FFF2-40B4-BE49-F238E27FC236}">
                <a16:creationId xmlns:a16="http://schemas.microsoft.com/office/drawing/2014/main" id="{DB6DD4F0-71EB-4559-9AB5-E837CC87BD80}"/>
              </a:ext>
            </a:extLst>
          </p:cNvPr>
          <p:cNvSpPr>
            <a:spLocks noGrp="1"/>
          </p:cNvSpPr>
          <p:nvPr>
            <p:ph type="body" sz="quarter" idx="17"/>
          </p:nvPr>
        </p:nvSpPr>
        <p:spPr>
          <a:xfrm>
            <a:off x="271172" y="1058923"/>
            <a:ext cx="6315657" cy="3022751"/>
          </a:xfrm>
        </p:spPr>
        <p:txBody>
          <a:bodyPr/>
          <a:lstStyle/>
          <a:p>
            <a:r>
              <a:rPr lang="zh-TW" altLang="en-US" dirty="0"/>
              <a:t>專案助理負責建築履歷的全面管理，包含查閱提交資料是否正確與第一階段資格審查，基本上流程與專案查核一樣。</a:t>
            </a:r>
            <a:endParaRPr lang="en-US" altLang="zh-TW" b="1" dirty="0"/>
          </a:p>
          <a:p>
            <a:pPr marL="342900" indent="-342900">
              <a:buFont typeface="+mj-lt"/>
              <a:buAutoNum type="arabicPeriod"/>
            </a:pPr>
            <a:r>
              <a:rPr lang="zh-TW" altLang="en-US" b="1" dirty="0"/>
              <a:t>接收通知：</a:t>
            </a:r>
            <a:r>
              <a:rPr lang="zh-TW" altLang="en-US" dirty="0"/>
              <a:t>當有新使者申請加入專案時，系統將透過 </a:t>
            </a:r>
            <a:r>
              <a:rPr lang="en-US" altLang="zh-TW" dirty="0"/>
              <a:t>Line </a:t>
            </a:r>
            <a:r>
              <a:rPr lang="zh-TW" altLang="en-US" dirty="0"/>
              <a:t>及 </a:t>
            </a:r>
            <a:r>
              <a:rPr lang="en-US" altLang="zh-TW" dirty="0"/>
              <a:t>Email </a:t>
            </a:r>
            <a:r>
              <a:rPr lang="zh-TW" altLang="en-US" dirty="0"/>
              <a:t>向指定的專案助理發送審查通知。</a:t>
            </a:r>
            <a:endParaRPr lang="en-US" altLang="zh-TW" dirty="0"/>
          </a:p>
          <a:p>
            <a:pPr marL="342900" indent="-342900">
              <a:buFont typeface="+mj-lt"/>
              <a:buAutoNum type="arabicPeriod"/>
            </a:pPr>
            <a:r>
              <a:rPr lang="zh-TW" altLang="en-US" b="1" dirty="0"/>
              <a:t>執行審查：</a:t>
            </a:r>
            <a:r>
              <a:rPr lang="zh-TW" altLang="en-US" dirty="0"/>
              <a:t>專案助理可直接於 </a:t>
            </a:r>
            <a:r>
              <a:rPr lang="en-US" altLang="zh-TW" dirty="0"/>
              <a:t>Line </a:t>
            </a:r>
            <a:r>
              <a:rPr lang="zh-TW" altLang="en-US" dirty="0"/>
              <a:t>中進行操作，或點擊 </a:t>
            </a:r>
            <a:r>
              <a:rPr lang="en-US" altLang="zh-TW" dirty="0"/>
              <a:t>Email </a:t>
            </a:r>
            <a:r>
              <a:rPr lang="zh-TW" altLang="en-US" dirty="0"/>
              <a:t>中的連結進入系統查頁面。此階段的職責為確認申請者的身份與資格。</a:t>
            </a:r>
            <a:endParaRPr lang="en-US" altLang="zh-TW" dirty="0"/>
          </a:p>
          <a:p>
            <a:pPr marL="342900" indent="-342900">
              <a:buFont typeface="+mj-lt"/>
              <a:buAutoNum type="arabicPeriod"/>
            </a:pPr>
            <a:r>
              <a:rPr lang="zh-TW" altLang="en-US" b="1" dirty="0"/>
              <a:t>提交結果：</a:t>
            </a:r>
            <a:r>
              <a:rPr lang="zh-TW" altLang="en-US" dirty="0"/>
              <a:t>審查同意後，系統會自動將申請案提交至下一階段</a:t>
            </a:r>
            <a:r>
              <a:rPr lang="zh-TW" altLang="en-US" sz="1050" i="1" dirty="0"/>
              <a:t>（專案管理員）</a:t>
            </a:r>
            <a:r>
              <a:rPr lang="zh-TW" altLang="en-US" dirty="0"/>
              <a:t>；如審查駁回，系統會自動通知使用者申請已被駁回。</a:t>
            </a:r>
            <a:endParaRPr lang="en-US" altLang="zh-TW" dirty="0"/>
          </a:p>
        </p:txBody>
      </p:sp>
      <p:pic>
        <p:nvPicPr>
          <p:cNvPr id="16" name="圖片 15">
            <a:extLst>
              <a:ext uri="{FF2B5EF4-FFF2-40B4-BE49-F238E27FC236}">
                <a16:creationId xmlns:a16="http://schemas.microsoft.com/office/drawing/2014/main" id="{A2D48934-5345-4E56-846C-054F5DE2EE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318" y="5360357"/>
            <a:ext cx="5768626" cy="3055558"/>
          </a:xfrm>
          <a:prstGeom prst="roundRect">
            <a:avLst>
              <a:gd name="adj" fmla="val 1899"/>
            </a:avLst>
          </a:prstGeom>
          <a:ln w="6350">
            <a:solidFill>
              <a:srgbClr val="007F4C"/>
            </a:solidFill>
          </a:ln>
          <a:effectLst/>
        </p:spPr>
      </p:pic>
      <p:sp>
        <p:nvSpPr>
          <p:cNvPr id="17" name="矩形 16">
            <a:extLst>
              <a:ext uri="{FF2B5EF4-FFF2-40B4-BE49-F238E27FC236}">
                <a16:creationId xmlns:a16="http://schemas.microsoft.com/office/drawing/2014/main" id="{3E0C69F6-4235-4D1D-8FF3-2230AEA15BD6}"/>
              </a:ext>
            </a:extLst>
          </p:cNvPr>
          <p:cNvSpPr/>
          <p:nvPr/>
        </p:nvSpPr>
        <p:spPr>
          <a:xfrm>
            <a:off x="5328658" y="6661277"/>
            <a:ext cx="226322" cy="1353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版面配置區 10">
            <a:extLst>
              <a:ext uri="{FF2B5EF4-FFF2-40B4-BE49-F238E27FC236}">
                <a16:creationId xmlns:a16="http://schemas.microsoft.com/office/drawing/2014/main" id="{D9D107AF-4FC4-4609-B9DB-D9D27C9C54C7}"/>
              </a:ext>
            </a:extLst>
          </p:cNvPr>
          <p:cNvSpPr txBox="1">
            <a:spLocks/>
          </p:cNvSpPr>
          <p:nvPr/>
        </p:nvSpPr>
        <p:spPr>
          <a:xfrm>
            <a:off x="269802" y="4081674"/>
            <a:ext cx="6315657" cy="1278683"/>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b="1" dirty="0"/>
              <a:t>在審查、審核前請先確認提交資料是否正確無誤後再進行。</a:t>
            </a:r>
            <a:endParaRPr lang="en-US" altLang="zh-TW" b="1" dirty="0"/>
          </a:p>
          <a:p>
            <a:pPr marL="342900" indent="-342900">
              <a:buFont typeface="+mj-lt"/>
              <a:buAutoNum type="alphaLcPeriod"/>
            </a:pPr>
            <a:r>
              <a:rPr lang="zh-TW" altLang="en-US" b="1" dirty="0"/>
              <a:t>展開：</a:t>
            </a:r>
            <a:r>
              <a:rPr lang="zh-TW" altLang="en-US" dirty="0"/>
              <a:t>先點擊箭頭可展開此筆中的所有提交資料。</a:t>
            </a:r>
            <a:endParaRPr lang="en-US" altLang="zh-TW" dirty="0"/>
          </a:p>
          <a:p>
            <a:pPr marL="342900" indent="-342900">
              <a:buFont typeface="+mj-lt"/>
              <a:buAutoNum type="alphaLcPeriod"/>
            </a:pPr>
            <a:r>
              <a:rPr lang="zh-TW" altLang="en-US" b="1" dirty="0"/>
              <a:t>查閱履歷內容：</a:t>
            </a:r>
            <a:r>
              <a:rPr lang="zh-TW" altLang="en-US" dirty="0"/>
              <a:t>點擊按鈕可查閱提交的建築履歷資料。</a:t>
            </a:r>
            <a:endParaRPr lang="en-US" altLang="zh-TW" dirty="0"/>
          </a:p>
        </p:txBody>
      </p:sp>
      <p:sp>
        <p:nvSpPr>
          <p:cNvPr id="10" name="橢圓 9">
            <a:extLst>
              <a:ext uri="{FF2B5EF4-FFF2-40B4-BE49-F238E27FC236}">
                <a16:creationId xmlns:a16="http://schemas.microsoft.com/office/drawing/2014/main" id="{DC502BFA-50BB-41A9-9134-593DC24D00CE}"/>
              </a:ext>
            </a:extLst>
          </p:cNvPr>
          <p:cNvSpPr/>
          <p:nvPr/>
        </p:nvSpPr>
        <p:spPr>
          <a:xfrm>
            <a:off x="5165174" y="6480524"/>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b</a:t>
            </a:r>
            <a:endParaRPr lang="zh-TW" altLang="en-US" sz="1200" b="1" dirty="0"/>
          </a:p>
        </p:txBody>
      </p:sp>
      <p:sp>
        <p:nvSpPr>
          <p:cNvPr id="12" name="矩形 11">
            <a:extLst>
              <a:ext uri="{FF2B5EF4-FFF2-40B4-BE49-F238E27FC236}">
                <a16:creationId xmlns:a16="http://schemas.microsoft.com/office/drawing/2014/main" id="{0BB51FFA-5BB9-44A4-8FED-D9C0D2E9B9F5}"/>
              </a:ext>
            </a:extLst>
          </p:cNvPr>
          <p:cNvSpPr/>
          <p:nvPr/>
        </p:nvSpPr>
        <p:spPr>
          <a:xfrm>
            <a:off x="5958046" y="6345143"/>
            <a:ext cx="226322" cy="1353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AEC5252D-C510-431C-9F1A-8BA0906D1CAD}"/>
              </a:ext>
            </a:extLst>
          </p:cNvPr>
          <p:cNvSpPr/>
          <p:nvPr/>
        </p:nvSpPr>
        <p:spPr>
          <a:xfrm>
            <a:off x="5803906" y="6164390"/>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a</a:t>
            </a:r>
            <a:endParaRPr lang="zh-TW" altLang="en-US" sz="1200" b="1" dirty="0"/>
          </a:p>
        </p:txBody>
      </p:sp>
      <p:sp>
        <p:nvSpPr>
          <p:cNvPr id="14" name="矩形 13">
            <a:extLst>
              <a:ext uri="{FF2B5EF4-FFF2-40B4-BE49-F238E27FC236}">
                <a16:creationId xmlns:a16="http://schemas.microsoft.com/office/drawing/2014/main" id="{BED5A1EA-B380-4609-B4EF-5EBA54F1C21A}"/>
              </a:ext>
            </a:extLst>
          </p:cNvPr>
          <p:cNvSpPr/>
          <p:nvPr/>
        </p:nvSpPr>
        <p:spPr>
          <a:xfrm>
            <a:off x="4356935" y="6331689"/>
            <a:ext cx="329056" cy="1749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79994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群組 5">
            <a:extLst>
              <a:ext uri="{FF2B5EF4-FFF2-40B4-BE49-F238E27FC236}">
                <a16:creationId xmlns:a16="http://schemas.microsoft.com/office/drawing/2014/main" id="{7637C616-6217-4181-AA16-C2E3E32A65E9}"/>
              </a:ext>
            </a:extLst>
          </p:cNvPr>
          <p:cNvGrpSpPr/>
          <p:nvPr/>
        </p:nvGrpSpPr>
        <p:grpSpPr>
          <a:xfrm>
            <a:off x="293486" y="3962971"/>
            <a:ext cx="2887765" cy="3432760"/>
            <a:chOff x="293486" y="372872"/>
            <a:chExt cx="2887765" cy="3432760"/>
          </a:xfrm>
        </p:grpSpPr>
        <p:pic>
          <p:nvPicPr>
            <p:cNvPr id="3" name="圖片 2">
              <a:extLst>
                <a:ext uri="{FF2B5EF4-FFF2-40B4-BE49-F238E27FC236}">
                  <a16:creationId xmlns:a16="http://schemas.microsoft.com/office/drawing/2014/main" id="{2DBC76B2-0474-4CC0-A332-C215A96FC54C}"/>
                </a:ext>
              </a:extLst>
            </p:cNvPr>
            <p:cNvPicPr>
              <a:picLocks noChangeAspect="1"/>
            </p:cNvPicPr>
            <p:nvPr/>
          </p:nvPicPr>
          <p:blipFill>
            <a:blip r:embed="rId2"/>
            <a:stretch>
              <a:fillRect/>
            </a:stretch>
          </p:blipFill>
          <p:spPr>
            <a:xfrm>
              <a:off x="293486" y="372872"/>
              <a:ext cx="2887765" cy="3432760"/>
            </a:xfrm>
            <a:prstGeom prst="roundRect">
              <a:avLst>
                <a:gd name="adj" fmla="val 1899"/>
              </a:avLst>
            </a:prstGeom>
            <a:ln w="6350">
              <a:solidFill>
                <a:srgbClr val="007F4C"/>
              </a:solidFill>
            </a:ln>
            <a:effectLst/>
          </p:spPr>
        </p:pic>
        <p:pic>
          <p:nvPicPr>
            <p:cNvPr id="22" name="圖片 21">
              <a:extLst>
                <a:ext uri="{FF2B5EF4-FFF2-40B4-BE49-F238E27FC236}">
                  <a16:creationId xmlns:a16="http://schemas.microsoft.com/office/drawing/2014/main" id="{B0E22849-87CB-4666-9E5F-CDB09FFEB9B7}"/>
                </a:ext>
              </a:extLst>
            </p:cNvPr>
            <p:cNvPicPr>
              <a:picLocks noChangeAspect="1"/>
            </p:cNvPicPr>
            <p:nvPr/>
          </p:nvPicPr>
          <p:blipFill>
            <a:blip r:embed="rId3"/>
            <a:stretch>
              <a:fillRect/>
            </a:stretch>
          </p:blipFill>
          <p:spPr>
            <a:xfrm>
              <a:off x="341705" y="409369"/>
              <a:ext cx="448515" cy="434046"/>
            </a:xfrm>
            <a:prstGeom prst="roundRect">
              <a:avLst>
                <a:gd name="adj" fmla="val 1899"/>
              </a:avLst>
            </a:prstGeom>
            <a:ln w="6350">
              <a:solidFill>
                <a:srgbClr val="007F4C"/>
              </a:solidFill>
            </a:ln>
            <a:effectLst/>
          </p:spPr>
        </p:pic>
      </p:grpSp>
      <p:sp>
        <p:nvSpPr>
          <p:cNvPr id="2" name="文字版面配置區 1">
            <a:extLst>
              <a:ext uri="{FF2B5EF4-FFF2-40B4-BE49-F238E27FC236}">
                <a16:creationId xmlns:a16="http://schemas.microsoft.com/office/drawing/2014/main" id="{30797615-B803-408D-A075-900316D22E5C}"/>
              </a:ext>
            </a:extLst>
          </p:cNvPr>
          <p:cNvSpPr>
            <a:spLocks noGrp="1"/>
          </p:cNvSpPr>
          <p:nvPr>
            <p:ph type="body" sz="quarter" idx="16"/>
          </p:nvPr>
        </p:nvSpPr>
        <p:spPr>
          <a:xfrm>
            <a:off x="271172" y="766455"/>
            <a:ext cx="6315657" cy="286232"/>
          </a:xfrm>
        </p:spPr>
        <p:txBody>
          <a:bodyPr/>
          <a:lstStyle/>
          <a:p>
            <a:r>
              <a:rPr lang="en-US" altLang="zh-TW" dirty="0"/>
              <a:t>4 ‧ 2 </a:t>
            </a:r>
            <a:r>
              <a:rPr lang="zh-TW" altLang="en-US" dirty="0"/>
              <a:t>專案管理員指南</a:t>
            </a:r>
          </a:p>
        </p:txBody>
      </p:sp>
      <p:sp>
        <p:nvSpPr>
          <p:cNvPr id="4" name="文字版面配置區 3">
            <a:extLst>
              <a:ext uri="{FF2B5EF4-FFF2-40B4-BE49-F238E27FC236}">
                <a16:creationId xmlns:a16="http://schemas.microsoft.com/office/drawing/2014/main" id="{3CB84D1E-DEED-4E22-82BF-4D185BEC8C5B}"/>
              </a:ext>
            </a:extLst>
          </p:cNvPr>
          <p:cNvSpPr>
            <a:spLocks noGrp="1"/>
          </p:cNvSpPr>
          <p:nvPr>
            <p:ph type="body" sz="quarter" idx="13"/>
          </p:nvPr>
        </p:nvSpPr>
        <p:spPr>
          <a:xfrm>
            <a:off x="4954956" y="124658"/>
            <a:ext cx="1697901" cy="313932"/>
          </a:xfrm>
        </p:spPr>
        <p:txBody>
          <a:bodyPr/>
          <a:lstStyle/>
          <a:p>
            <a:r>
              <a:rPr lang="en-US" altLang="zh-TW" dirty="0"/>
              <a:t>- </a:t>
            </a:r>
            <a:r>
              <a:rPr lang="zh-TW" altLang="en-US" dirty="0"/>
              <a:t>專案管理功能 </a:t>
            </a:r>
            <a:r>
              <a:rPr lang="en-US" altLang="zh-TW" dirty="0"/>
              <a:t>-</a:t>
            </a:r>
            <a:endParaRPr lang="zh-TW" altLang="en-US" dirty="0"/>
          </a:p>
        </p:txBody>
      </p:sp>
      <p:sp>
        <p:nvSpPr>
          <p:cNvPr id="5" name="投影片編號版面配置區 4">
            <a:extLst>
              <a:ext uri="{FF2B5EF4-FFF2-40B4-BE49-F238E27FC236}">
                <a16:creationId xmlns:a16="http://schemas.microsoft.com/office/drawing/2014/main" id="{F08DCF50-30E8-49DD-AD2A-D952930BBE65}"/>
              </a:ext>
            </a:extLst>
          </p:cNvPr>
          <p:cNvSpPr>
            <a:spLocks noGrp="1"/>
          </p:cNvSpPr>
          <p:nvPr>
            <p:ph type="sldNum" sz="quarter" idx="12"/>
          </p:nvPr>
        </p:nvSpPr>
        <p:spPr/>
        <p:txBody>
          <a:bodyPr/>
          <a:lstStyle/>
          <a:p>
            <a:fld id="{87F2EC76-4ACB-421A-B9EA-F72429D0FACA}" type="slidenum">
              <a:rPr lang="zh-TW" altLang="en-US" smtClean="0"/>
              <a:pPr/>
              <a:t>22</a:t>
            </a:fld>
            <a:endParaRPr lang="zh-TW" altLang="en-US" dirty="0"/>
          </a:p>
        </p:txBody>
      </p:sp>
      <p:sp>
        <p:nvSpPr>
          <p:cNvPr id="7" name="文字版面配置區 6">
            <a:extLst>
              <a:ext uri="{FF2B5EF4-FFF2-40B4-BE49-F238E27FC236}">
                <a16:creationId xmlns:a16="http://schemas.microsoft.com/office/drawing/2014/main" id="{39B071EF-0812-4BE3-B6FB-F055A2EF7097}"/>
              </a:ext>
            </a:extLst>
          </p:cNvPr>
          <p:cNvSpPr>
            <a:spLocks noGrp="1"/>
          </p:cNvSpPr>
          <p:nvPr>
            <p:ph type="body" sz="quarter" idx="17"/>
          </p:nvPr>
        </p:nvSpPr>
        <p:spPr>
          <a:xfrm>
            <a:off x="271172" y="1052687"/>
            <a:ext cx="6315657" cy="1150443"/>
          </a:xfrm>
        </p:spPr>
        <p:txBody>
          <a:bodyPr/>
          <a:lstStyle/>
          <a:p>
            <a:r>
              <a:rPr lang="zh-TW" altLang="en-US" dirty="0"/>
              <a:t>專案管理員負責專案的全面管理，包含最終審核、成員權限配置及建築履歷資料的維護。</a:t>
            </a:r>
            <a:endParaRPr lang="en-US" altLang="zh-TW" dirty="0"/>
          </a:p>
          <a:p>
            <a:endParaRPr lang="zh-TW" altLang="en-US" dirty="0"/>
          </a:p>
        </p:txBody>
      </p:sp>
      <p:sp>
        <p:nvSpPr>
          <p:cNvPr id="9" name="文字版面配置區 4">
            <a:extLst>
              <a:ext uri="{FF2B5EF4-FFF2-40B4-BE49-F238E27FC236}">
                <a16:creationId xmlns:a16="http://schemas.microsoft.com/office/drawing/2014/main" id="{ECF519F9-51B8-4BAA-B2D4-83D7FE7AF519}"/>
              </a:ext>
            </a:extLst>
          </p:cNvPr>
          <p:cNvSpPr txBox="1">
            <a:spLocks/>
          </p:cNvSpPr>
          <p:nvPr/>
        </p:nvSpPr>
        <p:spPr>
          <a:xfrm>
            <a:off x="271169" y="2203130"/>
            <a:ext cx="6315657" cy="286232"/>
          </a:xfrm>
          <a:prstGeom prst="rect">
            <a:avLst/>
          </a:prstGeom>
        </p:spPr>
        <p:txBody>
          <a:bodyPr wrap="square">
            <a:sp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4 ‧ 2 ‧ 1 </a:t>
            </a:r>
            <a:r>
              <a:rPr lang="zh-TW" altLang="en-US" dirty="0"/>
              <a:t>處理成員申請之「審核」</a:t>
            </a:r>
          </a:p>
        </p:txBody>
      </p:sp>
      <p:sp>
        <p:nvSpPr>
          <p:cNvPr id="12" name="文字版面配置區 5">
            <a:extLst>
              <a:ext uri="{FF2B5EF4-FFF2-40B4-BE49-F238E27FC236}">
                <a16:creationId xmlns:a16="http://schemas.microsoft.com/office/drawing/2014/main" id="{2D9E9B55-ED26-46DE-9060-38BDE431DCA0}"/>
              </a:ext>
            </a:extLst>
          </p:cNvPr>
          <p:cNvSpPr txBox="1">
            <a:spLocks/>
          </p:cNvSpPr>
          <p:nvPr/>
        </p:nvSpPr>
        <p:spPr>
          <a:xfrm>
            <a:off x="271172" y="2489362"/>
            <a:ext cx="6315657" cy="1473609"/>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lphaLcPeriod"/>
            </a:pPr>
            <a:r>
              <a:rPr lang="zh-TW" altLang="en-US" b="1" dirty="0"/>
              <a:t>接收通知：</a:t>
            </a:r>
            <a:r>
              <a:rPr lang="zh-TW" altLang="en-US" dirty="0"/>
              <a:t>當專案助理完成初步審查後，申請案自動提交至專案管理員。系統同樣會以 </a:t>
            </a:r>
            <a:r>
              <a:rPr lang="en-US" altLang="zh-TW" dirty="0"/>
              <a:t>Line </a:t>
            </a:r>
            <a:r>
              <a:rPr lang="zh-TW" altLang="en-US" dirty="0"/>
              <a:t>及 </a:t>
            </a:r>
            <a:r>
              <a:rPr lang="en-US" altLang="zh-TW" dirty="0"/>
              <a:t>Email </a:t>
            </a:r>
            <a:r>
              <a:rPr lang="zh-TW" altLang="en-US" dirty="0"/>
              <a:t>發送最終審核通知。</a:t>
            </a:r>
            <a:endParaRPr lang="en-US" altLang="zh-TW" dirty="0"/>
          </a:p>
          <a:p>
            <a:pPr marL="342900" indent="-342900">
              <a:buFont typeface="+mj-lt"/>
              <a:buAutoNum type="alphaLcPeriod"/>
            </a:pPr>
            <a:r>
              <a:rPr lang="zh-TW" altLang="en-US" b="1" dirty="0"/>
              <a:t>執行審核：</a:t>
            </a:r>
            <a:r>
              <a:rPr lang="zh-TW" altLang="en-US" dirty="0"/>
              <a:t>專案管理員可透過相同管道</a:t>
            </a:r>
            <a:r>
              <a:rPr lang="zh-TW" altLang="en-US" sz="1200" i="1" dirty="0"/>
              <a:t>（</a:t>
            </a:r>
            <a:r>
              <a:rPr lang="en-US" altLang="zh-TW" sz="1200" i="1" dirty="0"/>
              <a:t>Line </a:t>
            </a:r>
            <a:r>
              <a:rPr lang="zh-TW" altLang="en-US" sz="1200" i="1" dirty="0"/>
              <a:t>或系統頁面）</a:t>
            </a:r>
            <a:r>
              <a:rPr lang="zh-TW" altLang="en-US" dirty="0"/>
              <a:t>進行最終審核的「同意」或「駁回」操作。一經核准，申請者即正式取得專案編碼權限。</a:t>
            </a:r>
            <a:endParaRPr lang="en-US" altLang="zh-TW" dirty="0"/>
          </a:p>
        </p:txBody>
      </p:sp>
      <p:sp>
        <p:nvSpPr>
          <p:cNvPr id="19" name="文字方塊 18">
            <a:extLst>
              <a:ext uri="{FF2B5EF4-FFF2-40B4-BE49-F238E27FC236}">
                <a16:creationId xmlns:a16="http://schemas.microsoft.com/office/drawing/2014/main" id="{A9BE8F39-AD7E-406D-B6C7-D278A79D05FA}"/>
              </a:ext>
            </a:extLst>
          </p:cNvPr>
          <p:cNvSpPr txBox="1"/>
          <p:nvPr/>
        </p:nvSpPr>
        <p:spPr>
          <a:xfrm>
            <a:off x="4454692" y="7395731"/>
            <a:ext cx="1326005"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4-2-2  Email </a:t>
            </a:r>
            <a:r>
              <a:rPr lang="zh-TW" altLang="en-US" sz="1000" dirty="0">
                <a:solidFill>
                  <a:srgbClr val="4E6071"/>
                </a:solidFill>
                <a:latin typeface="微軟正黑體" panose="020B0604030504040204" pitchFamily="34" charset="-120"/>
                <a:ea typeface="微軟正黑體" panose="020B0604030504040204" pitchFamily="34" charset="-120"/>
              </a:rPr>
              <a:t>通知</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B43F9040-C15F-41F5-A141-5466A744C0F9}"/>
              </a:ext>
            </a:extLst>
          </p:cNvPr>
          <p:cNvSpPr txBox="1"/>
          <p:nvPr/>
        </p:nvSpPr>
        <p:spPr>
          <a:xfrm>
            <a:off x="1116578" y="7395731"/>
            <a:ext cx="1247457" cy="400110"/>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4-2-1  Line </a:t>
            </a:r>
            <a:r>
              <a:rPr lang="zh-TW" altLang="en-US" sz="1000" dirty="0">
                <a:solidFill>
                  <a:srgbClr val="4E6071"/>
                </a:solidFill>
                <a:latin typeface="微軟正黑體" panose="020B0604030504040204" pitchFamily="34" charset="-120"/>
                <a:ea typeface="微軟正黑體" panose="020B0604030504040204" pitchFamily="34" charset="-120"/>
              </a:rPr>
              <a:t>通知</a:t>
            </a:r>
            <a:endParaRPr lang="en-US" altLang="zh-TW" sz="1000" dirty="0">
              <a:solidFill>
                <a:srgbClr val="4E6071"/>
              </a:solidFill>
              <a:latin typeface="微軟正黑體" panose="020B0604030504040204" pitchFamily="34" charset="-120"/>
              <a:ea typeface="微軟正黑體" panose="020B0604030504040204" pitchFamily="34" charset="-120"/>
            </a:endParaRPr>
          </a:p>
          <a:p>
            <a:pPr algn="ctr"/>
            <a:endParaRPr lang="zh-TW" altLang="en-US" sz="1000" dirty="0">
              <a:solidFill>
                <a:srgbClr val="4E6071"/>
              </a:solidFill>
              <a:latin typeface="微軟正黑體" panose="020B0604030504040204" pitchFamily="34" charset="-120"/>
              <a:ea typeface="微軟正黑體" panose="020B0604030504040204" pitchFamily="34" charset="-120"/>
            </a:endParaRPr>
          </a:p>
        </p:txBody>
      </p:sp>
      <p:pic>
        <p:nvPicPr>
          <p:cNvPr id="8" name="圖片 7">
            <a:extLst>
              <a:ext uri="{FF2B5EF4-FFF2-40B4-BE49-F238E27FC236}">
                <a16:creationId xmlns:a16="http://schemas.microsoft.com/office/drawing/2014/main" id="{03F42199-9C9F-424A-977F-A905EBC17586}"/>
              </a:ext>
            </a:extLst>
          </p:cNvPr>
          <p:cNvPicPr>
            <a:picLocks noChangeAspect="1"/>
          </p:cNvPicPr>
          <p:nvPr/>
        </p:nvPicPr>
        <p:blipFill>
          <a:blip r:embed="rId4"/>
          <a:stretch>
            <a:fillRect/>
          </a:stretch>
        </p:blipFill>
        <p:spPr>
          <a:xfrm>
            <a:off x="3670872" y="3962971"/>
            <a:ext cx="2887765" cy="2315253"/>
          </a:xfrm>
          <a:prstGeom prst="roundRect">
            <a:avLst>
              <a:gd name="adj" fmla="val 1899"/>
            </a:avLst>
          </a:prstGeom>
          <a:ln w="6350">
            <a:solidFill>
              <a:srgbClr val="007F4C"/>
            </a:solidFill>
          </a:ln>
          <a:effectLst/>
        </p:spPr>
      </p:pic>
      <p:sp>
        <p:nvSpPr>
          <p:cNvPr id="11" name="矩形 10">
            <a:extLst>
              <a:ext uri="{FF2B5EF4-FFF2-40B4-BE49-F238E27FC236}">
                <a16:creationId xmlns:a16="http://schemas.microsoft.com/office/drawing/2014/main" id="{29B10BEA-2B2A-4F3F-ACD5-1A33882E4A42}"/>
              </a:ext>
            </a:extLst>
          </p:cNvPr>
          <p:cNvSpPr/>
          <p:nvPr/>
        </p:nvSpPr>
        <p:spPr>
          <a:xfrm>
            <a:off x="838439" y="5522012"/>
            <a:ext cx="2026681" cy="400110"/>
          </a:xfrm>
          <a:prstGeom prst="rect">
            <a:avLst/>
          </a:prstGeom>
          <a:solidFill>
            <a:srgbClr val="FAF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a:extLst>
              <a:ext uri="{FF2B5EF4-FFF2-40B4-BE49-F238E27FC236}">
                <a16:creationId xmlns:a16="http://schemas.microsoft.com/office/drawing/2014/main" id="{289D7FC9-5FE8-4105-9C86-FB02617836D0}"/>
              </a:ext>
            </a:extLst>
          </p:cNvPr>
          <p:cNvPicPr>
            <a:picLocks noChangeAspect="1"/>
          </p:cNvPicPr>
          <p:nvPr/>
        </p:nvPicPr>
        <p:blipFill>
          <a:blip r:embed="rId5"/>
          <a:stretch>
            <a:fillRect/>
          </a:stretch>
        </p:blipFill>
        <p:spPr>
          <a:xfrm>
            <a:off x="860382" y="4248051"/>
            <a:ext cx="2220226" cy="1409897"/>
          </a:xfrm>
          <a:prstGeom prst="rect">
            <a:avLst/>
          </a:prstGeom>
        </p:spPr>
      </p:pic>
      <p:pic>
        <p:nvPicPr>
          <p:cNvPr id="13" name="圖片 12">
            <a:extLst>
              <a:ext uri="{FF2B5EF4-FFF2-40B4-BE49-F238E27FC236}">
                <a16:creationId xmlns:a16="http://schemas.microsoft.com/office/drawing/2014/main" id="{61C6FC08-59E8-4F99-AEA3-09CB5697B21E}"/>
              </a:ext>
            </a:extLst>
          </p:cNvPr>
          <p:cNvPicPr>
            <a:picLocks noChangeAspect="1"/>
          </p:cNvPicPr>
          <p:nvPr/>
        </p:nvPicPr>
        <p:blipFill>
          <a:blip r:embed="rId6"/>
          <a:stretch>
            <a:fillRect/>
          </a:stretch>
        </p:blipFill>
        <p:spPr>
          <a:xfrm>
            <a:off x="3985327" y="4000083"/>
            <a:ext cx="1901123" cy="128387"/>
          </a:xfrm>
          <a:prstGeom prst="rect">
            <a:avLst/>
          </a:prstGeom>
        </p:spPr>
      </p:pic>
      <p:sp>
        <p:nvSpPr>
          <p:cNvPr id="18" name="矩形 17">
            <a:extLst>
              <a:ext uri="{FF2B5EF4-FFF2-40B4-BE49-F238E27FC236}">
                <a16:creationId xmlns:a16="http://schemas.microsoft.com/office/drawing/2014/main" id="{1BAB7910-7FF1-4928-AF51-6ED0E41F838A}"/>
              </a:ext>
            </a:extLst>
          </p:cNvPr>
          <p:cNvSpPr/>
          <p:nvPr/>
        </p:nvSpPr>
        <p:spPr>
          <a:xfrm>
            <a:off x="5203013" y="5050933"/>
            <a:ext cx="981356" cy="9891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圖片 13">
            <a:extLst>
              <a:ext uri="{FF2B5EF4-FFF2-40B4-BE49-F238E27FC236}">
                <a16:creationId xmlns:a16="http://schemas.microsoft.com/office/drawing/2014/main" id="{38A38CDD-0B88-48A7-89B0-635FA020EA84}"/>
              </a:ext>
            </a:extLst>
          </p:cNvPr>
          <p:cNvPicPr>
            <a:picLocks noChangeAspect="1"/>
          </p:cNvPicPr>
          <p:nvPr/>
        </p:nvPicPr>
        <p:blipFill>
          <a:blip r:embed="rId7"/>
          <a:stretch>
            <a:fillRect/>
          </a:stretch>
        </p:blipFill>
        <p:spPr>
          <a:xfrm>
            <a:off x="3980063" y="5050933"/>
            <a:ext cx="1236462" cy="98917"/>
          </a:xfrm>
          <a:prstGeom prst="rect">
            <a:avLst/>
          </a:prstGeom>
        </p:spPr>
      </p:pic>
    </p:spTree>
    <p:extLst>
      <p:ext uri="{BB962C8B-B14F-4D97-AF65-F5344CB8AC3E}">
        <p14:creationId xmlns:p14="http://schemas.microsoft.com/office/powerpoint/2010/main" val="2434262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a16="http://schemas.microsoft.com/office/drawing/2014/main" id="{3CB84D1E-DEED-4E22-82BF-4D185BEC8C5B}"/>
              </a:ext>
            </a:extLst>
          </p:cNvPr>
          <p:cNvSpPr>
            <a:spLocks noGrp="1"/>
          </p:cNvSpPr>
          <p:nvPr>
            <p:ph type="body" sz="quarter" idx="13"/>
          </p:nvPr>
        </p:nvSpPr>
        <p:spPr>
          <a:xfrm>
            <a:off x="4954956" y="124658"/>
            <a:ext cx="1697901" cy="313932"/>
          </a:xfrm>
        </p:spPr>
        <p:txBody>
          <a:bodyPr/>
          <a:lstStyle/>
          <a:p>
            <a:r>
              <a:rPr lang="en-US" altLang="zh-TW" dirty="0"/>
              <a:t>- </a:t>
            </a:r>
            <a:r>
              <a:rPr lang="zh-TW" altLang="en-US" dirty="0"/>
              <a:t>專案管理功能 </a:t>
            </a:r>
            <a:r>
              <a:rPr lang="en-US" altLang="zh-TW" dirty="0"/>
              <a:t>-</a:t>
            </a:r>
            <a:endParaRPr lang="zh-TW" altLang="en-US" dirty="0"/>
          </a:p>
        </p:txBody>
      </p:sp>
      <p:sp>
        <p:nvSpPr>
          <p:cNvPr id="2" name="文字版面配置區 1">
            <a:extLst>
              <a:ext uri="{FF2B5EF4-FFF2-40B4-BE49-F238E27FC236}">
                <a16:creationId xmlns:a16="http://schemas.microsoft.com/office/drawing/2014/main" id="{30797615-B803-408D-A075-900316D22E5C}"/>
              </a:ext>
            </a:extLst>
          </p:cNvPr>
          <p:cNvSpPr>
            <a:spLocks noGrp="1"/>
          </p:cNvSpPr>
          <p:nvPr>
            <p:ph type="body" sz="quarter" idx="16"/>
          </p:nvPr>
        </p:nvSpPr>
        <p:spPr>
          <a:xfrm>
            <a:off x="271172" y="766455"/>
            <a:ext cx="6315657" cy="286232"/>
          </a:xfrm>
        </p:spPr>
        <p:txBody>
          <a:bodyPr/>
          <a:lstStyle/>
          <a:p>
            <a:r>
              <a:rPr lang="en-US" altLang="zh-TW" dirty="0"/>
              <a:t>4 ‧ 2 ‧ 2</a:t>
            </a:r>
            <a:r>
              <a:rPr lang="zh-TW" altLang="en-US" dirty="0"/>
              <a:t> 建築履歷審核</a:t>
            </a:r>
          </a:p>
        </p:txBody>
      </p:sp>
      <p:sp>
        <p:nvSpPr>
          <p:cNvPr id="5" name="投影片編號版面配置區 4">
            <a:extLst>
              <a:ext uri="{FF2B5EF4-FFF2-40B4-BE49-F238E27FC236}">
                <a16:creationId xmlns:a16="http://schemas.microsoft.com/office/drawing/2014/main" id="{F08DCF50-30E8-49DD-AD2A-D952930BBE65}"/>
              </a:ext>
            </a:extLst>
          </p:cNvPr>
          <p:cNvSpPr>
            <a:spLocks noGrp="1"/>
          </p:cNvSpPr>
          <p:nvPr>
            <p:ph type="sldNum" sz="quarter" idx="12"/>
          </p:nvPr>
        </p:nvSpPr>
        <p:spPr/>
        <p:txBody>
          <a:bodyPr/>
          <a:lstStyle/>
          <a:p>
            <a:fld id="{87F2EC76-4ACB-421A-B9EA-F72429D0FACA}" type="slidenum">
              <a:rPr lang="zh-TW" altLang="en-US" smtClean="0"/>
              <a:pPr/>
              <a:t>23</a:t>
            </a:fld>
            <a:endParaRPr lang="zh-TW" altLang="en-US" dirty="0"/>
          </a:p>
        </p:txBody>
      </p:sp>
      <p:sp>
        <p:nvSpPr>
          <p:cNvPr id="20" name="文字方塊 19">
            <a:extLst>
              <a:ext uri="{FF2B5EF4-FFF2-40B4-BE49-F238E27FC236}">
                <a16:creationId xmlns:a16="http://schemas.microsoft.com/office/drawing/2014/main" id="{B43F9040-C15F-41F5-A141-5466A744C0F9}"/>
              </a:ext>
            </a:extLst>
          </p:cNvPr>
          <p:cNvSpPr txBox="1"/>
          <p:nvPr/>
        </p:nvSpPr>
        <p:spPr>
          <a:xfrm>
            <a:off x="2687688" y="7641344"/>
            <a:ext cx="1479892" cy="246221"/>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4-2-3  </a:t>
            </a:r>
            <a:r>
              <a:rPr lang="zh-TW" altLang="en-US" sz="1000" dirty="0">
                <a:solidFill>
                  <a:srgbClr val="4E6071"/>
                </a:solidFill>
                <a:latin typeface="微軟正黑體" panose="020B0604030504040204" pitchFamily="34" charset="-120"/>
                <a:ea typeface="微軟正黑體" panose="020B0604030504040204" pitchFamily="34" charset="-120"/>
              </a:rPr>
              <a:t>建築履歷審核</a:t>
            </a:r>
          </a:p>
        </p:txBody>
      </p:sp>
      <p:sp>
        <p:nvSpPr>
          <p:cNvPr id="11" name="文字版面配置區 10">
            <a:extLst>
              <a:ext uri="{FF2B5EF4-FFF2-40B4-BE49-F238E27FC236}">
                <a16:creationId xmlns:a16="http://schemas.microsoft.com/office/drawing/2014/main" id="{DB6DD4F0-71EB-4559-9AB5-E837CC87BD80}"/>
              </a:ext>
            </a:extLst>
          </p:cNvPr>
          <p:cNvSpPr>
            <a:spLocks noGrp="1"/>
          </p:cNvSpPr>
          <p:nvPr>
            <p:ph type="body" sz="quarter" idx="17"/>
          </p:nvPr>
        </p:nvSpPr>
        <p:spPr>
          <a:xfrm>
            <a:off x="271172" y="1058923"/>
            <a:ext cx="6315657" cy="2248180"/>
          </a:xfrm>
        </p:spPr>
        <p:txBody>
          <a:bodyPr/>
          <a:lstStyle/>
          <a:p>
            <a:r>
              <a:rPr lang="zh-TW" altLang="en-US" dirty="0"/>
              <a:t>專案管理員負責建築履歷的全面管理，包含查閱提交資料是否正確與最終審核，基本上流程與專案查核一樣。</a:t>
            </a:r>
            <a:endParaRPr lang="en-US" altLang="zh-TW" b="1" dirty="0"/>
          </a:p>
          <a:p>
            <a:pPr marL="342900" indent="-342900">
              <a:buFont typeface="+mj-lt"/>
              <a:buAutoNum type="alphaLcPeriod"/>
            </a:pPr>
            <a:r>
              <a:rPr lang="zh-TW" altLang="en-US" b="1" dirty="0"/>
              <a:t>接收通知：</a:t>
            </a:r>
            <a:r>
              <a:rPr lang="zh-TW" altLang="en-US" dirty="0"/>
              <a:t>當專案助理完成初步審查後，申請案自動提交至專案管理員。系統同樣會以 </a:t>
            </a:r>
            <a:r>
              <a:rPr lang="en-US" altLang="zh-TW" dirty="0"/>
              <a:t>Line </a:t>
            </a:r>
            <a:r>
              <a:rPr lang="zh-TW" altLang="en-US" dirty="0"/>
              <a:t>及 </a:t>
            </a:r>
            <a:r>
              <a:rPr lang="en-US" altLang="zh-TW" dirty="0"/>
              <a:t>Email </a:t>
            </a:r>
            <a:r>
              <a:rPr lang="zh-TW" altLang="en-US" dirty="0"/>
              <a:t>發送最終審核通知。</a:t>
            </a:r>
            <a:endParaRPr lang="en-US" altLang="zh-TW" dirty="0"/>
          </a:p>
          <a:p>
            <a:pPr marL="342900" indent="-342900">
              <a:buFont typeface="+mj-lt"/>
              <a:buAutoNum type="alphaLcPeriod"/>
            </a:pPr>
            <a:r>
              <a:rPr lang="zh-TW" altLang="en-US" b="1" dirty="0"/>
              <a:t>執行審核：</a:t>
            </a:r>
            <a:r>
              <a:rPr lang="zh-TW" altLang="en-US" dirty="0"/>
              <a:t>專案管理員可透過相同管道</a:t>
            </a:r>
            <a:r>
              <a:rPr lang="zh-TW" altLang="en-US" sz="1050" i="1" dirty="0"/>
              <a:t>（</a:t>
            </a:r>
            <a:r>
              <a:rPr lang="en-US" altLang="zh-TW" sz="1050" i="1" dirty="0"/>
              <a:t>Line </a:t>
            </a:r>
            <a:r>
              <a:rPr lang="zh-TW" altLang="en-US" sz="1050" i="1" dirty="0"/>
              <a:t>或系統頁面）</a:t>
            </a:r>
            <a:r>
              <a:rPr lang="zh-TW" altLang="en-US" dirty="0"/>
              <a:t>進行最終審核的「同意」或「駁回」操作。一經核准，該筆建築履歷將公開於列表中。</a:t>
            </a:r>
            <a:endParaRPr lang="en-US" altLang="zh-TW" dirty="0"/>
          </a:p>
        </p:txBody>
      </p:sp>
      <p:pic>
        <p:nvPicPr>
          <p:cNvPr id="16" name="圖片 15">
            <a:extLst>
              <a:ext uri="{FF2B5EF4-FFF2-40B4-BE49-F238E27FC236}">
                <a16:creationId xmlns:a16="http://schemas.microsoft.com/office/drawing/2014/main" id="{A2D48934-5345-4E56-846C-054F5DE2EE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318" y="4585786"/>
            <a:ext cx="5768626" cy="3055558"/>
          </a:xfrm>
          <a:prstGeom prst="roundRect">
            <a:avLst>
              <a:gd name="adj" fmla="val 1899"/>
            </a:avLst>
          </a:prstGeom>
          <a:ln w="6350">
            <a:solidFill>
              <a:srgbClr val="007F4C"/>
            </a:solidFill>
          </a:ln>
          <a:effectLst/>
        </p:spPr>
      </p:pic>
      <p:sp>
        <p:nvSpPr>
          <p:cNvPr id="17" name="矩形 16">
            <a:extLst>
              <a:ext uri="{FF2B5EF4-FFF2-40B4-BE49-F238E27FC236}">
                <a16:creationId xmlns:a16="http://schemas.microsoft.com/office/drawing/2014/main" id="{3E0C69F6-4235-4D1D-8FF3-2230AEA15BD6}"/>
              </a:ext>
            </a:extLst>
          </p:cNvPr>
          <p:cNvSpPr/>
          <p:nvPr/>
        </p:nvSpPr>
        <p:spPr>
          <a:xfrm>
            <a:off x="5328658" y="5886706"/>
            <a:ext cx="226322" cy="1353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版面配置區 10">
            <a:extLst>
              <a:ext uri="{FF2B5EF4-FFF2-40B4-BE49-F238E27FC236}">
                <a16:creationId xmlns:a16="http://schemas.microsoft.com/office/drawing/2014/main" id="{D9D107AF-4FC4-4609-B9DB-D9D27C9C54C7}"/>
              </a:ext>
            </a:extLst>
          </p:cNvPr>
          <p:cNvSpPr txBox="1">
            <a:spLocks/>
          </p:cNvSpPr>
          <p:nvPr/>
        </p:nvSpPr>
        <p:spPr>
          <a:xfrm>
            <a:off x="269802" y="3307103"/>
            <a:ext cx="6315657" cy="1278683"/>
          </a:xfrm>
          <a:prstGeom prst="rect">
            <a:avLst/>
          </a:prstGeom>
        </p:spPr>
        <p:txBody>
          <a:bodyPr wrap="square">
            <a:spAutoFit/>
          </a:bodyPr>
          <a:lstStyle>
            <a:lvl1pPr marL="0" indent="0" algn="l" defTabSz="914400" rtl="0" eaLnBrk="1" latinLnBrk="0" hangingPunct="1">
              <a:lnSpc>
                <a:spcPct val="150000"/>
              </a:lnSpc>
              <a:spcBef>
                <a:spcPts val="1000"/>
              </a:spcBef>
              <a:buFont typeface="Arial" panose="020B0604020202020204" pitchFamily="34" charset="0"/>
              <a:buNone/>
              <a:defRPr sz="1400" b="0" i="0" kern="1200">
                <a:solidFill>
                  <a:srgbClr val="4E607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rgbClr val="008ED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b="1" dirty="0"/>
              <a:t>在審查、審核前請先確認提交資料是否正確無誤後再進行。</a:t>
            </a:r>
            <a:endParaRPr lang="en-US" altLang="zh-TW" b="1" dirty="0"/>
          </a:p>
          <a:p>
            <a:pPr marL="342900" indent="-342900">
              <a:buFont typeface="+mj-lt"/>
              <a:buAutoNum type="alphaLcPeriod"/>
            </a:pPr>
            <a:r>
              <a:rPr lang="zh-TW" altLang="en-US" b="1" dirty="0"/>
              <a:t>展開：</a:t>
            </a:r>
            <a:r>
              <a:rPr lang="zh-TW" altLang="en-US" dirty="0"/>
              <a:t>先點擊箭頭可展開此筆中的所有提交資料。</a:t>
            </a:r>
            <a:endParaRPr lang="en-US" altLang="zh-TW" dirty="0"/>
          </a:p>
          <a:p>
            <a:pPr marL="342900" indent="-342900">
              <a:buFont typeface="+mj-lt"/>
              <a:buAutoNum type="alphaLcPeriod"/>
            </a:pPr>
            <a:r>
              <a:rPr lang="zh-TW" altLang="en-US" b="1" dirty="0"/>
              <a:t>查閱履歷內容：</a:t>
            </a:r>
            <a:r>
              <a:rPr lang="zh-TW" altLang="en-US" dirty="0"/>
              <a:t>點擊按鈕可查閱提交的建築履歷資料。</a:t>
            </a:r>
            <a:endParaRPr lang="en-US" altLang="zh-TW" dirty="0"/>
          </a:p>
        </p:txBody>
      </p:sp>
      <p:sp>
        <p:nvSpPr>
          <p:cNvPr id="10" name="橢圓 9">
            <a:extLst>
              <a:ext uri="{FF2B5EF4-FFF2-40B4-BE49-F238E27FC236}">
                <a16:creationId xmlns:a16="http://schemas.microsoft.com/office/drawing/2014/main" id="{DC502BFA-50BB-41A9-9134-593DC24D00CE}"/>
              </a:ext>
            </a:extLst>
          </p:cNvPr>
          <p:cNvSpPr/>
          <p:nvPr/>
        </p:nvSpPr>
        <p:spPr>
          <a:xfrm>
            <a:off x="5165174" y="5705953"/>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b</a:t>
            </a:r>
            <a:endParaRPr lang="zh-TW" altLang="en-US" sz="1200" b="1" dirty="0"/>
          </a:p>
        </p:txBody>
      </p:sp>
      <p:sp>
        <p:nvSpPr>
          <p:cNvPr id="12" name="矩形 11">
            <a:extLst>
              <a:ext uri="{FF2B5EF4-FFF2-40B4-BE49-F238E27FC236}">
                <a16:creationId xmlns:a16="http://schemas.microsoft.com/office/drawing/2014/main" id="{0BB51FFA-5BB9-44A4-8FED-D9C0D2E9B9F5}"/>
              </a:ext>
            </a:extLst>
          </p:cNvPr>
          <p:cNvSpPr/>
          <p:nvPr/>
        </p:nvSpPr>
        <p:spPr>
          <a:xfrm>
            <a:off x="5958046" y="5570572"/>
            <a:ext cx="226322" cy="1353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AEC5252D-C510-431C-9F1A-8BA0906D1CAD}"/>
              </a:ext>
            </a:extLst>
          </p:cNvPr>
          <p:cNvSpPr/>
          <p:nvPr/>
        </p:nvSpPr>
        <p:spPr>
          <a:xfrm>
            <a:off x="5803906" y="5389819"/>
            <a:ext cx="248443" cy="248443"/>
          </a:xfrm>
          <a:prstGeom prst="ellipse">
            <a:avLst/>
          </a:prstGeom>
          <a:solidFill>
            <a:srgbClr val="FF4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b="1" dirty="0"/>
              <a:t>a</a:t>
            </a:r>
            <a:endParaRPr lang="zh-TW" altLang="en-US" sz="1200" b="1" dirty="0"/>
          </a:p>
        </p:txBody>
      </p:sp>
      <p:sp>
        <p:nvSpPr>
          <p:cNvPr id="14" name="矩形 13">
            <a:extLst>
              <a:ext uri="{FF2B5EF4-FFF2-40B4-BE49-F238E27FC236}">
                <a16:creationId xmlns:a16="http://schemas.microsoft.com/office/drawing/2014/main" id="{BED5A1EA-B380-4609-B4EF-5EBA54F1C21A}"/>
              </a:ext>
            </a:extLst>
          </p:cNvPr>
          <p:cNvSpPr/>
          <p:nvPr/>
        </p:nvSpPr>
        <p:spPr>
          <a:xfrm>
            <a:off x="5676455" y="6154867"/>
            <a:ext cx="329056" cy="1749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28390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3">
            <a:extLst>
              <a:ext uri="{FF2B5EF4-FFF2-40B4-BE49-F238E27FC236}">
                <a16:creationId xmlns:a16="http://schemas.microsoft.com/office/drawing/2014/main" id="{3CB84D1E-DEED-4E22-82BF-4D185BEC8C5B}"/>
              </a:ext>
            </a:extLst>
          </p:cNvPr>
          <p:cNvSpPr>
            <a:spLocks noGrp="1"/>
          </p:cNvSpPr>
          <p:nvPr>
            <p:ph type="body" sz="quarter" idx="13"/>
          </p:nvPr>
        </p:nvSpPr>
        <p:spPr>
          <a:xfrm>
            <a:off x="4954956" y="124658"/>
            <a:ext cx="1697901" cy="313932"/>
          </a:xfrm>
        </p:spPr>
        <p:txBody>
          <a:bodyPr/>
          <a:lstStyle/>
          <a:p>
            <a:r>
              <a:rPr lang="en-US" altLang="zh-TW" dirty="0"/>
              <a:t>- </a:t>
            </a:r>
            <a:r>
              <a:rPr lang="zh-TW" altLang="en-US" dirty="0"/>
              <a:t>專案管理功能 </a:t>
            </a:r>
            <a:r>
              <a:rPr lang="en-US" altLang="zh-TW" dirty="0"/>
              <a:t>-</a:t>
            </a:r>
            <a:endParaRPr lang="zh-TW" altLang="en-US" dirty="0"/>
          </a:p>
        </p:txBody>
      </p:sp>
      <p:sp>
        <p:nvSpPr>
          <p:cNvPr id="2" name="文字版面配置區 1">
            <a:extLst>
              <a:ext uri="{FF2B5EF4-FFF2-40B4-BE49-F238E27FC236}">
                <a16:creationId xmlns:a16="http://schemas.microsoft.com/office/drawing/2014/main" id="{30797615-B803-408D-A075-900316D22E5C}"/>
              </a:ext>
            </a:extLst>
          </p:cNvPr>
          <p:cNvSpPr>
            <a:spLocks noGrp="1"/>
          </p:cNvSpPr>
          <p:nvPr>
            <p:ph type="body" sz="quarter" idx="16"/>
          </p:nvPr>
        </p:nvSpPr>
        <p:spPr>
          <a:xfrm>
            <a:off x="271172" y="766455"/>
            <a:ext cx="6315657" cy="286232"/>
          </a:xfrm>
        </p:spPr>
        <p:txBody>
          <a:bodyPr/>
          <a:lstStyle/>
          <a:p>
            <a:r>
              <a:rPr lang="en-US" altLang="zh-TW" dirty="0"/>
              <a:t>4 ‧ 2 ‧ 3 </a:t>
            </a:r>
            <a:r>
              <a:rPr lang="zh-TW" altLang="en-US" dirty="0"/>
              <a:t>管理專案成員</a:t>
            </a:r>
          </a:p>
        </p:txBody>
      </p:sp>
      <p:sp>
        <p:nvSpPr>
          <p:cNvPr id="5" name="投影片編號版面配置區 4">
            <a:extLst>
              <a:ext uri="{FF2B5EF4-FFF2-40B4-BE49-F238E27FC236}">
                <a16:creationId xmlns:a16="http://schemas.microsoft.com/office/drawing/2014/main" id="{F08DCF50-30E8-49DD-AD2A-D952930BBE65}"/>
              </a:ext>
            </a:extLst>
          </p:cNvPr>
          <p:cNvSpPr>
            <a:spLocks noGrp="1"/>
          </p:cNvSpPr>
          <p:nvPr>
            <p:ph type="sldNum" sz="quarter" idx="12"/>
          </p:nvPr>
        </p:nvSpPr>
        <p:spPr/>
        <p:txBody>
          <a:bodyPr/>
          <a:lstStyle/>
          <a:p>
            <a:fld id="{87F2EC76-4ACB-421A-B9EA-F72429D0FACA}" type="slidenum">
              <a:rPr lang="zh-TW" altLang="en-US" smtClean="0"/>
              <a:pPr/>
              <a:t>24</a:t>
            </a:fld>
            <a:endParaRPr lang="zh-TW" altLang="en-US" dirty="0"/>
          </a:p>
        </p:txBody>
      </p:sp>
      <p:sp>
        <p:nvSpPr>
          <p:cNvPr id="20" name="文字方塊 19">
            <a:extLst>
              <a:ext uri="{FF2B5EF4-FFF2-40B4-BE49-F238E27FC236}">
                <a16:creationId xmlns:a16="http://schemas.microsoft.com/office/drawing/2014/main" id="{B43F9040-C15F-41F5-A141-5466A744C0F9}"/>
              </a:ext>
            </a:extLst>
          </p:cNvPr>
          <p:cNvSpPr txBox="1"/>
          <p:nvPr/>
        </p:nvSpPr>
        <p:spPr>
          <a:xfrm>
            <a:off x="2815928" y="5929805"/>
            <a:ext cx="1223412" cy="246221"/>
          </a:xfrm>
          <a:prstGeom prst="rect">
            <a:avLst/>
          </a:prstGeom>
          <a:noFill/>
        </p:spPr>
        <p:txBody>
          <a:bodyPr wrap="none" rtlCol="0" anchor="t">
            <a:spAutoFit/>
          </a:bodyPr>
          <a:lstStyle/>
          <a:p>
            <a:pPr algn="ctr"/>
            <a:r>
              <a:rPr lang="zh-TW" altLang="en-US" sz="1000" dirty="0">
                <a:solidFill>
                  <a:srgbClr val="4E6071"/>
                </a:solidFill>
                <a:latin typeface="微軟正黑體" panose="020B0604030504040204" pitchFamily="34" charset="-120"/>
                <a:ea typeface="微軟正黑體" panose="020B0604030504040204" pitchFamily="34" charset="-120"/>
              </a:rPr>
              <a:t>圖</a:t>
            </a:r>
            <a:r>
              <a:rPr lang="en-US" altLang="zh-TW" sz="1000" dirty="0">
                <a:solidFill>
                  <a:srgbClr val="4E6071"/>
                </a:solidFill>
                <a:latin typeface="微軟正黑體" panose="020B0604030504040204" pitchFamily="34" charset="-120"/>
                <a:ea typeface="微軟正黑體" panose="020B0604030504040204" pitchFamily="34" charset="-120"/>
              </a:rPr>
              <a:t>4-2-3  </a:t>
            </a:r>
            <a:r>
              <a:rPr lang="zh-TW" altLang="en-US" sz="1000" dirty="0">
                <a:solidFill>
                  <a:srgbClr val="4E6071"/>
                </a:solidFill>
                <a:latin typeface="微軟正黑體" panose="020B0604030504040204" pitchFamily="34" charset="-120"/>
                <a:ea typeface="微軟正黑體" panose="020B0604030504040204" pitchFamily="34" charset="-120"/>
              </a:rPr>
              <a:t>成員管理</a:t>
            </a:r>
          </a:p>
        </p:txBody>
      </p:sp>
      <p:sp>
        <p:nvSpPr>
          <p:cNvPr id="11" name="文字版面配置區 10">
            <a:extLst>
              <a:ext uri="{FF2B5EF4-FFF2-40B4-BE49-F238E27FC236}">
                <a16:creationId xmlns:a16="http://schemas.microsoft.com/office/drawing/2014/main" id="{DB6DD4F0-71EB-4559-9AB5-E837CC87BD80}"/>
              </a:ext>
            </a:extLst>
          </p:cNvPr>
          <p:cNvSpPr>
            <a:spLocks noGrp="1"/>
          </p:cNvSpPr>
          <p:nvPr>
            <p:ph type="body" sz="quarter" idx="17"/>
          </p:nvPr>
        </p:nvSpPr>
        <p:spPr>
          <a:xfrm>
            <a:off x="271172" y="1058923"/>
            <a:ext cx="6315657" cy="1796774"/>
          </a:xfrm>
        </p:spPr>
        <p:txBody>
          <a:bodyPr/>
          <a:lstStyle/>
          <a:p>
            <a:pPr marL="342900" indent="-342900">
              <a:buFont typeface="+mj-lt"/>
              <a:buAutoNum type="alphaLcPeriod"/>
            </a:pPr>
            <a:r>
              <a:rPr lang="zh-TW" altLang="en-US" b="1" dirty="0"/>
              <a:t>進入成員列表：</a:t>
            </a:r>
            <a:r>
              <a:rPr lang="zh-TW" altLang="en-US" dirty="0"/>
              <a:t>各專案頁面點擊「成員」頁籤，即可進入專案成員列表頁面。</a:t>
            </a:r>
            <a:endParaRPr lang="en-US" altLang="zh-TW" dirty="0"/>
          </a:p>
          <a:p>
            <a:pPr marL="342900" indent="-342900">
              <a:buFont typeface="+mj-lt"/>
              <a:buAutoNum type="alphaLcPeriod"/>
            </a:pPr>
            <a:r>
              <a:rPr lang="zh-TW" altLang="en-US" b="1" dirty="0"/>
              <a:t>調整權限或移除：</a:t>
            </a:r>
            <a:r>
              <a:rPr lang="zh-TW" altLang="en-US" dirty="0"/>
              <a:t>在此頁面，可針對特定成員，透過其右側的下拉選單調整其專案角色</a:t>
            </a:r>
            <a:r>
              <a:rPr lang="zh-TW" altLang="en-US" sz="1200" i="1" dirty="0"/>
              <a:t>（如：從一般使用者提升為專案助理）</a:t>
            </a:r>
            <a:r>
              <a:rPr lang="zh-TW" altLang="en-US" dirty="0"/>
              <a:t>。亦可在此執行將成員從專案中移除的操作。</a:t>
            </a:r>
          </a:p>
        </p:txBody>
      </p:sp>
      <p:pic>
        <p:nvPicPr>
          <p:cNvPr id="16" name="圖片 15">
            <a:extLst>
              <a:ext uri="{FF2B5EF4-FFF2-40B4-BE49-F238E27FC236}">
                <a16:creationId xmlns:a16="http://schemas.microsoft.com/office/drawing/2014/main" id="{A2D48934-5345-4E56-846C-054F5DE2EE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318" y="2855697"/>
            <a:ext cx="5768626" cy="3055558"/>
          </a:xfrm>
          <a:prstGeom prst="roundRect">
            <a:avLst>
              <a:gd name="adj" fmla="val 1899"/>
            </a:avLst>
          </a:prstGeom>
          <a:ln w="6350">
            <a:solidFill>
              <a:srgbClr val="007F4C"/>
            </a:solidFill>
          </a:ln>
          <a:effectLst/>
        </p:spPr>
      </p:pic>
      <p:sp>
        <p:nvSpPr>
          <p:cNvPr id="17" name="矩形 16">
            <a:extLst>
              <a:ext uri="{FF2B5EF4-FFF2-40B4-BE49-F238E27FC236}">
                <a16:creationId xmlns:a16="http://schemas.microsoft.com/office/drawing/2014/main" id="{3E0C69F6-4235-4D1D-8FF3-2230AEA15BD6}"/>
              </a:ext>
            </a:extLst>
          </p:cNvPr>
          <p:cNvSpPr/>
          <p:nvPr/>
        </p:nvSpPr>
        <p:spPr>
          <a:xfrm>
            <a:off x="4899660" y="3756660"/>
            <a:ext cx="678180" cy="62681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8D980A53-22AE-40BD-9BF2-0E2EFBEC563E}"/>
              </a:ext>
            </a:extLst>
          </p:cNvPr>
          <p:cNvSpPr/>
          <p:nvPr/>
        </p:nvSpPr>
        <p:spPr>
          <a:xfrm>
            <a:off x="5722620" y="3756660"/>
            <a:ext cx="289560" cy="62681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663567943"/>
      </p:ext>
    </p:extLst>
  </p:cSld>
  <p:clrMapOvr>
    <a:masterClrMapping/>
  </p:clrMapOvr>
</p:sld>
</file>

<file path=ppt/theme/theme1.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5921</TotalTime>
  <Words>2927</Words>
  <Application>Microsoft Office PowerPoint</Application>
  <PresentationFormat>A4 紙張 (210x297 公釐)</PresentationFormat>
  <Paragraphs>265</Paragraphs>
  <Slides>24</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24</vt:i4>
      </vt:variant>
    </vt:vector>
  </HeadingPairs>
  <TitlesOfParts>
    <vt:vector size="31" baseType="lpstr">
      <vt:lpstr>微軟正黑體</vt:lpstr>
      <vt:lpstr>新細明體</vt:lpstr>
      <vt:lpstr>Arial</vt:lpstr>
      <vt:lpstr>Calibri</vt:lpstr>
      <vt:lpstr>Calibri Light</vt:lpstr>
      <vt:lpstr>Wingdings</vt:lpstr>
      <vt:lpstr>自訂設計</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張偉志</dc:creator>
  <cp:lastModifiedBy>admin</cp:lastModifiedBy>
  <cp:revision>210</cp:revision>
  <cp:lastPrinted>2026-01-09T03:30:24Z</cp:lastPrinted>
  <dcterms:created xsi:type="dcterms:W3CDTF">2025-07-15T08:15:37Z</dcterms:created>
  <dcterms:modified xsi:type="dcterms:W3CDTF">2026-01-13T01:58:21Z</dcterms:modified>
</cp:coreProperties>
</file>